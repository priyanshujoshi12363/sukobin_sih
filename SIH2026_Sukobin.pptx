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1024128"/>
            <a:ext cx="8534400" cy="1143000"/>
          </a:xfrm>
        </p:spPr>
        <p:txBody>
          <a:bodyPr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497D"/>
                </a:solidFill>
                <a:latin typeface="Times New Roman"/>
              </a:rPr>
              <a:t>SUKOBIN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5A636E"/>
                </a:solidFill>
                <a:latin typeface="Arial"/>
              </a:rPr>
              <a:t>Carriers as the sensor network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F497D"/>
                </a:solidFill>
                <a:latin typeface="Arial"/>
              </a:rPr>
              <a:t>Problem Statement ID – </a:t>
            </a:r>
            <a:r>
              <a:rPr sz="1350" b="0">
                <a:solidFill>
                  <a:srgbClr val="262B33"/>
                </a:solidFill>
                <a:latin typeface="Arial"/>
              </a:rPr>
              <a:t>SIH26-MDoNER-01</a:t>
            </a:r>
            <a:endParaRPr lang="en-US" dirty="0"/>
          </a:p>
          <a:p>
            <a:pPr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</a:pPr>
            <a:r>
              <a:rPr sz="1250" b="1">
                <a:solidFill>
                  <a:srgbClr val="1F497D"/>
                </a:solidFill>
                <a:latin typeface="Arial"/>
              </a:rPr>
              <a:t>Problem Statement Title – </a:t>
            </a:r>
            <a:r>
              <a:rPr sz="1250" b="0">
                <a:solidFill>
                  <a:srgbClr val="262B33"/>
                </a:solidFill>
                <a:latin typeface="Arial"/>
              </a:rPr>
              <a:t>AI-Enabled Logistics Accessibility Intelligence Platform for the North Eastern Region</a:t>
            </a:r>
          </a:p>
          <a:p>
            <a:pPr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1">
                <a:solidFill>
                  <a:srgbClr val="1F497D"/>
                </a:solidFill>
                <a:latin typeface="Arial"/>
              </a:rPr>
              <a:t>Theme – </a:t>
            </a:r>
            <a:r>
              <a:rPr sz="1350" b="0">
                <a:solidFill>
                  <a:srgbClr val="262B33"/>
                </a:solidFill>
                <a:latin typeface="Arial"/>
              </a:rPr>
              <a:t>Transportation &amp; Logistics</a:t>
            </a:r>
          </a:p>
          <a:p>
            <a:pPr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1">
                <a:solidFill>
                  <a:srgbClr val="1F497D"/>
                </a:solidFill>
                <a:latin typeface="Arial"/>
              </a:rPr>
              <a:t>PS Category – </a:t>
            </a:r>
            <a:r>
              <a:rPr sz="1350" b="0">
                <a:solidFill>
                  <a:srgbClr val="262B33"/>
                </a:solidFill>
                <a:latin typeface="Arial"/>
              </a:rPr>
              <a:t>Software</a:t>
            </a:r>
          </a:p>
          <a:p>
            <a:pPr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1">
                <a:solidFill>
                  <a:srgbClr val="1F497D"/>
                </a:solidFill>
                <a:latin typeface="Arial"/>
              </a:rPr>
              <a:t>Team ID – </a:t>
            </a:r>
            <a:r>
              <a:rPr sz="1350" b="0">
                <a:solidFill>
                  <a:srgbClr val="262B33"/>
                </a:solidFill>
                <a:latin typeface="Arial"/>
              </a:rPr>
              <a:t>&lt;team id&gt;</a:t>
            </a:r>
          </a:p>
          <a:p>
            <a:pPr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1">
                <a:solidFill>
                  <a:srgbClr val="1F497D"/>
                </a:solidFill>
                <a:latin typeface="Arial"/>
              </a:rPr>
              <a:t>Team Name – </a:t>
            </a:r>
            <a:r>
              <a:rPr sz="1350" b="0">
                <a:solidFill>
                  <a:srgbClr val="262B33"/>
                </a:solidFill>
                <a:latin typeface="Arial"/>
              </a:rPr>
              <a:t>Sukobin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783080" y="-18288"/>
            <a:ext cx="7818120" cy="1051560"/>
          </a:xfrm>
        </p:spPr>
        <p:txBody>
          <a:bodyPr wrap="square" anchor="ctr"/>
          <a:lstStyle/>
          <a:p>
            <a:pPr eaLnBrk="1" hangingPunct="1"/>
            <a:r>
              <a:rPr lang="en-US" sz="2500" b="1" dirty="0">
                <a:solidFill>
                  <a:srgbClr val="1F497D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EVERY VEHICLE ON THE ROAD IS A SENSOR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lang="en-US" dirty="0" sz="1100" b="1">
                <a:latin typeface="Arial"/>
              </a:rPr>
              <a:t>Sukobin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411480" y="1188720"/>
            <a:ext cx="6446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497D"/>
                </a:solidFill>
                <a:latin typeface="Arial"/>
              </a:rPr>
              <a:t>THE GAP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411480" y="1463040"/>
            <a:ext cx="64465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62B33"/>
                </a:solidFill>
                <a:latin typeface="Arial"/>
              </a:rPr>
              <a:t>The NER has no road-condition sensor network. A district usually learns a road is shut when a truck is already stuck on it, and instrumenting 3,500 km of hill highway is not affordable.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411480" y="2139696"/>
            <a:ext cx="6446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497D"/>
                </a:solidFill>
                <a:latin typeface="Arial"/>
              </a:rPr>
              <a:t>THE IDEA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411480" y="2414015"/>
            <a:ext cx="644652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497D"/>
                </a:solidFill>
                <a:latin typeface="Arial"/>
              </a:rPr>
              <a:t>Nobody drives for us. </a:t>
            </a:r>
            <a:r>
              <a:rPr sz="1300" b="0">
                <a:solidFill>
                  <a:srgbClr val="262B33"/>
                </a:solidFill>
                <a:latin typeface="Arial"/>
              </a:rPr>
              <a:t>Anyone already travelling A to B enters their vehicle and route, and sees only the parcels whose pickup and drop lie along that road, up to what the vehicle holds.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411480" y="3328415"/>
            <a:ext cx="6446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497D"/>
                </a:solidFill>
                <a:latin typeface="Arial"/>
              </a:rPr>
              <a:t>THE TURN THAT MAKES IT INTELLIGENCE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411480" y="3602735"/>
            <a:ext cx="644652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497D"/>
                </a:solidFill>
                <a:latin typeface="Arial"/>
              </a:rPr>
              <a:t>Those carriers stream GPS while they drive. </a:t>
            </a:r>
            <a:r>
              <a:rPr sz="1300" b="0">
                <a:solidFill>
                  <a:srgbClr val="262B33"/>
                </a:solidFill>
                <a:latin typeface="Arial"/>
              </a:rPr>
              <a:t>The rolling median of their speed against each road's baseline is a live accessibility reading. One stream, two products: the goods move, and the road gets measured.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411480" y="4535423"/>
            <a:ext cx="6446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497D"/>
                </a:solidFill>
                <a:latin typeface="Arial"/>
              </a:rPr>
              <a:t>WHY THIS IS DIFFERENT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411480" y="4809743"/>
            <a:ext cx="6446520" cy="1170432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64008" bIns="6400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497D"/>
                </a:solidFill>
                <a:latin typeface="Arial"/>
              </a:rPr>
              <a:t>•  Coverage without hardware — </a:t>
            </a:r>
            <a:r>
              <a:rPr sz="1250" b="0">
                <a:solidFill>
                  <a:srgbClr val="262B33"/>
                </a:solidFill>
                <a:latin typeface="Arial"/>
              </a:rPr>
              <a:t>no roadside sensors, no dedicated fleet.</a:t>
            </a:r>
          </a:p>
          <a:p>
            <a:pPr algn="l">
              <a:lnSpc>
                <a:spcPct val="98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1">
                <a:solidFill>
                  <a:srgbClr val="1F497D"/>
                </a:solidFill>
                <a:latin typeface="Arial"/>
              </a:rPr>
              <a:t>•  Cost per reading falls to zero — </a:t>
            </a:r>
            <a:r>
              <a:rPr sz="1250" b="0">
                <a:solidFill>
                  <a:srgbClr val="262B33"/>
                </a:solidFill>
                <a:latin typeface="Arial"/>
              </a:rPr>
              <a:t>the driver was making the trip anyway.</a:t>
            </a:r>
          </a:p>
          <a:p>
            <a:pPr algn="l">
              <a:lnSpc>
                <a:spcPct val="98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1">
                <a:solidFill>
                  <a:srgbClr val="1F497D"/>
                </a:solidFill>
                <a:latin typeface="Arial"/>
              </a:rPr>
              <a:t>•  It improves as it is used — </a:t>
            </a:r>
            <a:r>
              <a:rPr sz="1250" b="0">
                <a:solidFill>
                  <a:srgbClr val="262B33"/>
                </a:solidFill>
                <a:latin typeface="Arial"/>
              </a:rPr>
              <a:t>more carriers means denser sensing.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7178040" y="1188720"/>
            <a:ext cx="45994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497D"/>
                </a:solidFill>
                <a:latin typeface="Arial"/>
              </a:rPr>
              <a:t>HOW ONE TRIP BECOMES BOTH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7178040" y="1463040"/>
            <a:ext cx="4599432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64008" bIns="64008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497D"/>
                </a:solidFill>
                <a:latin typeface="Arial"/>
              </a:rPr>
              <a:t>Driver declares  Dimapur → Imphal</a:t>
            </a:r>
          </a:p>
        </p:txBody>
      </p:sp>
      <p:sp>
        <p:nvSpPr>
          <p:cNvPr id="15372" name="Down Arrow 15371"/>
          <p:cNvSpPr/>
          <p:nvPr/>
        </p:nvSpPr>
        <p:spPr>
          <a:xfrm>
            <a:off x="9427464" y="2039112"/>
            <a:ext cx="100584" cy="160020"/>
          </a:xfrm>
          <a:prstGeom prst="downArrow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3" name="Rounded Rectangle 15372"/>
          <p:cNvSpPr/>
          <p:nvPr/>
        </p:nvSpPr>
        <p:spPr>
          <a:xfrm>
            <a:off x="7178040" y="2226564"/>
            <a:ext cx="4599432" cy="54864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64008" bIns="64008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B33"/>
                </a:solidFill>
                <a:latin typeface="Arial"/>
              </a:rPr>
              <a:t>Sees only parcels lying on that road</a:t>
            </a:r>
          </a:p>
        </p:txBody>
      </p:sp>
      <p:sp>
        <p:nvSpPr>
          <p:cNvPr id="15374" name="Down Arrow 15373"/>
          <p:cNvSpPr/>
          <p:nvPr/>
        </p:nvSpPr>
        <p:spPr>
          <a:xfrm>
            <a:off x="9427464" y="2802636"/>
            <a:ext cx="100584" cy="160020"/>
          </a:xfrm>
          <a:prstGeom prst="downArrow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5" name="Rounded Rectangle 15374"/>
          <p:cNvSpPr/>
          <p:nvPr/>
        </p:nvSpPr>
        <p:spPr>
          <a:xfrm>
            <a:off x="7178040" y="2990088"/>
            <a:ext cx="4599432" cy="54864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64008" bIns="64008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B33"/>
                </a:solidFill>
                <a:latin typeface="Arial"/>
              </a:rPr>
              <a:t>Drives — phone streams GPS every 20 s</a:t>
            </a:r>
          </a:p>
        </p:txBody>
      </p:sp>
      <p:sp>
        <p:nvSpPr>
          <p:cNvPr id="15376" name="Down Arrow 15375"/>
          <p:cNvSpPr/>
          <p:nvPr/>
        </p:nvSpPr>
        <p:spPr>
          <a:xfrm>
            <a:off x="9427464" y="3566160"/>
            <a:ext cx="100584" cy="160020"/>
          </a:xfrm>
          <a:prstGeom prst="downArrow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7" name="Rounded Rectangle 15376"/>
          <p:cNvSpPr/>
          <p:nvPr/>
        </p:nvSpPr>
        <p:spPr>
          <a:xfrm>
            <a:off x="7178040" y="3753612"/>
            <a:ext cx="4599432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64008" bIns="64008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497D"/>
                </a:solidFill>
                <a:latin typeface="Arial"/>
              </a:rPr>
              <a:t>Median speed vs baseline → road status</a:t>
            </a:r>
          </a:p>
        </p:txBody>
      </p:sp>
      <p:sp>
        <p:nvSpPr>
          <p:cNvPr id="15378" name="Down Arrow 15377"/>
          <p:cNvSpPr/>
          <p:nvPr/>
        </p:nvSpPr>
        <p:spPr>
          <a:xfrm>
            <a:off x="9427464" y="4329684"/>
            <a:ext cx="100584" cy="160020"/>
          </a:xfrm>
          <a:prstGeom prst="downArrow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9" name="Rounded Rectangle 15378"/>
          <p:cNvSpPr/>
          <p:nvPr/>
        </p:nvSpPr>
        <p:spPr>
          <a:xfrm>
            <a:off x="7178040" y="4517136"/>
            <a:ext cx="4599432" cy="54864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64008" bIns="64008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B33"/>
                </a:solidFill>
                <a:latin typeface="Arial"/>
              </a:rPr>
              <a:t>Officers · forecasts · alerts · re-routes</a:t>
            </a:r>
          </a:p>
        </p:txBody>
      </p:sp>
      <p:sp>
        <p:nvSpPr>
          <p:cNvPr id="15380" name="TextBox 15379"/>
          <p:cNvSpPr txBox="1"/>
          <p:nvPr/>
        </p:nvSpPr>
        <p:spPr>
          <a:xfrm>
            <a:off x="7178040" y="5157216"/>
            <a:ext cx="459943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70C0"/>
                </a:solidFill>
                <a:latin typeface="Arial"/>
              </a:rPr>
              <a:t>The carrier network and the sensor network are the same network. That is the whole idea.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83080" y="-18288"/>
            <a:ext cx="7818120" cy="1051560"/>
          </a:xfrm>
        </p:spPr>
        <p:txBody>
          <a:bodyPr wrap="square" anchor="ctr"/>
          <a:lstStyle/>
          <a:p>
            <a:pPr eaLnBrk="1" hangingPunct="1"/>
            <a:r>
              <a:rPr lang="en-US" sz="3200" b="1" dirty="0">
                <a:solidFill>
                  <a:srgbClr val="1F497D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lang="en-US" dirty="0" sz="1100" b="1">
                <a:latin typeface="Arial"/>
              </a:rPr>
              <a:t>Sukobin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11480" y="1143000"/>
            <a:ext cx="36393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497D"/>
                </a:solidFill>
                <a:latin typeface="Arial"/>
              </a:rPr>
              <a:t>BUILT WITH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11480" y="1417320"/>
            <a:ext cx="3639312" cy="210312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64008" bIns="6400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497D"/>
                </a:solidFill>
                <a:latin typeface="Arial"/>
              </a:rPr>
              <a:t>Backend  </a:t>
            </a:r>
            <a:r>
              <a:rPr sz="1150" b="0">
                <a:solidFill>
                  <a:srgbClr val="262B33"/>
                </a:solidFill>
                <a:latin typeface="Arial"/>
              </a:rPr>
              <a:t>Node.js · Express 5 · MongoDB with 2dsphere · JWT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150" b="1">
                <a:solidFill>
                  <a:srgbClr val="1F497D"/>
                </a:solidFill>
                <a:latin typeface="Arial"/>
              </a:rPr>
              <a:t>Web  </a:t>
            </a:r>
            <a:r>
              <a:rPr sz="1150" b="0">
                <a:solidFill>
                  <a:srgbClr val="262B33"/>
                </a:solidFill>
                <a:latin typeface="Arial"/>
              </a:rPr>
              <a:t>React · Vite · MapLibre GL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150" b="1">
                <a:solidFill>
                  <a:srgbClr val="1F497D"/>
                </a:solidFill>
                <a:latin typeface="Arial"/>
              </a:rPr>
              <a:t>Mobile  </a:t>
            </a:r>
            <a:r>
              <a:rPr sz="1150" b="0">
                <a:solidFill>
                  <a:srgbClr val="262B33"/>
                </a:solidFill>
                <a:latin typeface="Arial"/>
              </a:rPr>
              <a:t>Kotlin + XML — four apps: customer, merchant, driver, officer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150" b="1">
                <a:solidFill>
                  <a:srgbClr val="1F497D"/>
                </a:solidFill>
                <a:latin typeface="Arial"/>
              </a:rPr>
              <a:t>Cloud  </a:t>
            </a:r>
            <a:r>
              <a:rPr sz="1150" b="0">
                <a:solidFill>
                  <a:srgbClr val="262B33"/>
                </a:solidFill>
                <a:latin typeface="Arial"/>
              </a:rPr>
              <a:t>Render · MongoDB Atlas · Cloudinary · FCM push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4270248" y="1143000"/>
            <a:ext cx="36393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497D"/>
                </a:solidFill>
                <a:latin typeface="Arial"/>
              </a:rPr>
              <a:t>THE MODEL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270248" y="1417320"/>
            <a:ext cx="3639312" cy="210312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64008" bIns="6400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497D"/>
                </a:solidFill>
                <a:latin typeface="Arial"/>
              </a:rPr>
              <a:t>Type  </a:t>
            </a:r>
            <a:r>
              <a:rPr sz="1150" b="0">
                <a:solidFill>
                  <a:srgbClr val="262B33"/>
                </a:solidFill>
                <a:latin typeface="Arial"/>
              </a:rPr>
              <a:t>Logistic regression, benchmarked against gradient-boosted stumps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150" b="1">
                <a:solidFill>
                  <a:srgbClr val="1F497D"/>
                </a:solidFill>
                <a:latin typeface="Arial"/>
              </a:rPr>
              <a:t>Features  </a:t>
            </a:r>
            <a:r>
              <a:rPr sz="1150" b="0">
                <a:solidFill>
                  <a:srgbClr val="262B33"/>
                </a:solidFill>
                <a:latin typeface="Arial"/>
              </a:rPr>
              <a:t>18 — antecedent rain, burst intensity, slope, terrain, closure history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150" b="1">
                <a:solidFill>
                  <a:srgbClr val="1F497D"/>
                </a:solidFill>
                <a:latin typeface="Arial"/>
              </a:rPr>
              <a:t>Trained on  </a:t>
            </a:r>
            <a:r>
              <a:rPr sz="1150" b="0">
                <a:solidFill>
                  <a:srgbClr val="262B33"/>
                </a:solidFill>
                <a:latin typeface="Arial"/>
              </a:rPr>
              <a:t>109,116 road-days of observed weather, 42 stretches x 877 days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150" b="1">
                <a:solidFill>
                  <a:srgbClr val="1F497D"/>
                </a:solidFill>
                <a:latin typeface="Arial"/>
              </a:rPr>
              <a:t>Scored  </a:t>
            </a:r>
            <a:r>
              <a:rPr sz="1150" b="0">
                <a:solidFill>
                  <a:srgbClr val="262B33"/>
                </a:solidFill>
                <a:latin typeface="Arial"/>
              </a:rPr>
              <a:t>AUC 0.883 · Brier 0.092 · held out after 2026-03-01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8129015" y="1143000"/>
            <a:ext cx="36393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497D"/>
                </a:solidFill>
                <a:latin typeface="Arial"/>
              </a:rPr>
              <a:t>REAL DATA, NOT MOCK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8129015" y="1417320"/>
            <a:ext cx="3639312" cy="210312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64008" bIns="6400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497D"/>
                </a:solidFill>
                <a:latin typeface="Arial"/>
              </a:rPr>
              <a:t>Weather  </a:t>
            </a:r>
            <a:r>
              <a:rPr sz="1150" b="0">
                <a:solidFill>
                  <a:srgbClr val="262B33"/>
                </a:solidFill>
                <a:latin typeface="Arial"/>
              </a:rPr>
              <a:t>Open-Meteo archive + forecast, hourly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150" b="1">
                <a:solidFill>
                  <a:srgbClr val="1F497D"/>
                </a:solidFill>
                <a:latin typeface="Arial"/>
              </a:rPr>
              <a:t>Roads  </a:t>
            </a:r>
            <a:r>
              <a:rPr sz="1150" b="0">
                <a:solidFill>
                  <a:srgbClr val="262B33"/>
                </a:solidFill>
                <a:latin typeface="Arial"/>
              </a:rPr>
              <a:t>OSRM geometry — 42 stretches / 3,567 km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150" b="1">
                <a:solidFill>
                  <a:srgbClr val="1F497D"/>
                </a:solidFill>
                <a:latin typeface="Arial"/>
              </a:rPr>
              <a:t>Vehicles  </a:t>
            </a:r>
            <a:r>
              <a:rPr sz="1150" b="0">
                <a:solidFill>
                  <a:srgbClr val="262B33"/>
                </a:solidFill>
                <a:latin typeface="Arial"/>
              </a:rPr>
              <a:t>VAHAN registration lookup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150" b="1">
                <a:solidFill>
                  <a:srgbClr val="1F497D"/>
                </a:solidFill>
                <a:latin typeface="Arial"/>
              </a:rPr>
              <a:t>Field  </a:t>
            </a:r>
            <a:r>
              <a:rPr sz="1150" b="0">
                <a:solidFill>
                  <a:srgbClr val="262B33"/>
                </a:solidFill>
                <a:latin typeface="Arial"/>
              </a:rPr>
              <a:t>Photos, GPS and voice from officers and drivers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411480" y="3721608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497D"/>
                </a:solidFill>
                <a:latin typeface="Arial"/>
              </a:rPr>
              <a:t>FROM ONE GPS PING TO A ROAD STATUS, AN ALERT AND A ROUTE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411480" y="4032504"/>
            <a:ext cx="1665732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64008" bIns="6400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497D"/>
                </a:solidFill>
                <a:latin typeface="Arial"/>
              </a:rPr>
              <a:t>GPS ping</a:t>
            </a:r>
          </a:p>
          <a:p>
            <a:pPr algn="ctr">
              <a:lnSpc>
                <a:spcPct val="95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 i="0">
                <a:solidFill>
                  <a:srgbClr val="5A636E"/>
                </a:solidFill>
                <a:latin typeface="Arial"/>
              </a:rPr>
              <a:t>every 20 s / 40 m</a:t>
            </a:r>
          </a:p>
        </p:txBody>
      </p:sp>
      <p:sp>
        <p:nvSpPr>
          <p:cNvPr id="17418" name="Right Arrow 17417"/>
          <p:cNvSpPr/>
          <p:nvPr/>
        </p:nvSpPr>
        <p:spPr>
          <a:xfrm>
            <a:off x="2127504" y="4357116"/>
            <a:ext cx="173736" cy="100584"/>
          </a:xfrm>
          <a:prstGeom prst="rightArrow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Rounded Rectangle 17418"/>
          <p:cNvSpPr/>
          <p:nvPr/>
        </p:nvSpPr>
        <p:spPr>
          <a:xfrm>
            <a:off x="2351532" y="4032504"/>
            <a:ext cx="1665732" cy="749808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64008" bIns="6400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497D"/>
                </a:solidFill>
                <a:latin typeface="Arial"/>
              </a:rPr>
              <a:t>Map-matched</a:t>
            </a:r>
          </a:p>
          <a:p>
            <a:pPr algn="ctr">
              <a:lnSpc>
                <a:spcPct val="95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 i="0">
                <a:solidFill>
                  <a:srgbClr val="5A636E"/>
                </a:solidFill>
                <a:latin typeface="Arial"/>
              </a:rPr>
              <a:t>to a road ≤ 600 m</a:t>
            </a:r>
          </a:p>
        </p:txBody>
      </p:sp>
      <p:sp>
        <p:nvSpPr>
          <p:cNvPr id="17420" name="Right Arrow 17419"/>
          <p:cNvSpPr/>
          <p:nvPr/>
        </p:nvSpPr>
        <p:spPr>
          <a:xfrm>
            <a:off x="4067556" y="4357116"/>
            <a:ext cx="173736" cy="100584"/>
          </a:xfrm>
          <a:prstGeom prst="rightArrow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Rounded Rectangle 17420"/>
          <p:cNvSpPr/>
          <p:nvPr/>
        </p:nvSpPr>
        <p:spPr>
          <a:xfrm>
            <a:off x="4291584" y="4032504"/>
            <a:ext cx="1665732" cy="749808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64008" bIns="6400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497D"/>
                </a:solidFill>
                <a:latin typeface="Arial"/>
              </a:rPr>
              <a:t>45-min rolling</a:t>
            </a:r>
          </a:p>
          <a:p>
            <a:pPr algn="ctr">
              <a:lnSpc>
                <a:spcPct val="95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 i="0">
                <a:solidFill>
                  <a:srgbClr val="5A636E"/>
                </a:solidFill>
                <a:latin typeface="Arial"/>
              </a:rPr>
              <a:t>median speed</a:t>
            </a:r>
          </a:p>
        </p:txBody>
      </p:sp>
      <p:sp>
        <p:nvSpPr>
          <p:cNvPr id="17422" name="Right Arrow 17421"/>
          <p:cNvSpPr/>
          <p:nvPr/>
        </p:nvSpPr>
        <p:spPr>
          <a:xfrm>
            <a:off x="6007607" y="4357116"/>
            <a:ext cx="173736" cy="100584"/>
          </a:xfrm>
          <a:prstGeom prst="rightArrow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Rounded Rectangle 17422"/>
          <p:cNvSpPr/>
          <p:nvPr/>
        </p:nvSpPr>
        <p:spPr>
          <a:xfrm>
            <a:off x="6231636" y="4032504"/>
            <a:ext cx="1665732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64008" bIns="6400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497D"/>
                </a:solidFill>
                <a:latin typeface="Arial"/>
              </a:rPr>
              <a:t>Status</a:t>
            </a:r>
          </a:p>
          <a:p>
            <a:pPr algn="ctr">
              <a:lnSpc>
                <a:spcPct val="95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 i="0">
                <a:solidFill>
                  <a:srgbClr val="5A636E"/>
                </a:solidFill>
                <a:latin typeface="Arial"/>
              </a:rPr>
              <a:t>OPEN → BLOCKED</a:t>
            </a:r>
          </a:p>
        </p:txBody>
      </p:sp>
      <p:sp>
        <p:nvSpPr>
          <p:cNvPr id="17424" name="Right Arrow 17423"/>
          <p:cNvSpPr/>
          <p:nvPr/>
        </p:nvSpPr>
        <p:spPr>
          <a:xfrm>
            <a:off x="7947660" y="4357116"/>
            <a:ext cx="173736" cy="100584"/>
          </a:xfrm>
          <a:prstGeom prst="rightArrow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Rounded Rectangle 17424"/>
          <p:cNvSpPr/>
          <p:nvPr/>
        </p:nvSpPr>
        <p:spPr>
          <a:xfrm>
            <a:off x="8171687" y="4032504"/>
            <a:ext cx="1665732" cy="749808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64008" bIns="6400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497D"/>
                </a:solidFill>
                <a:latin typeface="Arial"/>
              </a:rPr>
              <a:t>Alert engine</a:t>
            </a:r>
          </a:p>
          <a:p>
            <a:pPr algn="ctr">
              <a:lnSpc>
                <a:spcPct val="95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 i="0">
                <a:solidFill>
                  <a:srgbClr val="5A636E"/>
                </a:solidFill>
                <a:latin typeface="Arial"/>
              </a:rPr>
              <a:t>10 languages</a:t>
            </a:r>
          </a:p>
        </p:txBody>
      </p:sp>
      <p:sp>
        <p:nvSpPr>
          <p:cNvPr id="17426" name="Right Arrow 17425"/>
          <p:cNvSpPr/>
          <p:nvPr/>
        </p:nvSpPr>
        <p:spPr>
          <a:xfrm>
            <a:off x="9887712" y="4357116"/>
            <a:ext cx="173736" cy="100584"/>
          </a:xfrm>
          <a:prstGeom prst="rightArrow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Rounded Rectangle 17426"/>
          <p:cNvSpPr/>
          <p:nvPr/>
        </p:nvSpPr>
        <p:spPr>
          <a:xfrm>
            <a:off x="10111739" y="4032504"/>
            <a:ext cx="1665732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64008" bIns="6400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497D"/>
                </a:solidFill>
                <a:latin typeface="Arial"/>
              </a:rPr>
              <a:t>Re-route + ETA</a:t>
            </a:r>
          </a:p>
          <a:p>
            <a:pPr algn="ctr">
              <a:lnSpc>
                <a:spcPct val="95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 i="0">
                <a:solidFill>
                  <a:srgbClr val="5A636E"/>
                </a:solidFill>
                <a:latin typeface="Arial"/>
              </a:rPr>
              <a:t>for the corridor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411480" y="4928616"/>
            <a:ext cx="113659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497D"/>
                </a:solidFill>
                <a:latin typeface="Arial"/>
              </a:rPr>
              <a:t>Trust rule — </a:t>
            </a:r>
            <a:r>
              <a:rPr sz="1100" b="0">
                <a:solidFill>
                  <a:srgbClr val="262B33"/>
                </a:solidFill>
                <a:latin typeface="Arial"/>
              </a:rPr>
              <a:t>a reading needs at least 4 samples from at least 2 distinct vehicles, so one parked driver can never close a highway. A driver's hazard report is capped at RESTRICTED until an officer confirms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83080" y="-18288"/>
            <a:ext cx="7818120" cy="1051560"/>
          </a:xfrm>
        </p:spPr>
        <p:txBody>
          <a:bodyPr wrap="square" anchor="ctr"/>
          <a:lstStyle/>
          <a:p>
            <a:pPr eaLnBrk="1" hangingPunct="1"/>
            <a:r>
              <a:rPr lang="en-US" sz="3200" b="1" dirty="0">
                <a:solidFill>
                  <a:srgbClr val="1F497D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lang="en-US" dirty="0" sz="1100" b="1">
                <a:latin typeface="Arial"/>
              </a:rPr>
              <a:t>Sukobin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11480" y="1143000"/>
            <a:ext cx="4709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497D"/>
                </a:solidFill>
                <a:latin typeface="Arial"/>
              </a:rPr>
              <a:t>FEASIBLE BECAUSE IT IS ALREADY BUILT AND MEASURED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11480" y="1417320"/>
            <a:ext cx="4709160" cy="269748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64008" bIns="6400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70C0"/>
                </a:solidFill>
                <a:latin typeface="Arial"/>
              </a:rPr>
              <a:t>42 stretches · 3,567 km  </a:t>
            </a:r>
            <a:r>
              <a:rPr sz="1150" b="0">
                <a:solidFill>
                  <a:srgbClr val="262B33"/>
                </a:solidFill>
                <a:latin typeface="Arial"/>
              </a:rPr>
              <a:t>real OSRM geometry across 12 corridors, 82 districts, 8 states</a:t>
            </a:r>
          </a:p>
          <a:p>
            <a:pPr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</a:pPr>
            <a:r>
              <a:rPr sz="1150" b="1">
                <a:solidFill>
                  <a:srgbClr val="0070C0"/>
                </a:solidFill>
                <a:latin typeface="Arial"/>
              </a:rPr>
              <a:t>4 Android apps + dashboard  </a:t>
            </a:r>
            <a:r>
              <a:rPr sz="1150" b="0">
                <a:solidFill>
                  <a:srgbClr val="262B33"/>
                </a:solidFill>
                <a:latin typeface="Arial"/>
              </a:rPr>
              <a:t>customer, merchant, driver, officer, control room</a:t>
            </a:r>
          </a:p>
          <a:p>
            <a:pPr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</a:pPr>
            <a:r>
              <a:rPr sz="1150" b="1">
                <a:solidFill>
                  <a:srgbClr val="0070C0"/>
                </a:solidFill>
                <a:latin typeface="Arial"/>
              </a:rPr>
              <a:t>195 / 195  </a:t>
            </a:r>
            <a:r>
              <a:rPr sz="1150" b="0">
                <a:solidFill>
                  <a:srgbClr val="262B33"/>
                </a:solidFill>
                <a:latin typeface="Arial"/>
              </a:rPr>
              <a:t>backend tests passing across 10 suites</a:t>
            </a:r>
          </a:p>
          <a:p>
            <a:pPr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</a:pPr>
            <a:r>
              <a:rPr sz="1150" b="1">
                <a:solidFill>
                  <a:srgbClr val="0070C0"/>
                </a:solidFill>
                <a:latin typeface="Arial"/>
              </a:rPr>
              <a:t>10 languages · 8,424 units  </a:t>
            </a:r>
            <a:r>
              <a:rPr sz="1150" b="0">
                <a:solidFill>
                  <a:srgbClr val="262B33"/>
                </a:solidFill>
                <a:latin typeface="Arial"/>
              </a:rPr>
              <a:t>every screen, zero English fallbacks</a:t>
            </a:r>
          </a:p>
          <a:p>
            <a:pPr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</a:pPr>
            <a:r>
              <a:rPr sz="1150" b="1">
                <a:solidFill>
                  <a:srgbClr val="0070C0"/>
                </a:solidFill>
                <a:latin typeface="Arial"/>
              </a:rPr>
              <a:t>100 % coverage  </a:t>
            </a:r>
            <a:r>
              <a:rPr sz="1150" b="0">
                <a:solidFill>
                  <a:srgbClr val="262B33"/>
                </a:solidFill>
                <a:latin typeface="Arial"/>
              </a:rPr>
              <a:t>status known, live vehicle data and forecast on every road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411480" y="4270248"/>
            <a:ext cx="4709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497D"/>
                </a:solidFill>
                <a:latin typeface="Arial"/>
              </a:rPr>
              <a:t>SCALING COSTS ALMOST NOTHING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11480" y="4544568"/>
            <a:ext cx="47091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4F81BD"/>
                </a:solidFill>
                <a:latin typeface="Arial"/>
              </a:rPr>
              <a:t>•  </a:t>
            </a:r>
            <a:r>
              <a:rPr sz="1150" b="0">
                <a:solidFill>
                  <a:srgbClr val="262B33"/>
                </a:solidFill>
                <a:latin typeface="Arial"/>
              </a:rPr>
              <a:t>No hardware to install, maintain or power.</a:t>
            </a:r>
          </a:p>
          <a:p>
            <a:pPr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</a:pPr>
            <a:r>
              <a:rPr sz="1150" b="1">
                <a:solidFill>
                  <a:srgbClr val="4F81BD"/>
                </a:solidFill>
                <a:latin typeface="Arial"/>
              </a:rPr>
              <a:t>•  </a:t>
            </a:r>
            <a:r>
              <a:rPr sz="1150" b="0">
                <a:solidFill>
                  <a:srgbClr val="262B33"/>
                </a:solidFill>
                <a:latin typeface="Arial"/>
              </a:rPr>
              <a:t>A new district needs its road geometry seeded — hours, not procurement.</a:t>
            </a:r>
          </a:p>
          <a:p>
            <a:pPr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</a:pPr>
            <a:r>
              <a:rPr sz="1150" b="1">
                <a:solidFill>
                  <a:srgbClr val="4F81BD"/>
                </a:solidFill>
                <a:latin typeface="Arial"/>
              </a:rPr>
              <a:t>•  </a:t>
            </a:r>
            <a:r>
              <a:rPr sz="1150" b="0">
                <a:solidFill>
                  <a:srgbClr val="262B33"/>
                </a:solidFill>
                <a:latin typeface="Arial"/>
              </a:rPr>
              <a:t>Sensing density rises with adoption, at no extra cost.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5394960" y="1143000"/>
            <a:ext cx="63825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497D"/>
                </a:solidFill>
                <a:latin typeface="Arial"/>
              </a:rPr>
              <a:t>RISKS, AND WHAT ANSWERS EACH ONE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5394960" y="1435608"/>
            <a:ext cx="6382512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64008" bIns="64008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25E1E"/>
                </a:solidFill>
                <a:latin typeface="Arial"/>
              </a:rPr>
              <a:t>No public register of past road closures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 i="0">
                <a:solidFill>
                  <a:srgbClr val="262B33"/>
                </a:solidFill>
                <a:latin typeface="Arial"/>
              </a:rPr>
              <a:t>Labels drawn from a rainfall-threshold hazard function; verified field reports override them. Stated openly on the dashboard.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5394960" y="2322576"/>
            <a:ext cx="6382512" cy="786384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64008" bIns="64008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25E1E"/>
                </a:solidFill>
                <a:latin typeface="Arial"/>
              </a:rPr>
              <a:t>One parked driver could read as a closure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 i="0">
                <a:solidFill>
                  <a:srgbClr val="262B33"/>
                </a:solidFill>
                <a:latin typeface="Arial"/>
              </a:rPr>
              <a:t>A status needs ≥ 4 samples from ≥ 2 vehicles, else it is discarded.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5394960" y="3209544"/>
            <a:ext cx="6382512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64008" bIns="64008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25E1E"/>
                </a:solidFill>
                <a:latin typeface="Arial"/>
              </a:rPr>
              <a:t>Hill districts drop off the network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 i="0">
                <a:solidFill>
                  <a:srgbClr val="262B33"/>
                </a:solidFill>
                <a:latin typeface="Arial"/>
              </a:rPr>
              <a:t>Reports queue on the phone with a client ID and sync later; duplicates are rejected, so nothing is filed twice.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5394960" y="4096511"/>
            <a:ext cx="6382512" cy="786384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64008" bIns="64008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25E1E"/>
                </a:solidFill>
                <a:latin typeface="Arial"/>
              </a:rPr>
              <a:t>Officers and drivers do not share a language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 i="0">
                <a:solidFill>
                  <a:srgbClr val="262B33"/>
                </a:solidFill>
                <a:latin typeface="Arial"/>
              </a:rPr>
              <a:t>Ten languages including Khasi, Mizo, Nagamese and Kokborok — spoken aloud as well as written.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5394960" y="4983479"/>
            <a:ext cx="6382512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64008" bIns="64008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25E1E"/>
                </a:solidFill>
                <a:latin typeface="Arial"/>
              </a:rPr>
              <a:t>A quiet road has no vehicles to sense it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 i="0">
                <a:solidFill>
                  <a:srgbClr val="262B33"/>
                </a:solidFill>
                <a:latin typeface="Arial"/>
              </a:rPr>
              <a:t>The weather model forecasts every road regardless of traffic; the dashboard shows honestly what is sensed and what is not.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83080" y="-18288"/>
            <a:ext cx="7818120" cy="1051560"/>
          </a:xfrm>
        </p:spPr>
        <p:txBody>
          <a:bodyPr wrap="square" anchor="ctr"/>
          <a:lstStyle/>
          <a:p>
            <a:pPr eaLnBrk="1" hangingPunct="1"/>
            <a:r>
              <a:rPr lang="en-US" sz="3200" b="1" dirty="0">
                <a:solidFill>
                  <a:srgbClr val="1F497D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lang="en-US" dirty="0" sz="1100" b="1">
                <a:latin typeface="Arial"/>
              </a:rPr>
              <a:t>Sukobin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11480" y="1143000"/>
            <a:ext cx="113659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497D"/>
                </a:solidFill>
                <a:latin typeface="Arial"/>
              </a:rPr>
              <a:t>WHO IT REACHES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11480" y="1417320"/>
            <a:ext cx="2704338" cy="1298448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64008" bIns="64008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497D"/>
                </a:solidFill>
                <a:latin typeface="Arial"/>
              </a:rPr>
              <a:t>District administration</a:t>
            </a:r>
          </a:p>
          <a:p>
            <a:pPr algn="l">
              <a:lnSpc>
                <a:spcPct val="98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262B33"/>
                </a:solidFill>
                <a:latin typeface="Arial"/>
              </a:rPr>
              <a:t>A lifeline corridor's closure risk 72 hours out, ranked by how many people lose their only road.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298698" y="1417320"/>
            <a:ext cx="2704338" cy="1298448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64008" bIns="64008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497D"/>
                </a:solidFill>
                <a:latin typeface="Arial"/>
              </a:rPr>
              <a:t>Field officers</a:t>
            </a:r>
          </a:p>
          <a:p>
            <a:pPr algn="l">
              <a:lnSpc>
                <a:spcPct val="98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262B33"/>
                </a:solidFill>
                <a:latin typeface="Arial"/>
              </a:rPr>
              <a:t>One screen: weak points ranked with the reason each one scored, and a queue of reports to confirm.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185916" y="1417320"/>
            <a:ext cx="2704338" cy="1298448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64008" bIns="64008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497D"/>
                </a:solidFill>
                <a:latin typeface="Arial"/>
              </a:rPr>
              <a:t>Drivers and small operators</a:t>
            </a:r>
          </a:p>
          <a:p>
            <a:pPr algn="l">
              <a:lnSpc>
                <a:spcPct val="98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262B33"/>
                </a:solidFill>
                <a:latin typeface="Arial"/>
              </a:rPr>
              <a:t>Income from a journey already being made — no fleet, no contract, no empty return leg.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9073134" y="1417320"/>
            <a:ext cx="2704338" cy="1298448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64008" bIns="64008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497D"/>
                </a:solidFill>
                <a:latin typeface="Arial"/>
              </a:rPr>
              <a:t>People in remote blocks</a:t>
            </a:r>
          </a:p>
          <a:p>
            <a:pPr algn="l">
              <a:lnSpc>
                <a:spcPct val="98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262B33"/>
                </a:solidFill>
                <a:latin typeface="Arial"/>
              </a:rPr>
              <a:t>Medicines, rations and produce arrive, and an alert in the language spoken at home when they will not.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411480" y="2916936"/>
            <a:ext cx="113659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497D"/>
                </a:solidFill>
                <a:latin typeface="Arial"/>
              </a:rPr>
              <a:t>BENEFITS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411480" y="3209544"/>
            <a:ext cx="1481328" cy="640080"/>
          </a:xfrm>
          <a:prstGeom prst="roundRect">
            <a:avLst>
              <a:gd name="adj" fmla="val 8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64008" bIns="6400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Social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2002536" y="3209544"/>
            <a:ext cx="9774936" cy="64008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64008" bIns="6400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B33"/>
                </a:solidFill>
                <a:latin typeface="Arial"/>
              </a:rPr>
              <a:t>8 states · 82 districts. Alerts and voice reporting in 10 languages, including four with no other software support.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411480" y="3950207"/>
            <a:ext cx="1481328" cy="64008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64008" bIns="6400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Economic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2002536" y="3950207"/>
            <a:ext cx="9774936" cy="64008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64008" bIns="6400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B33"/>
                </a:solidFill>
                <a:latin typeface="Arial"/>
              </a:rPr>
              <a:t>No dedicated fleet, so the marginal cost of moving one more parcel is near zero. Spare capacity in vehicles already moving becomes income.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411480" y="4690872"/>
            <a:ext cx="1481328" cy="640080"/>
          </a:xfrm>
          <a:prstGeom prst="roundRect">
            <a:avLst>
              <a:gd name="adj" fmla="val 8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64008" bIns="6400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Environmental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2002536" y="4690872"/>
            <a:ext cx="9774936" cy="64008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64008" bIns="6400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B33"/>
                </a:solidFill>
                <a:latin typeface="Arial"/>
              </a:rPr>
              <a:t>Fewer dedicated trips: a parcel rides in a vehicle that was making the journey regardless, instead of a second one setting out.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411480" y="5431536"/>
            <a:ext cx="1481328" cy="640080"/>
          </a:xfrm>
          <a:prstGeom prst="roundRect">
            <a:avLst>
              <a:gd name="adj" fmla="val 8000"/>
            </a:avLst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64008" bIns="6400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Governance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2002536" y="5431536"/>
            <a:ext cx="9774936" cy="64008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64008" bIns="6400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B33"/>
                </a:solidFill>
                <a:latin typeface="Arial"/>
              </a:rPr>
              <a:t>Every incident carries a photo, GPS fix, timestamp and the officer who confirmed it — an evidence trail, not a phone call.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83080" y="-18288"/>
            <a:ext cx="7818120" cy="1051560"/>
          </a:xfrm>
        </p:spPr>
        <p:txBody>
          <a:bodyPr wrap="square" anchor="ctr"/>
          <a:lstStyle/>
          <a:p>
            <a:pPr eaLnBrk="1" hangingPunct="1"/>
            <a:r>
              <a:rPr lang="en-US" sz="3200" b="1" dirty="0">
                <a:solidFill>
                  <a:srgbClr val="1F497D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lang="en-US" dirty="0" sz="1100" b="1">
                <a:latin typeface="Arial"/>
              </a:rPr>
              <a:t>Sukobin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11480" y="1143000"/>
            <a:ext cx="55778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497D"/>
                </a:solidFill>
                <a:latin typeface="Arial"/>
              </a:rPr>
              <a:t>DATA SOURCES THE PLATFORM RUNS ON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11480" y="1417320"/>
            <a:ext cx="5577840" cy="329184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64008" bIns="64008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497D"/>
                </a:solidFill>
                <a:latin typeface="Arial"/>
              </a:rPr>
              <a:t>Open-Meteo Historical Weather API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 i="0">
                <a:solidFill>
                  <a:srgbClr val="5A636E"/>
                </a:solidFill>
                <a:latin typeface="Arial"/>
              </a:rPr>
              <a:t>open-meteo.com/en/docs/historical-weather-api — observed hourly rainfall, snowfall and temperature; the model's training set</a:t>
            </a:r>
          </a:p>
          <a:p>
            <a:pPr algn="l">
              <a:lnSpc>
                <a:spcPct val="95000"/>
              </a:lnSpc>
              <a:spcBef>
                <a:spcPts val="2600"/>
              </a:spcBef>
              <a:spcAft>
                <a:spcPts val="0"/>
              </a:spcAft>
            </a:pPr>
            <a:r>
              <a:rPr sz="1150" b="1" i="0">
                <a:solidFill>
                  <a:srgbClr val="1F497D"/>
                </a:solidFill>
                <a:latin typeface="Arial"/>
              </a:rPr>
              <a:t>OSRM — Open Source Routing Machine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 i="0">
                <a:solidFill>
                  <a:srgbClr val="5A636E"/>
                </a:solidFill>
                <a:latin typeface="Arial"/>
              </a:rPr>
              <a:t>project-osrm.org — road geometry and alternates for all 42 stretches</a:t>
            </a:r>
          </a:p>
          <a:p>
            <a:pPr algn="l">
              <a:lnSpc>
                <a:spcPct val="95000"/>
              </a:lnSpc>
              <a:spcBef>
                <a:spcPts val="2600"/>
              </a:spcBef>
              <a:spcAft>
                <a:spcPts val="0"/>
              </a:spcAft>
            </a:pPr>
            <a:r>
              <a:rPr sz="1150" b="1" i="0">
                <a:solidFill>
                  <a:srgbClr val="1F497D"/>
                </a:solidFill>
                <a:latin typeface="Arial"/>
              </a:rPr>
              <a:t>VAHAN / Parivahan registration lookup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 i="0">
                <a:solidFill>
                  <a:srgbClr val="5A636E"/>
                </a:solidFill>
                <a:latin typeface="Arial"/>
              </a:rPr>
              <a:t>parivahan.gov.in — vehicle class and capacity at driver sign-up</a:t>
            </a:r>
          </a:p>
          <a:p>
            <a:pPr algn="l">
              <a:lnSpc>
                <a:spcPct val="95000"/>
              </a:lnSpc>
              <a:spcBef>
                <a:spcPts val="2600"/>
              </a:spcBef>
              <a:spcAft>
                <a:spcPts val="0"/>
              </a:spcAft>
            </a:pPr>
            <a:r>
              <a:rPr sz="1150" b="1" i="0">
                <a:solidFill>
                  <a:srgbClr val="1F497D"/>
                </a:solidFill>
                <a:latin typeface="Arial"/>
              </a:rPr>
              <a:t>MapLibre GL JS + Esri Dark Gray Canvas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 i="0">
                <a:solidFill>
                  <a:srgbClr val="5A636E"/>
                </a:solidFill>
                <a:latin typeface="Arial"/>
              </a:rPr>
              <a:t>maplibre.org — the GIS layer of the control dashboard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6199632" y="1143000"/>
            <a:ext cx="55778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497D"/>
                </a:solidFill>
                <a:latin typeface="Arial"/>
              </a:rPr>
              <a:t>PROBLEM AND DOMAIN RESEARCH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199632" y="1417320"/>
            <a:ext cx="5577840" cy="329184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64008" bIns="64008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497D"/>
                </a:solidFill>
                <a:latin typeface="Arial"/>
              </a:rPr>
              <a:t>MDoNER — problem statement and regional context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 i="0">
                <a:solidFill>
                  <a:srgbClr val="5A636E"/>
                </a:solidFill>
                <a:latin typeface="Arial"/>
              </a:rPr>
              <a:t>mdoner.gov.in — NER connectivity gaps and infrastructure priorities</a:t>
            </a:r>
          </a:p>
          <a:p>
            <a:pPr algn="l">
              <a:lnSpc>
                <a:spcPct val="95000"/>
              </a:lnSpc>
              <a:spcBef>
                <a:spcPts val="2600"/>
              </a:spcBef>
              <a:spcAft>
                <a:spcPts val="0"/>
              </a:spcAft>
            </a:pPr>
            <a:r>
              <a:rPr sz="1150" b="1" i="0">
                <a:solidFill>
                  <a:srgbClr val="1F497D"/>
                </a:solidFill>
                <a:latin typeface="Arial"/>
              </a:rPr>
              <a:t>NHIDCL / MoRTH national highway network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 i="0">
                <a:solidFill>
                  <a:srgbClr val="5A636E"/>
                </a:solidFill>
                <a:latin typeface="Arial"/>
              </a:rPr>
              <a:t>nhidcl.com · morth.nic.in — corridor alignments and NH numbering used to seed the network</a:t>
            </a:r>
          </a:p>
          <a:p>
            <a:pPr algn="l">
              <a:lnSpc>
                <a:spcPct val="95000"/>
              </a:lnSpc>
              <a:spcBef>
                <a:spcPts val="2600"/>
              </a:spcBef>
              <a:spcAft>
                <a:spcPts val="0"/>
              </a:spcAft>
            </a:pPr>
            <a:r>
              <a:rPr sz="1150" b="1" i="0">
                <a:solidFill>
                  <a:srgbClr val="1F497D"/>
                </a:solidFill>
                <a:latin typeface="Arial"/>
              </a:rPr>
              <a:t>IMD rainfall climatology for the North East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 i="0">
                <a:solidFill>
                  <a:srgbClr val="5A636E"/>
                </a:solidFill>
                <a:latin typeface="Arial"/>
              </a:rPr>
              <a:t>mausam.imd.gov.in — monsoon windows and the rain thresholds behind the hazard function</a:t>
            </a:r>
          </a:p>
          <a:p>
            <a:pPr algn="l">
              <a:lnSpc>
                <a:spcPct val="95000"/>
              </a:lnSpc>
              <a:spcBef>
                <a:spcPts val="2600"/>
              </a:spcBef>
              <a:spcAft>
                <a:spcPts val="0"/>
              </a:spcAft>
            </a:pPr>
            <a:r>
              <a:rPr sz="1150" b="1" i="0">
                <a:solidFill>
                  <a:srgbClr val="1F497D"/>
                </a:solidFill>
                <a:latin typeface="Arial"/>
              </a:rPr>
              <a:t>GSI landslide susceptibility mapping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 i="0">
                <a:solidFill>
                  <a:srgbClr val="5A636E"/>
                </a:solidFill>
                <a:latin typeface="Arial"/>
              </a:rPr>
              <a:t>gsi.gov.in — which stretches are treated as landslide-prone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11480" y="4855464"/>
            <a:ext cx="11365992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64008" bIns="6400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497D"/>
                </a:solidFill>
                <a:latin typeface="Arial"/>
              </a:rPr>
              <a:t>Working prototype  </a:t>
            </a:r>
            <a:r>
              <a:rPr sz="1150" b="0">
                <a:solidFill>
                  <a:srgbClr val="262B33"/>
                </a:solidFill>
                <a:latin typeface="Arial"/>
              </a:rPr>
              <a:t>— four Android apps, a control dashboard and the backend are built and running. The forecast model, the probe-sensing engine and the corridor matcher are covered by 195 automated tests.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