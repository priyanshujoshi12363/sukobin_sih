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1024128"/>
            <a:ext cx="8534400" cy="1143000"/>
          </a:xfrm>
        </p:spPr>
        <p:txBody>
          <a:bodyPr/>
          <a:lstStyle/>
          <a:p>
            <a:pPr algn="l">
              <a:lnSpc>
                <a:spcPct val="100000"/>
              </a:lnSpc>
              <a:spcBef>
                <a:spcPts val="0"/>
              </a:spcBef>
              <a:spcAft>
                <a:spcPts val="0"/>
              </a:spcAft>
            </a:pPr>
            <a:r>
              <a:rPr sz="3000" b="1" i="0">
                <a:solidFill>
                  <a:srgbClr val="1F497D"/>
                </a:solidFill>
                <a:latin typeface="Times New Roman"/>
              </a:rPr>
              <a:t>SUKOBIN</a:t>
            </a:r>
            <a:endParaRPr lang="en-US" b="1" dirty="0">
              <a:solidFill>
                <a:schemeClr val="tx1"/>
              </a:solidFill>
              <a:latin typeface="Times New Roman" panose="02020603050405020304" pitchFamily="18" charset="0"/>
              <a:cs typeface="Times New Roman" panose="02020603050405020304" pitchFamily="18" charset="0"/>
            </a:endParaRPr>
          </a:p>
          <a:p>
            <a:pPr algn="l">
              <a:lnSpc>
                <a:spcPct val="100000"/>
              </a:lnSpc>
              <a:spcBef>
                <a:spcPts val="300"/>
              </a:spcBef>
              <a:spcAft>
                <a:spcPts val="0"/>
              </a:spcAft>
            </a:pPr>
            <a:r>
              <a:rPr sz="1500" b="0" i="0">
                <a:solidFill>
                  <a:srgbClr val="5A636E"/>
                </a:solidFill>
                <a:latin typeface="Arial"/>
              </a:rPr>
              <a:t>Carriers as the sensor network</a:t>
            </a: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lnSpc>
                <a:spcPct val="95000"/>
              </a:lnSpc>
              <a:spcBef>
                <a:spcPts val="0"/>
              </a:spcBef>
              <a:spcAft>
                <a:spcPts val="0"/>
              </a:spcAft>
            </a:pPr>
            <a:r>
              <a:rPr sz="1350" b="1">
                <a:solidFill>
                  <a:srgbClr val="1F497D"/>
                </a:solidFill>
                <a:latin typeface="Arial"/>
              </a:rPr>
              <a:t>Problem Statement ID – </a:t>
            </a:r>
            <a:r>
              <a:rPr sz="1350" b="0">
                <a:solidFill>
                  <a:srgbClr val="262B33"/>
                </a:solidFill>
                <a:latin typeface="Arial"/>
              </a:rPr>
              <a:t>SIH26-MDoNER-01</a:t>
            </a:r>
            <a:endParaRPr lang="en-US" dirty="0"/>
          </a:p>
          <a:p>
            <a:pPr algn="l">
              <a:lnSpc>
                <a:spcPct val="95000"/>
              </a:lnSpc>
              <a:spcBef>
                <a:spcPts val="900"/>
              </a:spcBef>
              <a:spcAft>
                <a:spcPts val="0"/>
              </a:spcAft>
            </a:pPr>
            <a:r>
              <a:rPr sz="1250" b="1">
                <a:solidFill>
                  <a:srgbClr val="1F497D"/>
                </a:solidFill>
                <a:latin typeface="Arial"/>
              </a:rPr>
              <a:t>Problem Statement Title – </a:t>
            </a:r>
            <a:r>
              <a:rPr sz="1250" b="0">
                <a:solidFill>
                  <a:srgbClr val="262B33"/>
                </a:solidFill>
                <a:latin typeface="Arial"/>
              </a:rPr>
              <a:t>AI-Enabled Logistics Accessibility Intelligence Platform for the North Eastern Region</a:t>
            </a:r>
          </a:p>
          <a:p>
            <a:pPr algn="l">
              <a:lnSpc>
                <a:spcPct val="95000"/>
              </a:lnSpc>
              <a:spcBef>
                <a:spcPts val="900"/>
              </a:spcBef>
              <a:spcAft>
                <a:spcPts val="0"/>
              </a:spcAft>
            </a:pPr>
            <a:r>
              <a:rPr sz="1350" b="1">
                <a:solidFill>
                  <a:srgbClr val="1F497D"/>
                </a:solidFill>
                <a:latin typeface="Arial"/>
              </a:rPr>
              <a:t>Theme – </a:t>
            </a:r>
            <a:r>
              <a:rPr sz="1350" b="0">
                <a:solidFill>
                  <a:srgbClr val="262B33"/>
                </a:solidFill>
                <a:latin typeface="Arial"/>
              </a:rPr>
              <a:t>Transportation &amp; Logistics</a:t>
            </a:r>
          </a:p>
          <a:p>
            <a:pPr algn="l">
              <a:lnSpc>
                <a:spcPct val="95000"/>
              </a:lnSpc>
              <a:spcBef>
                <a:spcPts val="900"/>
              </a:spcBef>
              <a:spcAft>
                <a:spcPts val="0"/>
              </a:spcAft>
            </a:pPr>
            <a:r>
              <a:rPr sz="1350" b="1">
                <a:solidFill>
                  <a:srgbClr val="1F497D"/>
                </a:solidFill>
                <a:latin typeface="Arial"/>
              </a:rPr>
              <a:t>PS Category – </a:t>
            </a:r>
            <a:r>
              <a:rPr sz="1350" b="0">
                <a:solidFill>
                  <a:srgbClr val="262B33"/>
                </a:solidFill>
                <a:latin typeface="Arial"/>
              </a:rPr>
              <a:t>Software</a:t>
            </a:r>
          </a:p>
          <a:p>
            <a:pPr algn="l">
              <a:lnSpc>
                <a:spcPct val="95000"/>
              </a:lnSpc>
              <a:spcBef>
                <a:spcPts val="900"/>
              </a:spcBef>
              <a:spcAft>
                <a:spcPts val="0"/>
              </a:spcAft>
            </a:pPr>
            <a:r>
              <a:rPr sz="1350" b="1">
                <a:solidFill>
                  <a:srgbClr val="1F497D"/>
                </a:solidFill>
                <a:latin typeface="Arial"/>
              </a:rPr>
              <a:t>Team ID – </a:t>
            </a:r>
            <a:r>
              <a:rPr sz="1350" b="0">
                <a:solidFill>
                  <a:srgbClr val="262B33"/>
                </a:solidFill>
                <a:latin typeface="Arial"/>
              </a:rPr>
              <a:t>&lt;team id&gt;</a:t>
            </a:r>
          </a:p>
          <a:p>
            <a:pPr algn="l">
              <a:lnSpc>
                <a:spcPct val="95000"/>
              </a:lnSpc>
              <a:spcBef>
                <a:spcPts val="900"/>
              </a:spcBef>
              <a:spcAft>
                <a:spcPts val="0"/>
              </a:spcAft>
            </a:pPr>
            <a:r>
              <a:rPr sz="1350" b="1">
                <a:solidFill>
                  <a:srgbClr val="1F497D"/>
                </a:solidFill>
                <a:latin typeface="Arial"/>
              </a:rPr>
              <a:t>Team Name – </a:t>
            </a:r>
            <a:r>
              <a:rPr sz="1350" b="0">
                <a:solidFill>
                  <a:srgbClr val="262B33"/>
                </a:solidFill>
                <a:latin typeface="Arial"/>
              </a:rPr>
              <a:t>Sukobin</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783080" y="-18288"/>
            <a:ext cx="7818120" cy="1051560"/>
          </a:xfrm>
        </p:spPr>
        <p:txBody>
          <a:bodyPr wrap="square" anchor="ctr"/>
          <a:lstStyle/>
          <a:p>
            <a:pPr eaLnBrk="1" hangingPunct="1"/>
            <a:r>
              <a:rPr lang="en-US" sz="2500" b="1" dirty="0">
                <a:solidFill>
                  <a:srgbClr val="1F497D"/>
                </a:solidFill>
                <a:latin typeface="Times New Roman" panose="02020603050405020304" pitchFamily="18" charset="0"/>
                <a:ea typeface="ＭＳ Ｐゴシック" pitchFamily="1" charset="-128"/>
                <a:cs typeface="Times New Roman" panose="02020603050405020304" pitchFamily="18" charset="0"/>
              </a:rPr>
              <a:t>EVERY VEHICLE ON THE ROAD IS A SENSOR</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1143000"/>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DETAILED EXPLANATION OF THE PROPOSED SOLUTION</a:t>
            </a:r>
          </a:p>
        </p:txBody>
      </p:sp>
      <p:sp>
        <p:nvSpPr>
          <p:cNvPr id="15363" name="Rectangle 15362"/>
          <p:cNvSpPr/>
          <p:nvPr/>
        </p:nvSpPr>
        <p:spPr>
          <a:xfrm>
            <a:off x="411480" y="1330452"/>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411480" y="1435608"/>
            <a:ext cx="6400800" cy="169164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C25E1E"/>
                </a:solidFill>
                <a:latin typeface="Arial"/>
              </a:rPr>
              <a:t>The problem. </a:t>
            </a:r>
            <a:r>
              <a:rPr sz="1100" b="0">
                <a:solidFill>
                  <a:srgbClr val="262B33"/>
                </a:solidFill>
                <a:latin typeface="Arial"/>
              </a:rPr>
              <a:t>Landslides, floods and infrastructure gaps cut the NER's roads without warning. Medicines, food, produce and construction material arrive late or not at all, and no integrated platform exists to see it happening.</a:t>
            </a:r>
          </a:p>
          <a:p>
            <a:pPr algn="l">
              <a:lnSpc>
                <a:spcPct val="100000"/>
              </a:lnSpc>
              <a:spcBef>
                <a:spcPts val="700"/>
              </a:spcBef>
              <a:spcAft>
                <a:spcPts val="0"/>
              </a:spcAft>
            </a:pPr>
            <a:r>
              <a:rPr sz="1100" b="1">
                <a:solidFill>
                  <a:srgbClr val="1F497D"/>
                </a:solidFill>
                <a:latin typeface="Arial"/>
              </a:rPr>
              <a:t>Nobody drives for us. </a:t>
            </a:r>
            <a:r>
              <a:rPr sz="1100" b="0">
                <a:solidFill>
                  <a:srgbClr val="262B33"/>
                </a:solidFill>
                <a:latin typeface="Arial"/>
              </a:rPr>
              <a:t>Anyone already travelling A to B enters their vehicle and route, and is offered only the consignments lying along that road, up to what the vehicle holds. No fleet, no empty return leg.</a:t>
            </a:r>
          </a:p>
          <a:p>
            <a:pPr algn="l">
              <a:lnSpc>
                <a:spcPct val="100000"/>
              </a:lnSpc>
              <a:spcBef>
                <a:spcPts val="700"/>
              </a:spcBef>
              <a:spcAft>
                <a:spcPts val="0"/>
              </a:spcAft>
            </a:pPr>
            <a:r>
              <a:rPr sz="1100" b="1">
                <a:solidFill>
                  <a:srgbClr val="1F497D"/>
                </a:solidFill>
                <a:latin typeface="Arial"/>
              </a:rPr>
              <a:t>Those carriers stream GPS while they drive. </a:t>
            </a:r>
            <a:r>
              <a:rPr sz="1100" b="0">
                <a:solidFill>
                  <a:srgbClr val="262B33"/>
                </a:solidFill>
                <a:latin typeface="Arial"/>
              </a:rPr>
              <a:t>Median speed against each road's baseline is a live accessibility reading; the weather model turns it into a 72-hour closure forecast.</a:t>
            </a:r>
          </a:p>
        </p:txBody>
      </p:sp>
      <p:sp>
        <p:nvSpPr>
          <p:cNvPr id="15365" name="TextBox 15364"/>
          <p:cNvSpPr txBox="1"/>
          <p:nvPr/>
        </p:nvSpPr>
        <p:spPr>
          <a:xfrm>
            <a:off x="411480" y="3191256"/>
            <a:ext cx="6400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INNOVATION AND UNIQUENESS OF THE SOLUTION</a:t>
            </a:r>
          </a:p>
        </p:txBody>
      </p:sp>
      <p:sp>
        <p:nvSpPr>
          <p:cNvPr id="15366" name="Rectangle 15365"/>
          <p:cNvSpPr/>
          <p:nvPr/>
        </p:nvSpPr>
        <p:spPr>
          <a:xfrm>
            <a:off x="411480" y="3378708"/>
            <a:ext cx="6400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Rounded Rectangle 15366"/>
          <p:cNvSpPr/>
          <p:nvPr/>
        </p:nvSpPr>
        <p:spPr>
          <a:xfrm>
            <a:off x="411480" y="3483864"/>
            <a:ext cx="6400800" cy="10607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50" b="1">
                <a:solidFill>
                  <a:srgbClr val="1F497D"/>
                </a:solidFill>
                <a:latin typeface="Arial"/>
              </a:rPr>
              <a:t>•  The carrier network IS the sensor network — </a:t>
            </a:r>
            <a:r>
              <a:rPr sz="1050" b="0">
                <a:solidFill>
                  <a:srgbClr val="262B33"/>
                </a:solidFill>
                <a:latin typeface="Arial"/>
              </a:rPr>
              <a:t>one GPS stream both delivers goods and measures the road.</a:t>
            </a:r>
          </a:p>
          <a:p>
            <a:pPr algn="l">
              <a:lnSpc>
                <a:spcPct val="100000"/>
              </a:lnSpc>
              <a:spcBef>
                <a:spcPts val="700"/>
              </a:spcBef>
              <a:spcAft>
                <a:spcPts val="0"/>
              </a:spcAft>
            </a:pPr>
            <a:r>
              <a:rPr sz="1050" b="1">
                <a:solidFill>
                  <a:srgbClr val="1F497D"/>
                </a:solidFill>
                <a:latin typeface="Arial"/>
              </a:rPr>
              <a:t>•  Coverage without hardware — </a:t>
            </a:r>
            <a:r>
              <a:rPr sz="1050" b="0">
                <a:solidFill>
                  <a:srgbClr val="262B33"/>
                </a:solidFill>
                <a:latin typeface="Arial"/>
              </a:rPr>
              <a:t>no roadside sensors, no dedicated fleet, nothing to power or maintain.</a:t>
            </a:r>
          </a:p>
          <a:p>
            <a:pPr algn="l">
              <a:lnSpc>
                <a:spcPct val="100000"/>
              </a:lnSpc>
              <a:spcBef>
                <a:spcPts val="700"/>
              </a:spcBef>
              <a:spcAft>
                <a:spcPts val="0"/>
              </a:spcAft>
            </a:pPr>
            <a:r>
              <a:rPr sz="1050" b="1">
                <a:solidFill>
                  <a:srgbClr val="1F497D"/>
                </a:solidFill>
                <a:latin typeface="Arial"/>
              </a:rPr>
              <a:t>•  It improves as it is used — </a:t>
            </a:r>
            <a:r>
              <a:rPr sz="1050" b="0">
                <a:solidFill>
                  <a:srgbClr val="262B33"/>
                </a:solidFill>
                <a:latin typeface="Arial"/>
              </a:rPr>
              <a:t>every new carrier adds sensing density at zero marginal cost.</a:t>
            </a:r>
          </a:p>
        </p:txBody>
      </p:sp>
      <p:sp>
        <p:nvSpPr>
          <p:cNvPr id="15368" name="TextBox 15367"/>
          <p:cNvSpPr txBox="1"/>
          <p:nvPr/>
        </p:nvSpPr>
        <p:spPr>
          <a:xfrm>
            <a:off x="7086600" y="1435608"/>
            <a:ext cx="469087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ONE TRIP, TWO PRODUCTS</a:t>
            </a:r>
          </a:p>
        </p:txBody>
      </p:sp>
      <p:sp>
        <p:nvSpPr>
          <p:cNvPr id="15369" name="Rounded Rectangle 15368"/>
          <p:cNvSpPr/>
          <p:nvPr/>
        </p:nvSpPr>
        <p:spPr>
          <a:xfrm>
            <a:off x="7086600" y="1673352"/>
            <a:ext cx="4690872" cy="457200"/>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1" i="0">
                <a:solidFill>
                  <a:srgbClr val="1F497D"/>
                </a:solidFill>
                <a:latin typeface="Arial"/>
              </a:rPr>
              <a:t>Driver declares  Dimapur → Imphal</a:t>
            </a:r>
          </a:p>
        </p:txBody>
      </p:sp>
      <p:sp>
        <p:nvSpPr>
          <p:cNvPr id="15370" name="Down Arrow 15369"/>
          <p:cNvSpPr/>
          <p:nvPr/>
        </p:nvSpPr>
        <p:spPr>
          <a:xfrm>
            <a:off x="9381744" y="2148840"/>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7086600" y="2276856"/>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Offered only parcels on that road</a:t>
            </a:r>
          </a:p>
        </p:txBody>
      </p:sp>
      <p:sp>
        <p:nvSpPr>
          <p:cNvPr id="15372" name="Down Arrow 15371"/>
          <p:cNvSpPr/>
          <p:nvPr/>
        </p:nvSpPr>
        <p:spPr>
          <a:xfrm>
            <a:off x="9381744" y="2752344"/>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Rounded Rectangle 15372"/>
          <p:cNvSpPr/>
          <p:nvPr/>
        </p:nvSpPr>
        <p:spPr>
          <a:xfrm>
            <a:off x="7086600" y="2880360"/>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Drives — GPS every 20 s / 40 m</a:t>
            </a:r>
          </a:p>
        </p:txBody>
      </p:sp>
      <p:sp>
        <p:nvSpPr>
          <p:cNvPr id="15374" name="Down Arrow 15373"/>
          <p:cNvSpPr/>
          <p:nvPr/>
        </p:nvSpPr>
        <p:spPr>
          <a:xfrm>
            <a:off x="9381744" y="3355848"/>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Rounded Rectangle 15374"/>
          <p:cNvSpPr/>
          <p:nvPr/>
        </p:nvSpPr>
        <p:spPr>
          <a:xfrm>
            <a:off x="7086600" y="3483864"/>
            <a:ext cx="4690872" cy="457200"/>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1" i="0">
                <a:solidFill>
                  <a:srgbClr val="1F497D"/>
                </a:solidFill>
                <a:latin typeface="Arial"/>
              </a:rPr>
              <a:t>Median speed vs baseline → status</a:t>
            </a:r>
          </a:p>
        </p:txBody>
      </p:sp>
      <p:sp>
        <p:nvSpPr>
          <p:cNvPr id="15376" name="Down Arrow 15375"/>
          <p:cNvSpPr/>
          <p:nvPr/>
        </p:nvSpPr>
        <p:spPr>
          <a:xfrm>
            <a:off x="9381744" y="3959352"/>
            <a:ext cx="100584" cy="109728"/>
          </a:xfrm>
          <a:prstGeom prst="down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7" name="Rounded Rectangle 15376"/>
          <p:cNvSpPr/>
          <p:nvPr/>
        </p:nvSpPr>
        <p:spPr>
          <a:xfrm>
            <a:off x="7086600" y="4087368"/>
            <a:ext cx="4690872" cy="45720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2000"/>
              </a:lnSpc>
              <a:spcBef>
                <a:spcPts val="0"/>
              </a:spcBef>
              <a:spcAft>
                <a:spcPts val="0"/>
              </a:spcAft>
            </a:pPr>
            <a:r>
              <a:rPr sz="1100" b="0" i="0">
                <a:solidFill>
                  <a:srgbClr val="262B33"/>
                </a:solidFill>
                <a:latin typeface="Arial"/>
              </a:rPr>
              <a:t>Alerts · forecast · re-route · dashboard</a:t>
            </a:r>
          </a:p>
        </p:txBody>
      </p:sp>
      <p:sp>
        <p:nvSpPr>
          <p:cNvPr id="15378" name="TextBox 15377"/>
          <p:cNvSpPr txBox="1"/>
          <p:nvPr/>
        </p:nvSpPr>
        <p:spPr>
          <a:xfrm>
            <a:off x="411480" y="4636008"/>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HOW IT ADDRESSES THE PROBLEM — EVERY CLAUSE OF THE PROBLEM STATEMENT</a:t>
            </a:r>
          </a:p>
        </p:txBody>
      </p:sp>
      <p:sp>
        <p:nvSpPr>
          <p:cNvPr id="15379" name="Rectangle 15378"/>
          <p:cNvSpPr/>
          <p:nvPr/>
        </p:nvSpPr>
        <p:spPr>
          <a:xfrm>
            <a:off x="411480" y="4823460"/>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Rounded Rectangle 15379"/>
          <p:cNvSpPr/>
          <p:nvPr/>
        </p:nvSpPr>
        <p:spPr>
          <a:xfrm>
            <a:off x="411480" y="4928616"/>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(a)  </a:t>
            </a:r>
            <a:r>
              <a:rPr sz="1050" b="1">
                <a:solidFill>
                  <a:srgbClr val="1F497D"/>
                </a:solidFill>
                <a:latin typeface="Arial"/>
              </a:rPr>
              <a:t>Road &amp; bridge accessibility</a:t>
            </a:r>
          </a:p>
          <a:p>
            <a:pPr algn="l">
              <a:lnSpc>
                <a:spcPct val="95000"/>
              </a:lnSpc>
              <a:spcBef>
                <a:spcPts val="200"/>
              </a:spcBef>
              <a:spcAft>
                <a:spcPts val="0"/>
              </a:spcAft>
            </a:pPr>
            <a:r>
              <a:rPr sz="900" b="0" i="0">
                <a:solidFill>
                  <a:srgbClr val="5A636E"/>
                </a:solidFill>
                <a:latin typeface="Arial"/>
              </a:rPr>
              <a:t>42 stretches, 3,567 km, 82 districts, live from GPS</a:t>
            </a:r>
          </a:p>
        </p:txBody>
      </p:sp>
      <p:sp>
        <p:nvSpPr>
          <p:cNvPr id="15381" name="Rounded Rectangle 15380"/>
          <p:cNvSpPr/>
          <p:nvPr/>
        </p:nvSpPr>
        <p:spPr>
          <a:xfrm>
            <a:off x="3280410" y="4928616"/>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(b)  </a:t>
            </a:r>
            <a:r>
              <a:rPr sz="1050" b="1">
                <a:solidFill>
                  <a:srgbClr val="1F497D"/>
                </a:solidFill>
                <a:latin typeface="Arial"/>
              </a:rPr>
              <a:t>Disruption prediction</a:t>
            </a:r>
          </a:p>
          <a:p>
            <a:pPr algn="l">
              <a:lnSpc>
                <a:spcPct val="95000"/>
              </a:lnSpc>
              <a:spcBef>
                <a:spcPts val="200"/>
              </a:spcBef>
              <a:spcAft>
                <a:spcPts val="0"/>
              </a:spcAft>
            </a:pPr>
            <a:r>
              <a:rPr sz="900" b="0" i="0">
                <a:solidFill>
                  <a:srgbClr val="5A636E"/>
                </a:solidFill>
                <a:latin typeface="Arial"/>
              </a:rPr>
              <a:t>24 / 48 / 72 h closure risk on every road</a:t>
            </a:r>
          </a:p>
        </p:txBody>
      </p:sp>
      <p:sp>
        <p:nvSpPr>
          <p:cNvPr id="15382" name="Rounded Rectangle 15381"/>
          <p:cNvSpPr/>
          <p:nvPr/>
        </p:nvSpPr>
        <p:spPr>
          <a:xfrm>
            <a:off x="6149340" y="4928616"/>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(c)  </a:t>
            </a:r>
            <a:r>
              <a:rPr sz="1050" b="1">
                <a:solidFill>
                  <a:srgbClr val="1F497D"/>
                </a:solidFill>
                <a:latin typeface="Arial"/>
              </a:rPr>
              <a:t>Alternate routes + delay</a:t>
            </a:r>
          </a:p>
          <a:p>
            <a:pPr algn="l">
              <a:lnSpc>
                <a:spcPct val="95000"/>
              </a:lnSpc>
              <a:spcBef>
                <a:spcPts val="200"/>
              </a:spcBef>
              <a:spcAft>
                <a:spcPts val="0"/>
              </a:spcAft>
            </a:pPr>
            <a:r>
              <a:rPr sz="900" b="0" i="0">
                <a:solidFill>
                  <a:srgbClr val="5A636E"/>
                </a:solidFill>
                <a:latin typeface="Arial"/>
              </a:rPr>
              <a:t>3 alternatives scored, condition-adjusted ETA</a:t>
            </a:r>
          </a:p>
        </p:txBody>
      </p:sp>
      <p:sp>
        <p:nvSpPr>
          <p:cNvPr id="15383" name="Rounded Rectangle 15382"/>
          <p:cNvSpPr/>
          <p:nvPr/>
        </p:nvSpPr>
        <p:spPr>
          <a:xfrm>
            <a:off x="9018270" y="4928616"/>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(d)  </a:t>
            </a:r>
            <a:r>
              <a:rPr sz="1050" b="1">
                <a:solidFill>
                  <a:srgbClr val="1F497D"/>
                </a:solidFill>
                <a:latin typeface="Arial"/>
              </a:rPr>
              <a:t>GPS tracking of essentials</a:t>
            </a:r>
          </a:p>
          <a:p>
            <a:pPr algn="l">
              <a:lnSpc>
                <a:spcPct val="95000"/>
              </a:lnSpc>
              <a:spcBef>
                <a:spcPts val="200"/>
              </a:spcBef>
              <a:spcAft>
                <a:spcPts val="0"/>
              </a:spcAft>
            </a:pPr>
            <a:r>
              <a:rPr sz="900" b="0" i="0">
                <a:solidFill>
                  <a:srgbClr val="5A636E"/>
                </a:solidFill>
                <a:latin typeface="Arial"/>
              </a:rPr>
              <a:t>medicines, food, produce, construction material</a:t>
            </a:r>
          </a:p>
        </p:txBody>
      </p:sp>
      <p:sp>
        <p:nvSpPr>
          <p:cNvPr id="15384" name="Rounded Rectangle 15383"/>
          <p:cNvSpPr/>
          <p:nvPr/>
        </p:nvSpPr>
        <p:spPr>
          <a:xfrm>
            <a:off x="411480" y="555955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(e)  </a:t>
            </a:r>
            <a:r>
              <a:rPr sz="1050" b="1">
                <a:solidFill>
                  <a:srgbClr val="1F497D"/>
                </a:solidFill>
                <a:latin typeface="Arial"/>
              </a:rPr>
              <a:t>Automated alerts</a:t>
            </a:r>
          </a:p>
          <a:p>
            <a:pPr algn="l">
              <a:lnSpc>
                <a:spcPct val="95000"/>
              </a:lnSpc>
              <a:spcBef>
                <a:spcPts val="200"/>
              </a:spcBef>
              <a:spcAft>
                <a:spcPts val="0"/>
              </a:spcAft>
            </a:pPr>
            <a:r>
              <a:rPr sz="900" b="0" i="0">
                <a:solidFill>
                  <a:srgbClr val="5A636E"/>
                </a:solidFill>
                <a:latin typeface="Arial"/>
              </a:rPr>
              <a:t>blocked road, cut-off region, high-risk corridor</a:t>
            </a:r>
          </a:p>
        </p:txBody>
      </p:sp>
      <p:sp>
        <p:nvSpPr>
          <p:cNvPr id="15385" name="Rounded Rectangle 15384"/>
          <p:cNvSpPr/>
          <p:nvPr/>
        </p:nvSpPr>
        <p:spPr>
          <a:xfrm>
            <a:off x="3280410" y="555955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(f)  </a:t>
            </a:r>
            <a:r>
              <a:rPr sz="1050" b="1">
                <a:solidFill>
                  <a:srgbClr val="1F497D"/>
                </a:solidFill>
                <a:latin typeface="Arial"/>
              </a:rPr>
              <a:t>Field reporting</a:t>
            </a:r>
          </a:p>
          <a:p>
            <a:pPr algn="l">
              <a:lnSpc>
                <a:spcPct val="95000"/>
              </a:lnSpc>
              <a:spcBef>
                <a:spcPts val="200"/>
              </a:spcBef>
              <a:spcAft>
                <a:spcPts val="0"/>
              </a:spcAft>
            </a:pPr>
            <a:r>
              <a:rPr sz="900" b="0" i="0">
                <a:solidFill>
                  <a:srgbClr val="5A636E"/>
                </a:solidFill>
                <a:latin typeface="Arial"/>
              </a:rPr>
              <a:t>photo + GPS + voice, queued when offline</a:t>
            </a:r>
          </a:p>
        </p:txBody>
      </p:sp>
      <p:sp>
        <p:nvSpPr>
          <p:cNvPr id="15386" name="Rounded Rectangle 15385"/>
          <p:cNvSpPr/>
          <p:nvPr/>
        </p:nvSpPr>
        <p:spPr>
          <a:xfrm>
            <a:off x="6149340" y="555955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(g)  </a:t>
            </a:r>
            <a:r>
              <a:rPr sz="1050" b="1">
                <a:solidFill>
                  <a:srgbClr val="1F497D"/>
                </a:solidFill>
                <a:latin typeface="Arial"/>
              </a:rPr>
              <a:t>Central dashboard</a:t>
            </a:r>
          </a:p>
          <a:p>
            <a:pPr algn="l">
              <a:lnSpc>
                <a:spcPct val="95000"/>
              </a:lnSpc>
              <a:spcBef>
                <a:spcPts val="200"/>
              </a:spcBef>
              <a:spcAft>
                <a:spcPts val="0"/>
              </a:spcAft>
            </a:pPr>
            <a:r>
              <a:rPr sz="900" b="0" i="0">
                <a:solidFill>
                  <a:srgbClr val="5A636E"/>
                </a:solidFill>
                <a:latin typeface="Arial"/>
              </a:rPr>
              <a:t>district status, bottlenecks, emergency routes</a:t>
            </a:r>
          </a:p>
        </p:txBody>
      </p:sp>
      <p:sp>
        <p:nvSpPr>
          <p:cNvPr id="15387" name="Rounded Rectangle 15386"/>
          <p:cNvSpPr/>
          <p:nvPr/>
        </p:nvSpPr>
        <p:spPr>
          <a:xfrm>
            <a:off x="9018270" y="5559552"/>
            <a:ext cx="2759202" cy="54864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050" b="1">
                <a:solidFill>
                  <a:srgbClr val="0070C0"/>
                </a:solidFill>
                <a:latin typeface="Arial"/>
              </a:rPr>
              <a:t>(h)  </a:t>
            </a:r>
            <a:r>
              <a:rPr sz="1050" b="1">
                <a:solidFill>
                  <a:srgbClr val="1F497D"/>
                </a:solidFill>
                <a:latin typeface="Arial"/>
              </a:rPr>
              <a:t>Multilingual + offline</a:t>
            </a:r>
          </a:p>
          <a:p>
            <a:pPr algn="l">
              <a:lnSpc>
                <a:spcPct val="95000"/>
              </a:lnSpc>
              <a:spcBef>
                <a:spcPts val="200"/>
              </a:spcBef>
              <a:spcAft>
                <a:spcPts val="0"/>
              </a:spcAft>
            </a:pPr>
            <a:r>
              <a:rPr sz="900" b="0" i="0">
                <a:solidFill>
                  <a:srgbClr val="5A636E"/>
                </a:solidFill>
                <a:latin typeface="Arial"/>
              </a:rPr>
              <a:t>10 languages, sync when the signal returns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TECHNOLOGIES TO BE USED (PROGRAMMING LANGUAGES, FRAMEWORKS, HARDWARE)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SOFTWARE STACK</a:t>
            </a:r>
          </a:p>
        </p:txBody>
      </p:sp>
      <p:sp>
        <p:nvSpPr>
          <p:cNvPr id="17413" name="Rounded Rectangle 17412"/>
          <p:cNvSpPr/>
          <p:nvPr/>
        </p:nvSpPr>
        <p:spPr>
          <a:xfrm>
            <a:off x="411480" y="1673352"/>
            <a:ext cx="3654552" cy="18470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00" b="1">
                <a:solidFill>
                  <a:srgbClr val="1F497D"/>
                </a:solidFill>
                <a:latin typeface="Arial"/>
              </a:rPr>
              <a:t>Backend  </a:t>
            </a:r>
            <a:r>
              <a:rPr sz="1000" b="0">
                <a:solidFill>
                  <a:srgbClr val="262B33"/>
                </a:solidFill>
                <a:latin typeface="Arial"/>
              </a:rPr>
              <a:t>Node.js · Express 5 · MongoDB with 2dsphere indexes · JWT</a:t>
            </a:r>
          </a:p>
          <a:p>
            <a:pPr algn="l">
              <a:lnSpc>
                <a:spcPct val="100000"/>
              </a:lnSpc>
              <a:spcBef>
                <a:spcPts val="800"/>
              </a:spcBef>
              <a:spcAft>
                <a:spcPts val="0"/>
              </a:spcAft>
            </a:pPr>
            <a:r>
              <a:rPr sz="1000" b="1">
                <a:solidFill>
                  <a:srgbClr val="1F497D"/>
                </a:solidFill>
                <a:latin typeface="Arial"/>
              </a:rPr>
              <a:t>Web  </a:t>
            </a:r>
            <a:r>
              <a:rPr sz="1000" b="0">
                <a:solidFill>
                  <a:srgbClr val="262B33"/>
                </a:solidFill>
                <a:latin typeface="Arial"/>
              </a:rPr>
              <a:t>React · Vite · MapLibre GL for the GIS dashboard</a:t>
            </a:r>
          </a:p>
          <a:p>
            <a:pPr algn="l">
              <a:lnSpc>
                <a:spcPct val="100000"/>
              </a:lnSpc>
              <a:spcBef>
                <a:spcPts val="800"/>
              </a:spcBef>
              <a:spcAft>
                <a:spcPts val="0"/>
              </a:spcAft>
            </a:pPr>
            <a:r>
              <a:rPr sz="1000" b="1">
                <a:solidFill>
                  <a:srgbClr val="1F497D"/>
                </a:solidFill>
                <a:latin typeface="Arial"/>
              </a:rPr>
              <a:t>Mobile  </a:t>
            </a:r>
            <a:r>
              <a:rPr sz="1000" b="0">
                <a:solidFill>
                  <a:srgbClr val="262B33"/>
                </a:solidFill>
                <a:latin typeface="Arial"/>
              </a:rPr>
              <a:t>Kotlin + XML — four Android apps: customer, merchant, driver, officer</a:t>
            </a:r>
          </a:p>
          <a:p>
            <a:pPr algn="l">
              <a:lnSpc>
                <a:spcPct val="100000"/>
              </a:lnSpc>
              <a:spcBef>
                <a:spcPts val="800"/>
              </a:spcBef>
              <a:spcAft>
                <a:spcPts val="0"/>
              </a:spcAft>
            </a:pPr>
            <a:r>
              <a:rPr sz="1000" b="1">
                <a:solidFill>
                  <a:srgbClr val="1F497D"/>
                </a:solidFill>
                <a:latin typeface="Arial"/>
              </a:rPr>
              <a:t>Cloud  </a:t>
            </a:r>
            <a:r>
              <a:rPr sz="1000" b="0">
                <a:solidFill>
                  <a:srgbClr val="262B33"/>
                </a:solidFill>
                <a:latin typeface="Arial"/>
              </a:rPr>
              <a:t>Render · MongoDB Atlas · Cloudinary · Firebase push</a:t>
            </a:r>
          </a:p>
        </p:txBody>
      </p:sp>
      <p:sp>
        <p:nvSpPr>
          <p:cNvPr id="17414" name="TextBox 17413"/>
          <p:cNvSpPr txBox="1"/>
          <p:nvPr/>
        </p:nvSpPr>
        <p:spPr>
          <a:xfrm>
            <a:off x="426720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AI / ML</a:t>
            </a:r>
          </a:p>
        </p:txBody>
      </p:sp>
      <p:sp>
        <p:nvSpPr>
          <p:cNvPr id="17415" name="Rounded Rectangle 17414"/>
          <p:cNvSpPr/>
          <p:nvPr/>
        </p:nvSpPr>
        <p:spPr>
          <a:xfrm>
            <a:off x="4267200" y="1673352"/>
            <a:ext cx="3654552" cy="18470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00" b="1">
                <a:solidFill>
                  <a:srgbClr val="1F497D"/>
                </a:solidFill>
                <a:latin typeface="Arial"/>
              </a:rPr>
              <a:t>Model  </a:t>
            </a:r>
            <a:r>
              <a:rPr sz="1000" b="0">
                <a:solidFill>
                  <a:srgbClr val="262B33"/>
                </a:solidFill>
                <a:latin typeface="Arial"/>
              </a:rPr>
              <a:t>Logistic regression, benchmarked against gradient-boosted stumps</a:t>
            </a:r>
          </a:p>
          <a:p>
            <a:pPr algn="l">
              <a:lnSpc>
                <a:spcPct val="100000"/>
              </a:lnSpc>
              <a:spcBef>
                <a:spcPts val="800"/>
              </a:spcBef>
              <a:spcAft>
                <a:spcPts val="0"/>
              </a:spcAft>
            </a:pPr>
            <a:r>
              <a:rPr sz="1000" b="1">
                <a:solidFill>
                  <a:srgbClr val="1F497D"/>
                </a:solidFill>
                <a:latin typeface="Arial"/>
              </a:rPr>
              <a:t>Features  </a:t>
            </a:r>
            <a:r>
              <a:rPr sz="1000" b="0">
                <a:solidFill>
                  <a:srgbClr val="262B33"/>
                </a:solidFill>
                <a:latin typeface="Arial"/>
              </a:rPr>
              <a:t>18 — antecedent rain, burst intensity, slope, terrain, closure history</a:t>
            </a:r>
          </a:p>
          <a:p>
            <a:pPr algn="l">
              <a:lnSpc>
                <a:spcPct val="100000"/>
              </a:lnSpc>
              <a:spcBef>
                <a:spcPts val="800"/>
              </a:spcBef>
              <a:spcAft>
                <a:spcPts val="0"/>
              </a:spcAft>
            </a:pPr>
            <a:r>
              <a:rPr sz="1000" b="1">
                <a:solidFill>
                  <a:srgbClr val="1F497D"/>
                </a:solidFill>
                <a:latin typeface="Arial"/>
              </a:rPr>
              <a:t>Trained on  </a:t>
            </a:r>
            <a:r>
              <a:rPr sz="1000" b="0">
                <a:solidFill>
                  <a:srgbClr val="262B33"/>
                </a:solidFill>
                <a:latin typeface="Arial"/>
              </a:rPr>
              <a:t>109,116 road-days of observed weather · 42 stretches x 877 days</a:t>
            </a:r>
          </a:p>
          <a:p>
            <a:pPr algn="l">
              <a:lnSpc>
                <a:spcPct val="100000"/>
              </a:lnSpc>
              <a:spcBef>
                <a:spcPts val="800"/>
              </a:spcBef>
              <a:spcAft>
                <a:spcPts val="0"/>
              </a:spcAft>
            </a:pPr>
            <a:r>
              <a:rPr sz="1000" b="1">
                <a:solidFill>
                  <a:srgbClr val="1F497D"/>
                </a:solidFill>
                <a:latin typeface="Arial"/>
              </a:rPr>
              <a:t>Scored  </a:t>
            </a:r>
            <a:r>
              <a:rPr sz="1000" b="0">
                <a:solidFill>
                  <a:srgbClr val="262B33"/>
                </a:solidFill>
                <a:latin typeface="Arial"/>
              </a:rPr>
              <a:t>AUC 0.883 · Brier 0.092 · held out after 2026-03-01</a:t>
            </a:r>
          </a:p>
        </p:txBody>
      </p:sp>
      <p:sp>
        <p:nvSpPr>
          <p:cNvPr id="17416" name="TextBox 17415"/>
          <p:cNvSpPr txBox="1"/>
          <p:nvPr/>
        </p:nvSpPr>
        <p:spPr>
          <a:xfrm>
            <a:off x="8122920" y="1435608"/>
            <a:ext cx="365455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HARDWARE AND EXTERNAL DATA</a:t>
            </a:r>
          </a:p>
        </p:txBody>
      </p:sp>
      <p:sp>
        <p:nvSpPr>
          <p:cNvPr id="17417" name="Rounded Rectangle 17416"/>
          <p:cNvSpPr/>
          <p:nvPr/>
        </p:nvSpPr>
        <p:spPr>
          <a:xfrm>
            <a:off x="8122920" y="1673352"/>
            <a:ext cx="3654552" cy="184708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000" b="1">
                <a:solidFill>
                  <a:srgbClr val="1F497D"/>
                </a:solidFill>
                <a:latin typeface="Arial"/>
              </a:rPr>
              <a:t>Hardware  </a:t>
            </a:r>
            <a:r>
              <a:rPr sz="1000" b="0">
                <a:solidFill>
                  <a:srgbClr val="262B33"/>
                </a:solidFill>
                <a:latin typeface="Arial"/>
              </a:rPr>
              <a:t>None to deploy — the driver's own phone is the sensor</a:t>
            </a:r>
          </a:p>
          <a:p>
            <a:pPr algn="l">
              <a:lnSpc>
                <a:spcPct val="100000"/>
              </a:lnSpc>
              <a:spcBef>
                <a:spcPts val="800"/>
              </a:spcBef>
              <a:spcAft>
                <a:spcPts val="0"/>
              </a:spcAft>
            </a:pPr>
            <a:r>
              <a:rPr sz="1000" b="1">
                <a:solidFill>
                  <a:srgbClr val="1F497D"/>
                </a:solidFill>
                <a:latin typeface="Arial"/>
              </a:rPr>
              <a:t>Weather  </a:t>
            </a:r>
            <a:r>
              <a:rPr sz="1000" b="0">
                <a:solidFill>
                  <a:srgbClr val="262B33"/>
                </a:solidFill>
                <a:latin typeface="Arial"/>
              </a:rPr>
              <a:t>Open-Meteo archive + forecast, hourly</a:t>
            </a:r>
          </a:p>
          <a:p>
            <a:pPr algn="l">
              <a:lnSpc>
                <a:spcPct val="100000"/>
              </a:lnSpc>
              <a:spcBef>
                <a:spcPts val="800"/>
              </a:spcBef>
              <a:spcAft>
                <a:spcPts val="0"/>
              </a:spcAft>
            </a:pPr>
            <a:r>
              <a:rPr sz="1000" b="1">
                <a:solidFill>
                  <a:srgbClr val="1F497D"/>
                </a:solidFill>
                <a:latin typeface="Arial"/>
              </a:rPr>
              <a:t>Roads  </a:t>
            </a:r>
            <a:r>
              <a:rPr sz="1000" b="0">
                <a:solidFill>
                  <a:srgbClr val="262B33"/>
                </a:solidFill>
                <a:latin typeface="Arial"/>
              </a:rPr>
              <a:t>OSRM geometry and route alternates</a:t>
            </a:r>
          </a:p>
          <a:p>
            <a:pPr algn="l">
              <a:lnSpc>
                <a:spcPct val="100000"/>
              </a:lnSpc>
              <a:spcBef>
                <a:spcPts val="800"/>
              </a:spcBef>
              <a:spcAft>
                <a:spcPts val="0"/>
              </a:spcAft>
            </a:pPr>
            <a:r>
              <a:rPr sz="1000" b="1">
                <a:solidFill>
                  <a:srgbClr val="1F497D"/>
                </a:solidFill>
                <a:latin typeface="Arial"/>
              </a:rPr>
              <a:t>Transport DB  </a:t>
            </a:r>
            <a:r>
              <a:rPr sz="1000" b="0">
                <a:solidFill>
                  <a:srgbClr val="262B33"/>
                </a:solidFill>
                <a:latin typeface="Arial"/>
              </a:rPr>
              <a:t>VAHAN registration lookup at driver sign-up</a:t>
            </a:r>
          </a:p>
        </p:txBody>
      </p:sp>
      <p:sp>
        <p:nvSpPr>
          <p:cNvPr id="17418" name="TextBox 17417"/>
          <p:cNvSpPr txBox="1"/>
          <p:nvPr/>
        </p:nvSpPr>
        <p:spPr>
          <a:xfrm>
            <a:off x="411480" y="3648456"/>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METHODOLOGY AND PROCESS FOR IMPLEMENTATION</a:t>
            </a:r>
          </a:p>
        </p:txBody>
      </p:sp>
      <p:sp>
        <p:nvSpPr>
          <p:cNvPr id="17419" name="Rectangle 17418"/>
          <p:cNvSpPr/>
          <p:nvPr/>
        </p:nvSpPr>
        <p:spPr>
          <a:xfrm>
            <a:off x="411480" y="3835908"/>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411480" y="3941064"/>
            <a:ext cx="1680972" cy="603504"/>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GPS ping</a:t>
            </a:r>
          </a:p>
          <a:p>
            <a:pPr algn="ctr">
              <a:lnSpc>
                <a:spcPct val="95000"/>
              </a:lnSpc>
              <a:spcBef>
                <a:spcPts val="100"/>
              </a:spcBef>
              <a:spcAft>
                <a:spcPts val="0"/>
              </a:spcAft>
            </a:pPr>
            <a:r>
              <a:rPr sz="850" b="0" i="0">
                <a:solidFill>
                  <a:srgbClr val="5A636E"/>
                </a:solidFill>
                <a:latin typeface="Arial"/>
              </a:rPr>
              <a:t>every 20 s / 40 m</a:t>
            </a:r>
          </a:p>
        </p:txBody>
      </p:sp>
      <p:sp>
        <p:nvSpPr>
          <p:cNvPr id="17421" name="Right Arrow 17420"/>
          <p:cNvSpPr/>
          <p:nvPr/>
        </p:nvSpPr>
        <p:spPr>
          <a:xfrm>
            <a:off x="2138172" y="419709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2348484" y="3941064"/>
            <a:ext cx="1680972"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Map-matched</a:t>
            </a:r>
          </a:p>
          <a:p>
            <a:pPr algn="ctr">
              <a:lnSpc>
                <a:spcPct val="95000"/>
              </a:lnSpc>
              <a:spcBef>
                <a:spcPts val="100"/>
              </a:spcBef>
              <a:spcAft>
                <a:spcPts val="0"/>
              </a:spcAft>
            </a:pPr>
            <a:r>
              <a:rPr sz="850" b="0" i="0">
                <a:solidFill>
                  <a:srgbClr val="5A636E"/>
                </a:solidFill>
                <a:latin typeface="Arial"/>
              </a:rPr>
              <a:t>to a road ≤ 600 m</a:t>
            </a:r>
          </a:p>
        </p:txBody>
      </p:sp>
      <p:sp>
        <p:nvSpPr>
          <p:cNvPr id="17423" name="Right Arrow 17422"/>
          <p:cNvSpPr/>
          <p:nvPr/>
        </p:nvSpPr>
        <p:spPr>
          <a:xfrm>
            <a:off x="4075176" y="419709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4285488" y="3941064"/>
            <a:ext cx="1680972"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45-min rolling</a:t>
            </a:r>
          </a:p>
          <a:p>
            <a:pPr algn="ctr">
              <a:lnSpc>
                <a:spcPct val="95000"/>
              </a:lnSpc>
              <a:spcBef>
                <a:spcPts val="100"/>
              </a:spcBef>
              <a:spcAft>
                <a:spcPts val="0"/>
              </a:spcAft>
            </a:pPr>
            <a:r>
              <a:rPr sz="850" b="0" i="0">
                <a:solidFill>
                  <a:srgbClr val="5A636E"/>
                </a:solidFill>
                <a:latin typeface="Arial"/>
              </a:rPr>
              <a:t>median speed</a:t>
            </a:r>
          </a:p>
        </p:txBody>
      </p:sp>
      <p:sp>
        <p:nvSpPr>
          <p:cNvPr id="17425" name="Right Arrow 17424"/>
          <p:cNvSpPr/>
          <p:nvPr/>
        </p:nvSpPr>
        <p:spPr>
          <a:xfrm>
            <a:off x="6012180" y="419709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ounded Rectangle 17425"/>
          <p:cNvSpPr/>
          <p:nvPr/>
        </p:nvSpPr>
        <p:spPr>
          <a:xfrm>
            <a:off x="6222492" y="3941064"/>
            <a:ext cx="1680972" cy="603504"/>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Road status</a:t>
            </a:r>
          </a:p>
          <a:p>
            <a:pPr algn="ctr">
              <a:lnSpc>
                <a:spcPct val="95000"/>
              </a:lnSpc>
              <a:spcBef>
                <a:spcPts val="100"/>
              </a:spcBef>
              <a:spcAft>
                <a:spcPts val="0"/>
              </a:spcAft>
            </a:pPr>
            <a:r>
              <a:rPr sz="850" b="0" i="0">
                <a:solidFill>
                  <a:srgbClr val="5A636E"/>
                </a:solidFill>
                <a:latin typeface="Arial"/>
              </a:rPr>
              <a:t>OPEN → BLOCKED</a:t>
            </a:r>
          </a:p>
        </p:txBody>
      </p:sp>
      <p:sp>
        <p:nvSpPr>
          <p:cNvPr id="17427" name="Right Arrow 17426"/>
          <p:cNvSpPr/>
          <p:nvPr/>
        </p:nvSpPr>
        <p:spPr>
          <a:xfrm>
            <a:off x="7949184" y="419709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8159496" y="3941064"/>
            <a:ext cx="1680972"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Alert engine</a:t>
            </a:r>
          </a:p>
          <a:p>
            <a:pPr algn="ctr">
              <a:lnSpc>
                <a:spcPct val="95000"/>
              </a:lnSpc>
              <a:spcBef>
                <a:spcPts val="100"/>
              </a:spcBef>
              <a:spcAft>
                <a:spcPts val="0"/>
              </a:spcAft>
            </a:pPr>
            <a:r>
              <a:rPr sz="850" b="0" i="0">
                <a:solidFill>
                  <a:srgbClr val="5A636E"/>
                </a:solidFill>
                <a:latin typeface="Arial"/>
              </a:rPr>
              <a:t>10 languages</a:t>
            </a:r>
          </a:p>
        </p:txBody>
      </p:sp>
      <p:sp>
        <p:nvSpPr>
          <p:cNvPr id="17429" name="Right Arrow 17428"/>
          <p:cNvSpPr/>
          <p:nvPr/>
        </p:nvSpPr>
        <p:spPr>
          <a:xfrm>
            <a:off x="9886188" y="4197096"/>
            <a:ext cx="164592" cy="9144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Rounded Rectangle 17429"/>
          <p:cNvSpPr/>
          <p:nvPr/>
        </p:nvSpPr>
        <p:spPr>
          <a:xfrm>
            <a:off x="10096500" y="3941064"/>
            <a:ext cx="1680972" cy="603504"/>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000" b="1" i="0">
                <a:solidFill>
                  <a:srgbClr val="1F497D"/>
                </a:solidFill>
                <a:latin typeface="Arial"/>
              </a:rPr>
              <a:t>Re-route + ETA</a:t>
            </a:r>
          </a:p>
          <a:p>
            <a:pPr algn="ctr">
              <a:lnSpc>
                <a:spcPct val="95000"/>
              </a:lnSpc>
              <a:spcBef>
                <a:spcPts val="100"/>
              </a:spcBef>
              <a:spcAft>
                <a:spcPts val="0"/>
              </a:spcAft>
            </a:pPr>
            <a:r>
              <a:rPr sz="850" b="0" i="0">
                <a:solidFill>
                  <a:srgbClr val="5A636E"/>
                </a:solidFill>
                <a:latin typeface="Arial"/>
              </a:rPr>
              <a:t>for the corridor</a:t>
            </a:r>
          </a:p>
        </p:txBody>
      </p:sp>
      <p:sp>
        <p:nvSpPr>
          <p:cNvPr id="17431" name="TextBox 17430"/>
          <p:cNvSpPr txBox="1"/>
          <p:nvPr/>
        </p:nvSpPr>
        <p:spPr>
          <a:xfrm>
            <a:off x="411480" y="4690872"/>
            <a:ext cx="11365992"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EXPECTED SOLUTION — EVERY COMPONENT, AND WHAT IMPLEMENTS IT</a:t>
            </a:r>
          </a:p>
        </p:txBody>
      </p:sp>
      <p:sp>
        <p:nvSpPr>
          <p:cNvPr id="17432" name="Rounded Rectangle 17431"/>
          <p:cNvSpPr/>
          <p:nvPr/>
        </p:nvSpPr>
        <p:spPr>
          <a:xfrm>
            <a:off x="411480"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AI route engine</a:t>
            </a:r>
          </a:p>
          <a:p>
            <a:pPr algn="ctr">
              <a:lnSpc>
                <a:spcPct val="95000"/>
              </a:lnSpc>
              <a:spcBef>
                <a:spcPts val="200"/>
              </a:spcBef>
              <a:spcAft>
                <a:spcPts val="0"/>
              </a:spcAft>
            </a:pPr>
            <a:r>
              <a:rPr sz="750" b="0" i="0">
                <a:solidFill>
                  <a:srgbClr val="5A636E"/>
                </a:solidFill>
                <a:latin typeface="Arial"/>
              </a:rPr>
              <a:t>3 OSRM alternates scored, condition-adjusted ETA</a:t>
            </a:r>
          </a:p>
        </p:txBody>
      </p:sp>
      <p:sp>
        <p:nvSpPr>
          <p:cNvPr id="17433" name="Rounded Rectangle 17432"/>
          <p:cNvSpPr/>
          <p:nvPr/>
        </p:nvSpPr>
        <p:spPr>
          <a:xfrm>
            <a:off x="2048256"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GIS dashboard</a:t>
            </a:r>
          </a:p>
          <a:p>
            <a:pPr algn="ctr">
              <a:lnSpc>
                <a:spcPct val="95000"/>
              </a:lnSpc>
              <a:spcBef>
                <a:spcPts val="200"/>
              </a:spcBef>
              <a:spcAft>
                <a:spcPts val="0"/>
              </a:spcAft>
            </a:pPr>
            <a:r>
              <a:rPr sz="750" b="0" i="0">
                <a:solidFill>
                  <a:srgbClr val="5A636E"/>
                </a:solidFill>
                <a:latin typeface="Arial"/>
              </a:rPr>
              <a:t>MapLibre, 42 stretches, status / risk / forecast</a:t>
            </a:r>
          </a:p>
        </p:txBody>
      </p:sp>
      <p:sp>
        <p:nvSpPr>
          <p:cNvPr id="17434" name="Rounded Rectangle 17433"/>
          <p:cNvSpPr/>
          <p:nvPr/>
        </p:nvSpPr>
        <p:spPr>
          <a:xfrm>
            <a:off x="3685032"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GPS tracking</a:t>
            </a:r>
          </a:p>
          <a:p>
            <a:pPr algn="ctr">
              <a:lnSpc>
                <a:spcPct val="95000"/>
              </a:lnSpc>
              <a:spcBef>
                <a:spcPts val="200"/>
              </a:spcBef>
              <a:spcAft>
                <a:spcPts val="0"/>
              </a:spcAft>
            </a:pPr>
            <a:r>
              <a:rPr sz="750" b="0" i="0">
                <a:solidFill>
                  <a:srgbClr val="5A636E"/>
                </a:solidFill>
                <a:latin typeface="Arial"/>
              </a:rPr>
              <a:t>20 s pings, map-matched, essentials flagged</a:t>
            </a:r>
          </a:p>
        </p:txBody>
      </p:sp>
      <p:sp>
        <p:nvSpPr>
          <p:cNvPr id="17435" name="Rounded Rectangle 17434"/>
          <p:cNvSpPr/>
          <p:nvPr/>
        </p:nvSpPr>
        <p:spPr>
          <a:xfrm>
            <a:off x="5321808"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Real-time alerts</a:t>
            </a:r>
          </a:p>
          <a:p>
            <a:pPr algn="ctr">
              <a:lnSpc>
                <a:spcPct val="95000"/>
              </a:lnSpc>
              <a:spcBef>
                <a:spcPts val="200"/>
              </a:spcBef>
              <a:spcAft>
                <a:spcPts val="0"/>
              </a:spcAft>
            </a:pPr>
            <a:r>
              <a:rPr sz="750" b="0" i="0">
                <a:solidFill>
                  <a:srgbClr val="5A636E"/>
                </a:solidFill>
                <a:latin typeface="Arial"/>
              </a:rPr>
              <a:t>7 alert kinds, push + in-app, 10 languages</a:t>
            </a:r>
          </a:p>
        </p:txBody>
      </p:sp>
      <p:sp>
        <p:nvSpPr>
          <p:cNvPr id="17436" name="Rounded Rectangle 17435"/>
          <p:cNvSpPr/>
          <p:nvPr/>
        </p:nvSpPr>
        <p:spPr>
          <a:xfrm>
            <a:off x="6958584"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Mobile + web apps</a:t>
            </a:r>
          </a:p>
          <a:p>
            <a:pPr algn="ctr">
              <a:lnSpc>
                <a:spcPct val="95000"/>
              </a:lnSpc>
              <a:spcBef>
                <a:spcPts val="200"/>
              </a:spcBef>
              <a:spcAft>
                <a:spcPts val="0"/>
              </a:spcAft>
            </a:pPr>
            <a:r>
              <a:rPr sz="750" b="0" i="0">
                <a:solidFill>
                  <a:srgbClr val="5A636E"/>
                </a:solidFill>
                <a:latin typeface="Arial"/>
              </a:rPr>
              <a:t>4 Android apps and a control dashboard</a:t>
            </a:r>
          </a:p>
        </p:txBody>
      </p:sp>
      <p:sp>
        <p:nvSpPr>
          <p:cNvPr id="17437" name="Rounded Rectangle 17436"/>
          <p:cNvSpPr/>
          <p:nvPr/>
        </p:nvSpPr>
        <p:spPr>
          <a:xfrm>
            <a:off x="8595360"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External integration</a:t>
            </a:r>
          </a:p>
          <a:p>
            <a:pPr algn="ctr">
              <a:lnSpc>
                <a:spcPct val="95000"/>
              </a:lnSpc>
              <a:spcBef>
                <a:spcPts val="200"/>
              </a:spcBef>
              <a:spcAft>
                <a:spcPts val="0"/>
              </a:spcAft>
            </a:pPr>
            <a:r>
              <a:rPr sz="750" b="0" i="0">
                <a:solidFill>
                  <a:srgbClr val="5A636E"/>
                </a:solidFill>
                <a:latin typeface="Arial"/>
              </a:rPr>
              <a:t>Open-Meteo · OSRM · VAHAN</a:t>
            </a:r>
          </a:p>
        </p:txBody>
      </p:sp>
      <p:sp>
        <p:nvSpPr>
          <p:cNvPr id="17438" name="Rounded Rectangle 17437"/>
          <p:cNvSpPr/>
          <p:nvPr/>
        </p:nvSpPr>
        <p:spPr>
          <a:xfrm>
            <a:off x="10232136" y="4928616"/>
            <a:ext cx="1545336" cy="60350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ctr">
              <a:lnSpc>
                <a:spcPct val="95000"/>
              </a:lnSpc>
              <a:spcBef>
                <a:spcPts val="0"/>
              </a:spcBef>
              <a:spcAft>
                <a:spcPts val="0"/>
              </a:spcAft>
            </a:pPr>
            <a:r>
              <a:rPr sz="900" b="1" i="0">
                <a:solidFill>
                  <a:srgbClr val="1F497D"/>
                </a:solidFill>
                <a:latin typeface="Arial"/>
              </a:rPr>
              <a:t>Cloud + offline</a:t>
            </a:r>
          </a:p>
          <a:p>
            <a:pPr algn="ctr">
              <a:lnSpc>
                <a:spcPct val="95000"/>
              </a:lnSpc>
              <a:spcBef>
                <a:spcPts val="200"/>
              </a:spcBef>
              <a:spcAft>
                <a:spcPts val="0"/>
              </a:spcAft>
            </a:pPr>
            <a:r>
              <a:rPr sz="750" b="0" i="0">
                <a:solidFill>
                  <a:srgbClr val="5A636E"/>
                </a:solidFill>
                <a:latin typeface="Arial"/>
              </a:rPr>
              <a:t>Atlas · JWT · queue-and-sync on the phone</a:t>
            </a:r>
          </a:p>
        </p:txBody>
      </p:sp>
      <p:sp>
        <p:nvSpPr>
          <p:cNvPr id="17439" name="Rounded Rectangle 17438"/>
          <p:cNvSpPr/>
          <p:nvPr/>
        </p:nvSpPr>
        <p:spPr>
          <a:xfrm>
            <a:off x="411480" y="5660136"/>
            <a:ext cx="11365992" cy="47548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50" b="1">
                <a:solidFill>
                  <a:srgbClr val="1F497D"/>
                </a:solidFill>
                <a:latin typeface="Arial"/>
              </a:rPr>
              <a:t>Trust rule  </a:t>
            </a:r>
            <a:r>
              <a:rPr sz="1050" b="0">
                <a:solidFill>
                  <a:srgbClr val="262B33"/>
                </a:solidFill>
                <a:latin typeface="Arial"/>
              </a:rPr>
              <a:t>— a status needs at least 4 samples from at least 2 distinct vehicles, and a driver's report is capped at RESTRICTED until an officer confirms it, so one parked vehicle can never close a highway.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43434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ANALYSIS OF THE FEASIBILITY OF THE IDEA</a:t>
            </a:r>
          </a:p>
        </p:txBody>
      </p:sp>
      <p:sp>
        <p:nvSpPr>
          <p:cNvPr id="17411" name="Rectangle 17410"/>
          <p:cNvSpPr/>
          <p:nvPr/>
        </p:nvSpPr>
        <p:spPr>
          <a:xfrm>
            <a:off x="411480" y="1330452"/>
            <a:ext cx="43434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4343400" cy="246888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100000"/>
              </a:lnSpc>
              <a:spcBef>
                <a:spcPts val="0"/>
              </a:spcBef>
              <a:spcAft>
                <a:spcPts val="0"/>
              </a:spcAft>
            </a:pPr>
            <a:r>
              <a:rPr sz="1100" b="1">
                <a:solidFill>
                  <a:srgbClr val="0070C0"/>
                </a:solidFill>
                <a:latin typeface="Arial"/>
              </a:rPr>
              <a:t>42 stretches · 3,567 km  </a:t>
            </a:r>
            <a:r>
              <a:rPr sz="1100" b="0">
                <a:solidFill>
                  <a:srgbClr val="262B33"/>
                </a:solidFill>
                <a:latin typeface="Arial"/>
              </a:rPr>
              <a:t>real OSRM geometry, 12 corridors, 82 districts, 8 states</a:t>
            </a:r>
          </a:p>
          <a:p>
            <a:pPr algn="l">
              <a:lnSpc>
                <a:spcPct val="100000"/>
              </a:lnSpc>
              <a:spcBef>
                <a:spcPts val="1100"/>
              </a:spcBef>
              <a:spcAft>
                <a:spcPts val="0"/>
              </a:spcAft>
            </a:pPr>
            <a:r>
              <a:rPr sz="1100" b="1">
                <a:solidFill>
                  <a:srgbClr val="0070C0"/>
                </a:solidFill>
                <a:latin typeface="Arial"/>
              </a:rPr>
              <a:t>4 Android apps + dashboard  </a:t>
            </a:r>
            <a:r>
              <a:rPr sz="1100" b="0">
                <a:solidFill>
                  <a:srgbClr val="262B33"/>
                </a:solidFill>
                <a:latin typeface="Arial"/>
              </a:rPr>
              <a:t>customer, merchant, driver, officer, control room</a:t>
            </a:r>
          </a:p>
          <a:p>
            <a:pPr algn="l">
              <a:lnSpc>
                <a:spcPct val="100000"/>
              </a:lnSpc>
              <a:spcBef>
                <a:spcPts val="1100"/>
              </a:spcBef>
              <a:spcAft>
                <a:spcPts val="0"/>
              </a:spcAft>
            </a:pPr>
            <a:r>
              <a:rPr sz="1100" b="1">
                <a:solidFill>
                  <a:srgbClr val="0070C0"/>
                </a:solidFill>
                <a:latin typeface="Arial"/>
              </a:rPr>
              <a:t>195 / 195  </a:t>
            </a:r>
            <a:r>
              <a:rPr sz="1100" b="0">
                <a:solidFill>
                  <a:srgbClr val="262B33"/>
                </a:solidFill>
                <a:latin typeface="Arial"/>
              </a:rPr>
              <a:t>backend tests passing across 10 suites</a:t>
            </a:r>
          </a:p>
          <a:p>
            <a:pPr algn="l">
              <a:lnSpc>
                <a:spcPct val="100000"/>
              </a:lnSpc>
              <a:spcBef>
                <a:spcPts val="1100"/>
              </a:spcBef>
              <a:spcAft>
                <a:spcPts val="0"/>
              </a:spcAft>
            </a:pPr>
            <a:r>
              <a:rPr sz="1100" b="1">
                <a:solidFill>
                  <a:srgbClr val="0070C0"/>
                </a:solidFill>
                <a:latin typeface="Arial"/>
              </a:rPr>
              <a:t>10 languages · 8,424 units  </a:t>
            </a:r>
            <a:r>
              <a:rPr sz="1100" b="0">
                <a:solidFill>
                  <a:srgbClr val="262B33"/>
                </a:solidFill>
                <a:latin typeface="Arial"/>
              </a:rPr>
              <a:t>every screen, zero English fallbacks</a:t>
            </a:r>
          </a:p>
          <a:p>
            <a:pPr algn="l">
              <a:lnSpc>
                <a:spcPct val="100000"/>
              </a:lnSpc>
              <a:spcBef>
                <a:spcPts val="1100"/>
              </a:spcBef>
              <a:spcAft>
                <a:spcPts val="0"/>
              </a:spcAft>
            </a:pPr>
            <a:r>
              <a:rPr sz="1100" b="1">
                <a:solidFill>
                  <a:srgbClr val="0070C0"/>
                </a:solidFill>
                <a:latin typeface="Arial"/>
              </a:rPr>
              <a:t>100 % coverage  </a:t>
            </a:r>
            <a:r>
              <a:rPr sz="1100" b="0">
                <a:solidFill>
                  <a:srgbClr val="262B33"/>
                </a:solidFill>
                <a:latin typeface="Arial"/>
              </a:rPr>
              <a:t>status, live vehicle data and forecast on every road</a:t>
            </a:r>
          </a:p>
        </p:txBody>
      </p:sp>
      <p:sp>
        <p:nvSpPr>
          <p:cNvPr id="17413" name="TextBox 17412"/>
          <p:cNvSpPr txBox="1"/>
          <p:nvPr/>
        </p:nvSpPr>
        <p:spPr>
          <a:xfrm>
            <a:off x="411480" y="4032504"/>
            <a:ext cx="4343400"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VIABLE BECAUSE SCALING COSTS ALMOST NOTHING</a:t>
            </a:r>
          </a:p>
        </p:txBody>
      </p:sp>
      <p:sp>
        <p:nvSpPr>
          <p:cNvPr id="17414" name="TextBox 17413"/>
          <p:cNvSpPr txBox="1"/>
          <p:nvPr/>
        </p:nvSpPr>
        <p:spPr>
          <a:xfrm>
            <a:off x="411480" y="4270248"/>
            <a:ext cx="4343400" cy="146304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4F81BD"/>
                </a:solidFill>
                <a:latin typeface="Arial"/>
              </a:rPr>
              <a:t>•  </a:t>
            </a:r>
            <a:r>
              <a:rPr sz="1100" b="0">
                <a:solidFill>
                  <a:srgbClr val="262B33"/>
                </a:solidFill>
                <a:latin typeface="Arial"/>
              </a:rPr>
              <a:t>No hardware to buy, install, power or maintain.</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A new district needs its road geometry seeded — hours, not procurement.</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Sensing density rises with adoption, at no extra cost per reading.</a:t>
            </a:r>
          </a:p>
          <a:p>
            <a:pPr algn="l">
              <a:lnSpc>
                <a:spcPct val="100000"/>
              </a:lnSpc>
              <a:spcBef>
                <a:spcPts val="900"/>
              </a:spcBef>
              <a:spcAft>
                <a:spcPts val="0"/>
              </a:spcAft>
            </a:pPr>
            <a:r>
              <a:rPr sz="1100" b="1">
                <a:solidFill>
                  <a:srgbClr val="4F81BD"/>
                </a:solidFill>
                <a:latin typeface="Arial"/>
              </a:rPr>
              <a:t>•  </a:t>
            </a:r>
            <a:r>
              <a:rPr sz="1100" b="0">
                <a:solidFill>
                  <a:srgbClr val="262B33"/>
                </a:solidFill>
                <a:latin typeface="Arial"/>
              </a:rPr>
              <a:t>Runs on managed cloud services already in use.</a:t>
            </a:r>
          </a:p>
        </p:txBody>
      </p:sp>
      <p:sp>
        <p:nvSpPr>
          <p:cNvPr id="17415" name="TextBox 17414"/>
          <p:cNvSpPr txBox="1"/>
          <p:nvPr/>
        </p:nvSpPr>
        <p:spPr>
          <a:xfrm>
            <a:off x="5047488" y="1143000"/>
            <a:ext cx="2487168"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CHALLENGES AND RISKS</a:t>
            </a:r>
          </a:p>
        </p:txBody>
      </p:sp>
      <p:sp>
        <p:nvSpPr>
          <p:cNvPr id="17416" name="Rectangle 17415"/>
          <p:cNvSpPr/>
          <p:nvPr/>
        </p:nvSpPr>
        <p:spPr>
          <a:xfrm>
            <a:off x="5047488" y="1330452"/>
            <a:ext cx="2487168"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7662672" y="1143000"/>
            <a:ext cx="4114800"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STRATEGIES FOR OVERCOMING THESE CHALLENGES</a:t>
            </a:r>
          </a:p>
        </p:txBody>
      </p:sp>
      <p:sp>
        <p:nvSpPr>
          <p:cNvPr id="17418" name="Rectangle 17417"/>
          <p:cNvSpPr/>
          <p:nvPr/>
        </p:nvSpPr>
        <p:spPr>
          <a:xfrm>
            <a:off x="7662672" y="1330452"/>
            <a:ext cx="4114800"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ounded Rectangle 17418"/>
          <p:cNvSpPr/>
          <p:nvPr/>
        </p:nvSpPr>
        <p:spPr>
          <a:xfrm>
            <a:off x="5047488" y="143560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No public register of past road closures</a:t>
            </a:r>
          </a:p>
        </p:txBody>
      </p:sp>
      <p:sp>
        <p:nvSpPr>
          <p:cNvPr id="17420" name="Rounded Rectangle 17419"/>
          <p:cNvSpPr/>
          <p:nvPr/>
        </p:nvSpPr>
        <p:spPr>
          <a:xfrm>
            <a:off x="7662672" y="143560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Labels drawn from a rainfall-threshold hazard function; verified field reports override them, and the dashboard states this openly.</a:t>
            </a:r>
          </a:p>
        </p:txBody>
      </p:sp>
      <p:sp>
        <p:nvSpPr>
          <p:cNvPr id="17421" name="Right Arrow 17420"/>
          <p:cNvSpPr/>
          <p:nvPr/>
        </p:nvSpPr>
        <p:spPr>
          <a:xfrm>
            <a:off x="7557516" y="178765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5047488" y="2304288"/>
            <a:ext cx="2487168"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One parked driver could read as a closure</a:t>
            </a:r>
          </a:p>
        </p:txBody>
      </p:sp>
      <p:sp>
        <p:nvSpPr>
          <p:cNvPr id="17423" name="Rounded Rectangle 17422"/>
          <p:cNvSpPr/>
          <p:nvPr/>
        </p:nvSpPr>
        <p:spPr>
          <a:xfrm>
            <a:off x="7662672" y="2304288"/>
            <a:ext cx="4114800"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A status needs ≥ 4 samples from ≥ 2 distinct vehicles, else the reading is discarded and the road keeps its previous status.</a:t>
            </a:r>
          </a:p>
        </p:txBody>
      </p:sp>
      <p:sp>
        <p:nvSpPr>
          <p:cNvPr id="17424" name="Right Arrow 17423"/>
          <p:cNvSpPr/>
          <p:nvPr/>
        </p:nvSpPr>
        <p:spPr>
          <a:xfrm>
            <a:off x="7557516" y="265633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Rounded Rectangle 17424"/>
          <p:cNvSpPr/>
          <p:nvPr/>
        </p:nvSpPr>
        <p:spPr>
          <a:xfrm>
            <a:off x="5047488" y="317296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Hill districts drop off the network</a:t>
            </a:r>
          </a:p>
        </p:txBody>
      </p:sp>
      <p:sp>
        <p:nvSpPr>
          <p:cNvPr id="17426" name="Rounded Rectangle 17425"/>
          <p:cNvSpPr/>
          <p:nvPr/>
        </p:nvSpPr>
        <p:spPr>
          <a:xfrm>
            <a:off x="7662672" y="317296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Reports queue on the phone under a client ID and sync later; the server rejects duplicates, so nothing is filed twice.</a:t>
            </a:r>
          </a:p>
        </p:txBody>
      </p:sp>
      <p:sp>
        <p:nvSpPr>
          <p:cNvPr id="17427" name="Right Arrow 17426"/>
          <p:cNvSpPr/>
          <p:nvPr/>
        </p:nvSpPr>
        <p:spPr>
          <a:xfrm>
            <a:off x="7557516" y="352501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5047488" y="4041648"/>
            <a:ext cx="2487168"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Officers and drivers do not share a language</a:t>
            </a:r>
          </a:p>
        </p:txBody>
      </p:sp>
      <p:sp>
        <p:nvSpPr>
          <p:cNvPr id="17429" name="Rounded Rectangle 17428"/>
          <p:cNvSpPr/>
          <p:nvPr/>
        </p:nvSpPr>
        <p:spPr>
          <a:xfrm>
            <a:off x="7662672" y="4041648"/>
            <a:ext cx="4114800" cy="786384"/>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Ten languages including Khasi, Mizo, Nagamese and Kokborok — spoken aloud as well as written, so literacy is not a barrier.</a:t>
            </a:r>
          </a:p>
        </p:txBody>
      </p:sp>
      <p:sp>
        <p:nvSpPr>
          <p:cNvPr id="17430" name="Right Arrow 17429"/>
          <p:cNvSpPr/>
          <p:nvPr/>
        </p:nvSpPr>
        <p:spPr>
          <a:xfrm>
            <a:off x="7557516" y="439369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5047488" y="4910328"/>
            <a:ext cx="2487168"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98000"/>
              </a:lnSpc>
              <a:spcBef>
                <a:spcPts val="0"/>
              </a:spcBef>
              <a:spcAft>
                <a:spcPts val="0"/>
              </a:spcAft>
            </a:pPr>
            <a:r>
              <a:rPr sz="1050" b="1" i="0">
                <a:solidFill>
                  <a:srgbClr val="C25E1E"/>
                </a:solidFill>
                <a:latin typeface="Arial"/>
              </a:rPr>
              <a:t>A quiet road has no vehicles to sense it</a:t>
            </a:r>
          </a:p>
        </p:txBody>
      </p:sp>
      <p:sp>
        <p:nvSpPr>
          <p:cNvPr id="17432" name="Rounded Rectangle 17431"/>
          <p:cNvSpPr/>
          <p:nvPr/>
        </p:nvSpPr>
        <p:spPr>
          <a:xfrm>
            <a:off x="7662672" y="4910328"/>
            <a:ext cx="4114800" cy="786384"/>
          </a:xfrm>
          <a:prstGeom prst="roundRect">
            <a:avLst>
              <a:gd name="adj" fmla="val 8000"/>
            </a:avLst>
          </a:prstGeom>
          <a:solidFill>
            <a:srgbClr val="FFFFFF"/>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000" b="0" i="0">
                <a:solidFill>
                  <a:srgbClr val="262B33"/>
                </a:solidFill>
                <a:latin typeface="Arial"/>
              </a:rPr>
              <a:t>The weather model forecasts every road regardless of traffic, and the dashboard shows honestly what is sensed and what is not.</a:t>
            </a:r>
          </a:p>
        </p:txBody>
      </p:sp>
      <p:sp>
        <p:nvSpPr>
          <p:cNvPr id="17433" name="Right Arrow 17432"/>
          <p:cNvSpPr/>
          <p:nvPr/>
        </p:nvSpPr>
        <p:spPr>
          <a:xfrm>
            <a:off x="7557516" y="5262372"/>
            <a:ext cx="82296" cy="82296"/>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POTENTIAL IMPACT ON THE TARGET AUDIENCE</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District administration</a:t>
            </a:r>
          </a:p>
          <a:p>
            <a:pPr algn="l">
              <a:lnSpc>
                <a:spcPct val="98000"/>
              </a:lnSpc>
              <a:spcBef>
                <a:spcPts val="400"/>
              </a:spcBef>
              <a:spcAft>
                <a:spcPts val="0"/>
              </a:spcAft>
            </a:pPr>
            <a:r>
              <a:rPr sz="1050" b="0" i="0">
                <a:solidFill>
                  <a:srgbClr val="262B33"/>
                </a:solidFill>
                <a:latin typeface="Arial"/>
              </a:rPr>
              <a:t>A lifeline corridor's closure risk 72 hours out, ranked by how many people lose their only road.</a:t>
            </a:r>
          </a:p>
        </p:txBody>
      </p:sp>
      <p:sp>
        <p:nvSpPr>
          <p:cNvPr id="17413" name="Rounded Rectangle 17412"/>
          <p:cNvSpPr/>
          <p:nvPr/>
        </p:nvSpPr>
        <p:spPr>
          <a:xfrm>
            <a:off x="3294126"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Field officers</a:t>
            </a:r>
          </a:p>
          <a:p>
            <a:pPr algn="l">
              <a:lnSpc>
                <a:spcPct val="98000"/>
              </a:lnSpc>
              <a:spcBef>
                <a:spcPts val="400"/>
              </a:spcBef>
              <a:spcAft>
                <a:spcPts val="0"/>
              </a:spcAft>
            </a:pPr>
            <a:r>
              <a:rPr sz="1050" b="0" i="0">
                <a:solidFill>
                  <a:srgbClr val="262B33"/>
                </a:solidFill>
                <a:latin typeface="Arial"/>
              </a:rPr>
              <a:t>One screen: weak points ranked with the reason each scored, and a queue of reports to confirm.</a:t>
            </a:r>
          </a:p>
        </p:txBody>
      </p:sp>
      <p:sp>
        <p:nvSpPr>
          <p:cNvPr id="17414" name="Rounded Rectangle 17413"/>
          <p:cNvSpPr/>
          <p:nvPr/>
        </p:nvSpPr>
        <p:spPr>
          <a:xfrm>
            <a:off x="6176772"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Drivers and small operators</a:t>
            </a:r>
          </a:p>
          <a:p>
            <a:pPr algn="l">
              <a:lnSpc>
                <a:spcPct val="98000"/>
              </a:lnSpc>
              <a:spcBef>
                <a:spcPts val="400"/>
              </a:spcBef>
              <a:spcAft>
                <a:spcPts val="0"/>
              </a:spcAft>
            </a:pPr>
            <a:r>
              <a:rPr sz="1050" b="0" i="0">
                <a:solidFill>
                  <a:srgbClr val="262B33"/>
                </a:solidFill>
                <a:latin typeface="Arial"/>
              </a:rPr>
              <a:t>Income from a journey already being made — no fleet, no contract, no empty return leg.</a:t>
            </a:r>
          </a:p>
        </p:txBody>
      </p:sp>
      <p:sp>
        <p:nvSpPr>
          <p:cNvPr id="17415" name="Rounded Rectangle 17414"/>
          <p:cNvSpPr/>
          <p:nvPr/>
        </p:nvSpPr>
        <p:spPr>
          <a:xfrm>
            <a:off x="9059418" y="1435608"/>
            <a:ext cx="2718054" cy="1298448"/>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50" b="1" i="0">
                <a:solidFill>
                  <a:srgbClr val="1F497D"/>
                </a:solidFill>
                <a:latin typeface="Arial"/>
              </a:rPr>
              <a:t>People in remote blocks</a:t>
            </a:r>
          </a:p>
          <a:p>
            <a:pPr algn="l">
              <a:lnSpc>
                <a:spcPct val="98000"/>
              </a:lnSpc>
              <a:spcBef>
                <a:spcPts val="400"/>
              </a:spcBef>
              <a:spcAft>
                <a:spcPts val="0"/>
              </a:spcAft>
            </a:pPr>
            <a:r>
              <a:rPr sz="1050" b="0" i="0">
                <a:solidFill>
                  <a:srgbClr val="262B33"/>
                </a:solidFill>
                <a:latin typeface="Arial"/>
              </a:rPr>
              <a:t>Medicines, food, produce and construction material arrive — and an alert in the language spoken at home when they will not.</a:t>
            </a:r>
          </a:p>
        </p:txBody>
      </p:sp>
      <p:sp>
        <p:nvSpPr>
          <p:cNvPr id="17416" name="TextBox 17415"/>
          <p:cNvSpPr txBox="1"/>
          <p:nvPr/>
        </p:nvSpPr>
        <p:spPr>
          <a:xfrm>
            <a:off x="411480" y="288036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BENEFITS OF THE SOLUTION (SOCIAL, ECONOMIC, ENVIRONMENTAL, ETC.)</a:t>
            </a:r>
          </a:p>
        </p:txBody>
      </p:sp>
      <p:sp>
        <p:nvSpPr>
          <p:cNvPr id="17417" name="Rectangle 17416"/>
          <p:cNvSpPr/>
          <p:nvPr/>
        </p:nvSpPr>
        <p:spPr>
          <a:xfrm>
            <a:off x="411480" y="306781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11480" y="3172968"/>
            <a:ext cx="1444752" cy="585216"/>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Social</a:t>
            </a:r>
          </a:p>
        </p:txBody>
      </p:sp>
      <p:sp>
        <p:nvSpPr>
          <p:cNvPr id="17419" name="Rounded Rectangle 17418"/>
          <p:cNvSpPr/>
          <p:nvPr/>
        </p:nvSpPr>
        <p:spPr>
          <a:xfrm>
            <a:off x="1965960" y="3172968"/>
            <a:ext cx="9811512" cy="58521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8 states · 82 districts. Alerts and voice reporting in 10 languages, four of which have almost no other software support.</a:t>
            </a:r>
          </a:p>
        </p:txBody>
      </p:sp>
      <p:sp>
        <p:nvSpPr>
          <p:cNvPr id="17420" name="Rounded Rectangle 17419"/>
          <p:cNvSpPr/>
          <p:nvPr/>
        </p:nvSpPr>
        <p:spPr>
          <a:xfrm>
            <a:off x="411480" y="3840480"/>
            <a:ext cx="1444752" cy="585216"/>
          </a:xfrm>
          <a:prstGeom prst="roundRect">
            <a:avLst>
              <a:gd name="adj" fmla="val 8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Economic</a:t>
            </a:r>
          </a:p>
        </p:txBody>
      </p:sp>
      <p:sp>
        <p:nvSpPr>
          <p:cNvPr id="17421" name="Rounded Rectangle 17420"/>
          <p:cNvSpPr/>
          <p:nvPr/>
        </p:nvSpPr>
        <p:spPr>
          <a:xfrm>
            <a:off x="1965960" y="3840480"/>
            <a:ext cx="9811512" cy="58521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No dedicated fleet, so moving one more parcel costs close to nothing. Spare capacity in vehicles already on the road becomes income.</a:t>
            </a:r>
          </a:p>
        </p:txBody>
      </p:sp>
      <p:sp>
        <p:nvSpPr>
          <p:cNvPr id="17422" name="Rounded Rectangle 17421"/>
          <p:cNvSpPr/>
          <p:nvPr/>
        </p:nvSpPr>
        <p:spPr>
          <a:xfrm>
            <a:off x="411480" y="4507992"/>
            <a:ext cx="1444752" cy="585216"/>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Environmental</a:t>
            </a:r>
          </a:p>
        </p:txBody>
      </p:sp>
      <p:sp>
        <p:nvSpPr>
          <p:cNvPr id="17423" name="Rounded Rectangle 17422"/>
          <p:cNvSpPr/>
          <p:nvPr/>
        </p:nvSpPr>
        <p:spPr>
          <a:xfrm>
            <a:off x="1965960" y="4507992"/>
            <a:ext cx="9811512" cy="58521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Fewer dedicated trips — a parcel rides in a vehicle that was making the journey anyway, instead of a second one setting out.</a:t>
            </a:r>
          </a:p>
        </p:txBody>
      </p:sp>
      <p:sp>
        <p:nvSpPr>
          <p:cNvPr id="17424" name="Rounded Rectangle 17423"/>
          <p:cNvSpPr/>
          <p:nvPr/>
        </p:nvSpPr>
        <p:spPr>
          <a:xfrm>
            <a:off x="411480" y="5175504"/>
            <a:ext cx="1444752" cy="585216"/>
          </a:xfrm>
          <a:prstGeom prst="roundRect">
            <a:avLst>
              <a:gd name="adj" fmla="val 8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95000"/>
              </a:lnSpc>
              <a:spcBef>
                <a:spcPts val="0"/>
              </a:spcBef>
              <a:spcAft>
                <a:spcPts val="0"/>
              </a:spcAft>
            </a:pPr>
            <a:r>
              <a:rPr sz="1200" b="1" i="0">
                <a:solidFill>
                  <a:srgbClr val="FFFFFF"/>
                </a:solidFill>
                <a:latin typeface="Arial"/>
              </a:rPr>
              <a:t>Governance</a:t>
            </a:r>
          </a:p>
        </p:txBody>
      </p:sp>
      <p:sp>
        <p:nvSpPr>
          <p:cNvPr id="17425" name="Rounded Rectangle 17424"/>
          <p:cNvSpPr/>
          <p:nvPr/>
        </p:nvSpPr>
        <p:spPr>
          <a:xfrm>
            <a:off x="1965960" y="5175504"/>
            <a:ext cx="9811512" cy="585216"/>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0000"/>
              </a:lnSpc>
              <a:spcBef>
                <a:spcPts val="0"/>
              </a:spcBef>
              <a:spcAft>
                <a:spcPts val="0"/>
              </a:spcAft>
            </a:pPr>
            <a:r>
              <a:rPr sz="1100" b="0" i="0">
                <a:solidFill>
                  <a:srgbClr val="262B33"/>
                </a:solidFill>
                <a:latin typeface="Arial"/>
              </a:rPr>
              <a:t>Every incident carries a photo, a GPS fix, a timestamp and the officer who confirmed it — an evidence trail, not a phone call.</a:t>
            </a:r>
          </a:p>
        </p:txBody>
      </p:sp>
      <p:sp>
        <p:nvSpPr>
          <p:cNvPr id="17426" name="Rounded Rectangle 17425"/>
          <p:cNvSpPr/>
          <p:nvPr/>
        </p:nvSpPr>
        <p:spPr>
          <a:xfrm>
            <a:off x="411480" y="5879592"/>
            <a:ext cx="11365992" cy="402336"/>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lnSpc>
                <a:spcPct val="100000"/>
              </a:lnSpc>
              <a:spcBef>
                <a:spcPts val="0"/>
              </a:spcBef>
              <a:spcAft>
                <a:spcPts val="0"/>
              </a:spcAft>
            </a:pPr>
            <a:r>
              <a:rPr sz="1050" b="1" i="0">
                <a:solidFill>
                  <a:srgbClr val="1F497D"/>
                </a:solidFill>
                <a:latin typeface="Arial"/>
              </a:rPr>
              <a:t>Improved regional connectivity  ·  stronger emergency response  ·  fewer supply-chain disruptions  ·  planning and monitoring on evidence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783080" y="-18288"/>
            <a:ext cx="7818120" cy="1051560"/>
          </a:xfrm>
        </p:spPr>
        <p:txBody>
          <a:bodyPr wrap="square" anchor="ctr"/>
          <a:lstStyle/>
          <a:p>
            <a:pPr eaLnBrk="1" hangingPunct="1"/>
            <a:r>
              <a:rPr lang="en-US" sz="3200" b="1" dirty="0">
                <a:solidFill>
                  <a:srgbClr val="1F497D"/>
                </a:solidFill>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100" b="1">
                <a:latin typeface="Arial"/>
              </a:rPr>
              <a:t>Sukobin</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143000"/>
            <a:ext cx="11365992" cy="23774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0070C0"/>
                </a:solidFill>
                <a:latin typeface="Arial"/>
              </a:rPr>
              <a:t>DETAILS / LINKS OF THE REFERENCE AND RESEARCH WORK</a:t>
            </a:r>
          </a:p>
        </p:txBody>
      </p:sp>
      <p:sp>
        <p:nvSpPr>
          <p:cNvPr id="17411" name="Rectangle 17410"/>
          <p:cNvSpPr/>
          <p:nvPr/>
        </p:nvSpPr>
        <p:spPr>
          <a:xfrm>
            <a:off x="411480" y="1330452"/>
            <a:ext cx="11365992" cy="12801"/>
          </a:xfrm>
          <a:prstGeom prst="rect">
            <a:avLst/>
          </a:prstGeom>
          <a:solidFill>
            <a:srgbClr val="C9D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411480"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DATA SOURCES THE PLATFORM RUNS ON</a:t>
            </a:r>
          </a:p>
        </p:txBody>
      </p:sp>
      <p:sp>
        <p:nvSpPr>
          <p:cNvPr id="17413" name="Rounded Rectangle 17412"/>
          <p:cNvSpPr/>
          <p:nvPr/>
        </p:nvSpPr>
        <p:spPr>
          <a:xfrm>
            <a:off x="411480" y="1673352"/>
            <a:ext cx="5573268" cy="30175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00" b="1" i="0">
                <a:solidFill>
                  <a:srgbClr val="1F497D"/>
                </a:solidFill>
                <a:latin typeface="Arial"/>
              </a:rPr>
              <a:t>Open-Meteo Historical Weather API</a:t>
            </a:r>
          </a:p>
          <a:p>
            <a:pPr algn="l">
              <a:lnSpc>
                <a:spcPct val="95000"/>
              </a:lnSpc>
              <a:spcBef>
                <a:spcPts val="200"/>
              </a:spcBef>
              <a:spcAft>
                <a:spcPts val="0"/>
              </a:spcAft>
            </a:pPr>
            <a:r>
              <a:rPr sz="950" b="0" i="0">
                <a:solidFill>
                  <a:srgbClr val="5A636E"/>
                </a:solidFill>
                <a:latin typeface="Arial"/>
              </a:rPr>
              <a:t>open-meteo.com/en/docs/historical-weather-api — observed hourly rainfall, snowfall and temperature; the model's training set</a:t>
            </a:r>
          </a:p>
          <a:p>
            <a:pPr algn="l">
              <a:lnSpc>
                <a:spcPct val="95000"/>
              </a:lnSpc>
              <a:spcBef>
                <a:spcPts val="2200"/>
              </a:spcBef>
              <a:spcAft>
                <a:spcPts val="0"/>
              </a:spcAft>
            </a:pPr>
            <a:r>
              <a:rPr sz="1100" b="1" i="0">
                <a:solidFill>
                  <a:srgbClr val="1F497D"/>
                </a:solidFill>
                <a:latin typeface="Arial"/>
              </a:rPr>
              <a:t>OSRM — Open Source Routing Machine</a:t>
            </a:r>
          </a:p>
          <a:p>
            <a:pPr algn="l">
              <a:lnSpc>
                <a:spcPct val="95000"/>
              </a:lnSpc>
              <a:spcBef>
                <a:spcPts val="200"/>
              </a:spcBef>
              <a:spcAft>
                <a:spcPts val="0"/>
              </a:spcAft>
            </a:pPr>
            <a:r>
              <a:rPr sz="950" b="0" i="0">
                <a:solidFill>
                  <a:srgbClr val="5A636E"/>
                </a:solidFill>
                <a:latin typeface="Arial"/>
              </a:rPr>
              <a:t>project-osrm.org — road geometry and route alternates, 42 stretches</a:t>
            </a:r>
          </a:p>
          <a:p>
            <a:pPr algn="l">
              <a:lnSpc>
                <a:spcPct val="95000"/>
              </a:lnSpc>
              <a:spcBef>
                <a:spcPts val="2200"/>
              </a:spcBef>
              <a:spcAft>
                <a:spcPts val="0"/>
              </a:spcAft>
            </a:pPr>
            <a:r>
              <a:rPr sz="1100" b="1" i="0">
                <a:solidFill>
                  <a:srgbClr val="1F497D"/>
                </a:solidFill>
                <a:latin typeface="Arial"/>
              </a:rPr>
              <a:t>VAHAN / Parivahan registration lookup</a:t>
            </a:r>
          </a:p>
          <a:p>
            <a:pPr algn="l">
              <a:lnSpc>
                <a:spcPct val="95000"/>
              </a:lnSpc>
              <a:spcBef>
                <a:spcPts val="200"/>
              </a:spcBef>
              <a:spcAft>
                <a:spcPts val="0"/>
              </a:spcAft>
            </a:pPr>
            <a:r>
              <a:rPr sz="950" b="0" i="0">
                <a:solidFill>
                  <a:srgbClr val="5A636E"/>
                </a:solidFill>
                <a:latin typeface="Arial"/>
              </a:rPr>
              <a:t>parivahan.gov.in — vehicle class and capacity at driver sign-up</a:t>
            </a:r>
          </a:p>
          <a:p>
            <a:pPr algn="l">
              <a:lnSpc>
                <a:spcPct val="95000"/>
              </a:lnSpc>
              <a:spcBef>
                <a:spcPts val="2200"/>
              </a:spcBef>
              <a:spcAft>
                <a:spcPts val="0"/>
              </a:spcAft>
            </a:pPr>
            <a:r>
              <a:rPr sz="1100" b="1" i="0">
                <a:solidFill>
                  <a:srgbClr val="1F497D"/>
                </a:solidFill>
                <a:latin typeface="Arial"/>
              </a:rPr>
              <a:t>MapLibre GL JS + Esri Dark Gray Canvas</a:t>
            </a:r>
          </a:p>
          <a:p>
            <a:pPr algn="l">
              <a:lnSpc>
                <a:spcPct val="95000"/>
              </a:lnSpc>
              <a:spcBef>
                <a:spcPts val="200"/>
              </a:spcBef>
              <a:spcAft>
                <a:spcPts val="0"/>
              </a:spcAft>
            </a:pPr>
            <a:r>
              <a:rPr sz="950" b="0" i="0">
                <a:solidFill>
                  <a:srgbClr val="5A636E"/>
                </a:solidFill>
                <a:latin typeface="Arial"/>
              </a:rPr>
              <a:t>maplibre.org — the GIS layer of the control dashboard</a:t>
            </a:r>
          </a:p>
        </p:txBody>
      </p:sp>
      <p:sp>
        <p:nvSpPr>
          <p:cNvPr id="17414" name="TextBox 17413"/>
          <p:cNvSpPr txBox="1"/>
          <p:nvPr/>
        </p:nvSpPr>
        <p:spPr>
          <a:xfrm>
            <a:off x="6204204" y="1435608"/>
            <a:ext cx="5573268" cy="219456"/>
          </a:xfrm>
          <a:prstGeom prst="rect">
            <a:avLst/>
          </a:prstGeom>
          <a:noFill/>
        </p:spPr>
        <p:txBody>
          <a:bodyPr wrap="square" lIns="0" rIns="0" tIns="0" bIns="0">
            <a:spAutoFit/>
          </a:bodyPr>
          <a:lstStyle/>
          <a:p>
            <a:pPr algn="l">
              <a:lnSpc>
                <a:spcPct val="100000"/>
              </a:lnSpc>
              <a:spcBef>
                <a:spcPts val="0"/>
              </a:spcBef>
              <a:spcAft>
                <a:spcPts val="0"/>
              </a:spcAft>
            </a:pPr>
            <a:r>
              <a:rPr sz="900" b="1" i="0">
                <a:solidFill>
                  <a:srgbClr val="1F497D"/>
                </a:solidFill>
                <a:latin typeface="Arial"/>
              </a:rPr>
              <a:t>PROBLEM AND DOMAIN RESEARCH</a:t>
            </a:r>
          </a:p>
        </p:txBody>
      </p:sp>
      <p:sp>
        <p:nvSpPr>
          <p:cNvPr id="17415" name="Rounded Rectangle 17414"/>
          <p:cNvSpPr/>
          <p:nvPr/>
        </p:nvSpPr>
        <p:spPr>
          <a:xfrm>
            <a:off x="6204204" y="1673352"/>
            <a:ext cx="5573268" cy="3017520"/>
          </a:xfrm>
          <a:prstGeom prst="roundRect">
            <a:avLst>
              <a:gd name="adj" fmla="val 8000"/>
            </a:avLst>
          </a:prstGeom>
          <a:solidFill>
            <a:srgbClr val="F2F5F9"/>
          </a:solidFill>
          <a:ln w="9525">
            <a:solidFill>
              <a:srgbClr val="C9D6E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lnSpc>
                <a:spcPct val="95000"/>
              </a:lnSpc>
              <a:spcBef>
                <a:spcPts val="0"/>
              </a:spcBef>
              <a:spcAft>
                <a:spcPts val="0"/>
              </a:spcAft>
            </a:pPr>
            <a:r>
              <a:rPr sz="1100" b="1" i="0">
                <a:solidFill>
                  <a:srgbClr val="1F497D"/>
                </a:solidFill>
                <a:latin typeface="Arial"/>
              </a:rPr>
              <a:t>MDoNER — problem statement and regional context</a:t>
            </a:r>
          </a:p>
          <a:p>
            <a:pPr algn="l">
              <a:lnSpc>
                <a:spcPct val="95000"/>
              </a:lnSpc>
              <a:spcBef>
                <a:spcPts val="200"/>
              </a:spcBef>
              <a:spcAft>
                <a:spcPts val="0"/>
              </a:spcAft>
            </a:pPr>
            <a:r>
              <a:rPr sz="950" b="0" i="0">
                <a:solidFill>
                  <a:srgbClr val="5A636E"/>
                </a:solidFill>
                <a:latin typeface="Arial"/>
              </a:rPr>
              <a:t>mdoner.gov.in — NER connectivity gaps and infrastructure priorities</a:t>
            </a:r>
          </a:p>
          <a:p>
            <a:pPr algn="l">
              <a:lnSpc>
                <a:spcPct val="95000"/>
              </a:lnSpc>
              <a:spcBef>
                <a:spcPts val="2200"/>
              </a:spcBef>
              <a:spcAft>
                <a:spcPts val="0"/>
              </a:spcAft>
            </a:pPr>
            <a:r>
              <a:rPr sz="1100" b="1" i="0">
                <a:solidFill>
                  <a:srgbClr val="1F497D"/>
                </a:solidFill>
                <a:latin typeface="Arial"/>
              </a:rPr>
              <a:t>NHIDCL / MoRTH national highway network</a:t>
            </a:r>
          </a:p>
          <a:p>
            <a:pPr algn="l">
              <a:lnSpc>
                <a:spcPct val="95000"/>
              </a:lnSpc>
              <a:spcBef>
                <a:spcPts val="200"/>
              </a:spcBef>
              <a:spcAft>
                <a:spcPts val="0"/>
              </a:spcAft>
            </a:pPr>
            <a:r>
              <a:rPr sz="950" b="0" i="0">
                <a:solidFill>
                  <a:srgbClr val="5A636E"/>
                </a:solidFill>
                <a:latin typeface="Arial"/>
              </a:rPr>
              <a:t>nhidcl.com · morth.nic.in — corridor alignments and NH numbering used to seed the road network</a:t>
            </a:r>
          </a:p>
          <a:p>
            <a:pPr algn="l">
              <a:lnSpc>
                <a:spcPct val="95000"/>
              </a:lnSpc>
              <a:spcBef>
                <a:spcPts val="2200"/>
              </a:spcBef>
              <a:spcAft>
                <a:spcPts val="0"/>
              </a:spcAft>
            </a:pPr>
            <a:r>
              <a:rPr sz="1100" b="1" i="0">
                <a:solidFill>
                  <a:srgbClr val="1F497D"/>
                </a:solidFill>
                <a:latin typeface="Arial"/>
              </a:rPr>
              <a:t>IMD rainfall climatology for the North East</a:t>
            </a:r>
          </a:p>
          <a:p>
            <a:pPr algn="l">
              <a:lnSpc>
                <a:spcPct val="95000"/>
              </a:lnSpc>
              <a:spcBef>
                <a:spcPts val="200"/>
              </a:spcBef>
              <a:spcAft>
                <a:spcPts val="0"/>
              </a:spcAft>
            </a:pPr>
            <a:r>
              <a:rPr sz="950" b="0" i="0">
                <a:solidFill>
                  <a:srgbClr val="5A636E"/>
                </a:solidFill>
                <a:latin typeface="Arial"/>
              </a:rPr>
              <a:t>mausam.imd.gov.in — monsoon windows and the rain thresholds behind the hazard function</a:t>
            </a:r>
          </a:p>
          <a:p>
            <a:pPr algn="l">
              <a:lnSpc>
                <a:spcPct val="95000"/>
              </a:lnSpc>
              <a:spcBef>
                <a:spcPts val="2200"/>
              </a:spcBef>
              <a:spcAft>
                <a:spcPts val="0"/>
              </a:spcAft>
            </a:pPr>
            <a:r>
              <a:rPr sz="1100" b="1" i="0">
                <a:solidFill>
                  <a:srgbClr val="1F497D"/>
                </a:solidFill>
                <a:latin typeface="Arial"/>
              </a:rPr>
              <a:t>GSI landslide susceptibility mapping</a:t>
            </a:r>
          </a:p>
          <a:p>
            <a:pPr algn="l">
              <a:lnSpc>
                <a:spcPct val="95000"/>
              </a:lnSpc>
              <a:spcBef>
                <a:spcPts val="200"/>
              </a:spcBef>
              <a:spcAft>
                <a:spcPts val="0"/>
              </a:spcAft>
            </a:pPr>
            <a:r>
              <a:rPr sz="950" b="0" i="0">
                <a:solidFill>
                  <a:srgbClr val="5A636E"/>
                </a:solidFill>
                <a:latin typeface="Arial"/>
              </a:rPr>
              <a:t>gsi.gov.in — which stretches are treated as landslide-prone</a:t>
            </a:r>
          </a:p>
        </p:txBody>
      </p:sp>
      <p:sp>
        <p:nvSpPr>
          <p:cNvPr id="17416" name="Rounded Rectangle 17415"/>
          <p:cNvSpPr/>
          <p:nvPr/>
        </p:nvSpPr>
        <p:spPr>
          <a:xfrm>
            <a:off x="411480" y="4818888"/>
            <a:ext cx="11365992" cy="841248"/>
          </a:xfrm>
          <a:prstGeom prst="roundRect">
            <a:avLst>
              <a:gd name="adj" fmla="val 8000"/>
            </a:avLst>
          </a:prstGeom>
          <a:solidFill>
            <a:srgbClr val="FFFFFF"/>
          </a:solidFill>
          <a:ln w="15875">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lnSpc>
                <a:spcPct val="102000"/>
              </a:lnSpc>
              <a:spcBef>
                <a:spcPts val="0"/>
              </a:spcBef>
              <a:spcAft>
                <a:spcPts val="0"/>
              </a:spcAft>
            </a:pPr>
            <a:r>
              <a:rPr sz="1050" b="1">
                <a:solidFill>
                  <a:srgbClr val="1F497D"/>
                </a:solidFill>
                <a:latin typeface="Arial"/>
              </a:rPr>
              <a:t>Honest note on the model  </a:t>
            </a:r>
            <a:r>
              <a:rPr sz="1050" b="0">
                <a:solidFill>
                  <a:srgbClr val="262B33"/>
                </a:solidFill>
                <a:latin typeface="Arial"/>
              </a:rPr>
              <a:t>— no public register of past NER road closures exists, so historical labels are drawn from a rainfall-threshold hazard function calibrated on IMD and GSI data. Verified field reports override every drawn label, and the dashboard says so on screen.</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