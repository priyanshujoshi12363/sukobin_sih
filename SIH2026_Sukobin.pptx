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1005840"/>
            <a:ext cx="8534400" cy="1188720"/>
          </a:xfrm>
        </p:spPr>
        <p:txBody>
          <a:bodyPr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F497D"/>
                </a:solidFill>
                <a:latin typeface="Times New Roman"/>
              </a:rPr>
              <a:t>SUKOBIN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500" b="0" i="0">
                <a:solidFill>
                  <a:srgbClr val="5A636E"/>
                </a:solidFill>
                <a:latin typeface="Arial"/>
              </a:rPr>
              <a:t>Carriers as the sensor network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Problem Statement ID – </a:t>
            </a:r>
            <a:r>
              <a:rPr sz="1250" b="0">
                <a:solidFill>
                  <a:srgbClr val="262B33"/>
                </a:solidFill>
                <a:latin typeface="Arial"/>
              </a:rPr>
              <a:t>26002</a:t>
            </a:r>
            <a:endParaRPr lang="en-US" dirty="0"/>
          </a:p>
          <a:p>
            <a:pPr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Problem Statement Title – </a:t>
            </a:r>
            <a:r>
              <a:rPr sz="1150" b="0">
                <a:solidFill>
                  <a:srgbClr val="262B33"/>
                </a:solidFill>
                <a:latin typeface="Arial"/>
              </a:rPr>
              <a:t>AI-Enabled Logistics Accessibility Intelligence Platform for the North Eastern Region</a:t>
            </a:r>
          </a:p>
          <a:p>
            <a:pPr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Organization – </a:t>
            </a:r>
            <a:r>
              <a:rPr sz="1250" b="0">
                <a:solidFill>
                  <a:srgbClr val="262B33"/>
                </a:solidFill>
                <a:latin typeface="Arial"/>
              </a:rPr>
              <a:t>Ministry of Development of North Eastern Region (MDoNER)</a:t>
            </a:r>
          </a:p>
          <a:p>
            <a:pPr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Theme – </a:t>
            </a:r>
            <a:r>
              <a:rPr sz="1250" b="0">
                <a:solidFill>
                  <a:srgbClr val="262B33"/>
                </a:solidFill>
                <a:latin typeface="Arial"/>
              </a:rPr>
              <a:t>Transportation &amp; Logistics</a:t>
            </a:r>
          </a:p>
          <a:p>
            <a:pPr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PS Category – </a:t>
            </a:r>
            <a:r>
              <a:rPr sz="1250" b="0">
                <a:solidFill>
                  <a:srgbClr val="262B33"/>
                </a:solidFill>
                <a:latin typeface="Arial"/>
              </a:rPr>
              <a:t>Software</a:t>
            </a:r>
          </a:p>
          <a:p>
            <a:pPr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Team ID – </a:t>
            </a:r>
            <a:r>
              <a:rPr sz="1250" b="0">
                <a:solidFill>
                  <a:srgbClr val="262B33"/>
                </a:solidFill>
                <a:latin typeface="Arial"/>
              </a:rPr>
              <a:t>&lt;team id&gt;</a:t>
            </a:r>
          </a:p>
          <a:p>
            <a:pPr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Team Name – </a:t>
            </a:r>
            <a:r>
              <a:rPr sz="1250" b="0">
                <a:solidFill>
                  <a:srgbClr val="262B33"/>
                </a:solidFill>
                <a:latin typeface="Arial"/>
              </a:rPr>
              <a:t>Sukobin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83080" y="-18288"/>
            <a:ext cx="7818120" cy="1051560"/>
          </a:xfrm>
        </p:spPr>
        <p:txBody>
          <a:bodyPr wrap="square" anchor="ctr"/>
          <a:lstStyle/>
          <a:p>
            <a:pPr eaLnBrk="1" hangingPunct="1"/>
            <a:r>
              <a:rPr lang="en-US" sz="2500" b="1" dirty="0">
                <a:solidFill>
                  <a:srgbClr val="1F497D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EVERY VEHICLE ON THE ROAD IS A SENSOR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100" b="1">
                <a:latin typeface="Arial"/>
              </a:rPr>
              <a:t>Sukobin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143000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0C0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15363" name="Rectangle 15362"/>
          <p:cNvSpPr/>
          <p:nvPr/>
        </p:nvSpPr>
        <p:spPr>
          <a:xfrm>
            <a:off x="411480" y="1330452"/>
            <a:ext cx="6400800" cy="12801"/>
          </a:xfrm>
          <a:prstGeom prst="rect">
            <a:avLst/>
          </a:prstGeom>
          <a:solidFill>
            <a:srgbClr val="C9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TextBox 15363"/>
          <p:cNvSpPr txBox="1"/>
          <p:nvPr/>
        </p:nvSpPr>
        <p:spPr>
          <a:xfrm>
            <a:off x="411480" y="1435608"/>
            <a:ext cx="6400800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497D"/>
                </a:solidFill>
                <a:latin typeface="Arial"/>
              </a:rPr>
              <a:t>Sukobin </a:t>
            </a:r>
            <a:r>
              <a:rPr sz="1100" b="0">
                <a:solidFill>
                  <a:srgbClr val="262B33"/>
                </a:solidFill>
                <a:latin typeface="Arial"/>
              </a:rPr>
              <a:t>combines GPS from registered transporters, field reports, weather and road-network data to understand how accessible a route is. Instead of costly roadside sensors, it turns vehicles already travelling the region into mobile road probes.</a:t>
            </a:r>
          </a:p>
          <a:p>
            <a:pPr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1">
                <a:solidFill>
                  <a:srgbClr val="1F497D"/>
                </a:solidFill>
                <a:latin typeface="Arial"/>
              </a:rPr>
              <a:t>Nobody drives for us. </a:t>
            </a:r>
            <a:r>
              <a:rPr sz="1100" b="0">
                <a:solidFill>
                  <a:srgbClr val="262B33"/>
                </a:solidFill>
                <a:latin typeface="Arial"/>
              </a:rPr>
              <a:t>A driver declares a journey they were making anyway and is offered only the consignments lying along that road, within capacity.</a:t>
            </a:r>
          </a:p>
          <a:p>
            <a:pPr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1">
                <a:solidFill>
                  <a:srgbClr val="1F497D"/>
                </a:solidFill>
                <a:latin typeface="Arial"/>
              </a:rPr>
              <a:t>Their movement is the measurement. </a:t>
            </a:r>
            <a:r>
              <a:rPr sz="1100" b="0">
                <a:solidFill>
                  <a:srgbClr val="262B33"/>
                </a:solidFill>
                <a:latin typeface="Arial"/>
              </a:rPr>
              <a:t>Median speed against each road's baseline gives live accessibility; AI turns it into risk, forecasts and alternate routes.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11480" y="3081528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0C0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366" name="Rectangle 15365"/>
          <p:cNvSpPr/>
          <p:nvPr/>
        </p:nvSpPr>
        <p:spPr>
          <a:xfrm>
            <a:off x="411480" y="3268980"/>
            <a:ext cx="6400800" cy="12801"/>
          </a:xfrm>
          <a:prstGeom prst="rect">
            <a:avLst/>
          </a:prstGeom>
          <a:solidFill>
            <a:srgbClr val="C9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Rounded Rectangle 15366"/>
          <p:cNvSpPr/>
          <p:nvPr/>
        </p:nvSpPr>
        <p:spPr>
          <a:xfrm>
            <a:off x="411480" y="3374136"/>
            <a:ext cx="6400800" cy="107899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•  The carrier network IS the sensing network — </a:t>
            </a:r>
            <a:r>
              <a:rPr sz="1050" b="0">
                <a:solidFill>
                  <a:srgbClr val="262B33"/>
                </a:solidFill>
                <a:latin typeface="Arial"/>
              </a:rPr>
              <a:t>one journey delivers goods and reads the road.</a:t>
            </a:r>
          </a:p>
          <a:p>
            <a:pPr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•  No hardware, no dedicated fleet — </a:t>
            </a:r>
            <a:r>
              <a:rPr sz="1050" b="0">
                <a:solidFill>
                  <a:srgbClr val="262B33"/>
                </a:solidFill>
                <a:latin typeface="Arial"/>
              </a:rPr>
              <a:t>nothing to install, power or maintain anywhere.</a:t>
            </a:r>
          </a:p>
          <a:p>
            <a:pPr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•  Self-improving — </a:t>
            </a:r>
            <a:r>
              <a:rPr sz="1050" b="0">
                <a:solidFill>
                  <a:srgbClr val="262B33"/>
                </a:solidFill>
                <a:latin typeface="Arial"/>
              </a:rPr>
              <a:t>every new carrier adds sensing density at zero marginal cost.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7086600" y="1417320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497D"/>
                </a:solidFill>
                <a:latin typeface="Arial"/>
              </a:rPr>
              <a:t>ONE TRIP, TWO PRODUCTS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7086600" y="1655064"/>
            <a:ext cx="4690872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Driver declares  Dimapur → Imphal</a:t>
            </a:r>
          </a:p>
        </p:txBody>
      </p:sp>
      <p:sp>
        <p:nvSpPr>
          <p:cNvPr id="15370" name="Down Arrow 15369"/>
          <p:cNvSpPr/>
          <p:nvPr/>
        </p:nvSpPr>
        <p:spPr>
          <a:xfrm>
            <a:off x="9381744" y="2112264"/>
            <a:ext cx="100584" cy="100583"/>
          </a:xfrm>
          <a:prstGeom prst="down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Rounded Rectangle 15370"/>
          <p:cNvSpPr/>
          <p:nvPr/>
        </p:nvSpPr>
        <p:spPr>
          <a:xfrm>
            <a:off x="7086600" y="2231136"/>
            <a:ext cx="4690872" cy="43891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Offered only consignments on that road</a:t>
            </a:r>
          </a:p>
        </p:txBody>
      </p:sp>
      <p:sp>
        <p:nvSpPr>
          <p:cNvPr id="15372" name="Down Arrow 15371"/>
          <p:cNvSpPr/>
          <p:nvPr/>
        </p:nvSpPr>
        <p:spPr>
          <a:xfrm>
            <a:off x="9381744" y="2688336"/>
            <a:ext cx="100584" cy="100583"/>
          </a:xfrm>
          <a:prstGeom prst="down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Rounded Rectangle 15372"/>
          <p:cNvSpPr/>
          <p:nvPr/>
        </p:nvSpPr>
        <p:spPr>
          <a:xfrm>
            <a:off x="7086600" y="2807208"/>
            <a:ext cx="4690872" cy="43891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Drives — GPS every 20 s / 40 m</a:t>
            </a:r>
          </a:p>
        </p:txBody>
      </p:sp>
      <p:sp>
        <p:nvSpPr>
          <p:cNvPr id="15374" name="Down Arrow 15373"/>
          <p:cNvSpPr/>
          <p:nvPr/>
        </p:nvSpPr>
        <p:spPr>
          <a:xfrm>
            <a:off x="9381744" y="3264408"/>
            <a:ext cx="100584" cy="100583"/>
          </a:xfrm>
          <a:prstGeom prst="down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5" name="Rounded Rectangle 15374"/>
          <p:cNvSpPr/>
          <p:nvPr/>
        </p:nvSpPr>
        <p:spPr>
          <a:xfrm>
            <a:off x="7086600" y="3383279"/>
            <a:ext cx="4690872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Median speed vs baseline → road status</a:t>
            </a:r>
          </a:p>
        </p:txBody>
      </p:sp>
      <p:sp>
        <p:nvSpPr>
          <p:cNvPr id="15376" name="Down Arrow 15375"/>
          <p:cNvSpPr/>
          <p:nvPr/>
        </p:nvSpPr>
        <p:spPr>
          <a:xfrm>
            <a:off x="9381744" y="3840479"/>
            <a:ext cx="100584" cy="100583"/>
          </a:xfrm>
          <a:prstGeom prst="down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7" name="Rounded Rectangle 15376"/>
          <p:cNvSpPr/>
          <p:nvPr/>
        </p:nvSpPr>
        <p:spPr>
          <a:xfrm>
            <a:off x="7086600" y="3959352"/>
            <a:ext cx="4690872" cy="43891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Alerts · forecast · re-route · dashboard</a:t>
            </a:r>
          </a:p>
        </p:txBody>
      </p:sp>
      <p:sp>
        <p:nvSpPr>
          <p:cNvPr id="15378" name="TextBox 15377"/>
          <p:cNvSpPr txBox="1"/>
          <p:nvPr/>
        </p:nvSpPr>
        <p:spPr>
          <a:xfrm>
            <a:off x="411480" y="4562856"/>
            <a:ext cx="1136599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0C0"/>
                </a:solidFill>
                <a:latin typeface="Arial"/>
              </a:rPr>
              <a:t>HOW IT ADDRESSES THE PROBLEM — EVERY CLAUSE OF THE PROBLEM STATEMENT</a:t>
            </a:r>
          </a:p>
        </p:txBody>
      </p:sp>
      <p:sp>
        <p:nvSpPr>
          <p:cNvPr id="15379" name="Rectangle 15378"/>
          <p:cNvSpPr/>
          <p:nvPr/>
        </p:nvSpPr>
        <p:spPr>
          <a:xfrm>
            <a:off x="411480" y="4750308"/>
            <a:ext cx="11365992" cy="12801"/>
          </a:xfrm>
          <a:prstGeom prst="rect">
            <a:avLst/>
          </a:prstGeom>
          <a:solidFill>
            <a:srgbClr val="C9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0" name="Rounded Rectangle 15379"/>
          <p:cNvSpPr/>
          <p:nvPr/>
        </p:nvSpPr>
        <p:spPr>
          <a:xfrm>
            <a:off x="411480" y="4855464"/>
            <a:ext cx="2759202" cy="53035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(a)  </a:t>
            </a:r>
            <a:r>
              <a:rPr sz="1000" b="1">
                <a:solidFill>
                  <a:srgbClr val="1F497D"/>
                </a:solidFill>
                <a:latin typeface="Arial"/>
              </a:rPr>
              <a:t>Road &amp; bridge accessibility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5A636E"/>
                </a:solidFill>
                <a:latin typeface="Arial"/>
              </a:rPr>
              <a:t>42 stretches, 3,567 km, 82 districts, live from GPS</a:t>
            </a:r>
          </a:p>
        </p:txBody>
      </p:sp>
      <p:sp>
        <p:nvSpPr>
          <p:cNvPr id="15381" name="Rounded Rectangle 15380"/>
          <p:cNvSpPr/>
          <p:nvPr/>
        </p:nvSpPr>
        <p:spPr>
          <a:xfrm>
            <a:off x="3280410" y="4855464"/>
            <a:ext cx="2759202" cy="53035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(b)  </a:t>
            </a:r>
            <a:r>
              <a:rPr sz="1000" b="1">
                <a:solidFill>
                  <a:srgbClr val="1F497D"/>
                </a:solidFill>
                <a:latin typeface="Arial"/>
              </a:rPr>
              <a:t>Disruption prediction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5A636E"/>
                </a:solidFill>
                <a:latin typeface="Arial"/>
              </a:rPr>
              <a:t>24 / 48 / 72 h closure risk on every road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6149340" y="4855464"/>
            <a:ext cx="2759202" cy="53035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(c)  </a:t>
            </a:r>
            <a:r>
              <a:rPr sz="1000" b="1">
                <a:solidFill>
                  <a:srgbClr val="1F497D"/>
                </a:solidFill>
                <a:latin typeface="Arial"/>
              </a:rPr>
              <a:t>Alternate routes + delay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5A636E"/>
                </a:solidFill>
                <a:latin typeface="Arial"/>
              </a:rPr>
              <a:t>3 alternatives scored, condition-adjusted ETA</a:t>
            </a:r>
          </a:p>
        </p:txBody>
      </p:sp>
      <p:sp>
        <p:nvSpPr>
          <p:cNvPr id="15383" name="Rounded Rectangle 15382"/>
          <p:cNvSpPr/>
          <p:nvPr/>
        </p:nvSpPr>
        <p:spPr>
          <a:xfrm>
            <a:off x="9018270" y="4855464"/>
            <a:ext cx="2759202" cy="53035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(d)  </a:t>
            </a:r>
            <a:r>
              <a:rPr sz="1000" b="1">
                <a:solidFill>
                  <a:srgbClr val="1F497D"/>
                </a:solidFill>
                <a:latin typeface="Arial"/>
              </a:rPr>
              <a:t>GPS tracking of essentials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5A636E"/>
                </a:solidFill>
                <a:latin typeface="Arial"/>
              </a:rPr>
              <a:t>medicines, food, produce, construction material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411480" y="5458968"/>
            <a:ext cx="2759202" cy="53035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(e)  </a:t>
            </a:r>
            <a:r>
              <a:rPr sz="1000" b="1">
                <a:solidFill>
                  <a:srgbClr val="1F497D"/>
                </a:solidFill>
                <a:latin typeface="Arial"/>
              </a:rPr>
              <a:t>Automated alerts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5A636E"/>
                </a:solidFill>
                <a:latin typeface="Arial"/>
              </a:rPr>
              <a:t>blocked road, cut-off region, high-risk corridor</a:t>
            </a:r>
          </a:p>
        </p:txBody>
      </p:sp>
      <p:sp>
        <p:nvSpPr>
          <p:cNvPr id="15385" name="Rounded Rectangle 15384"/>
          <p:cNvSpPr/>
          <p:nvPr/>
        </p:nvSpPr>
        <p:spPr>
          <a:xfrm>
            <a:off x="3280410" y="5458968"/>
            <a:ext cx="2759202" cy="53035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(f)  </a:t>
            </a:r>
            <a:r>
              <a:rPr sz="1000" b="1">
                <a:solidFill>
                  <a:srgbClr val="1F497D"/>
                </a:solidFill>
                <a:latin typeface="Arial"/>
              </a:rPr>
              <a:t>Field reporting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5A636E"/>
                </a:solidFill>
                <a:latin typeface="Arial"/>
              </a:rPr>
              <a:t>photo + GPS + voice, queued when offline</a:t>
            </a:r>
          </a:p>
        </p:txBody>
      </p:sp>
      <p:sp>
        <p:nvSpPr>
          <p:cNvPr id="15386" name="Rounded Rectangle 15385"/>
          <p:cNvSpPr/>
          <p:nvPr/>
        </p:nvSpPr>
        <p:spPr>
          <a:xfrm>
            <a:off x="6149340" y="5458968"/>
            <a:ext cx="2759202" cy="53035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(g)  </a:t>
            </a:r>
            <a:r>
              <a:rPr sz="1000" b="1">
                <a:solidFill>
                  <a:srgbClr val="1F497D"/>
                </a:solidFill>
                <a:latin typeface="Arial"/>
              </a:rPr>
              <a:t>Central dashboard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5A636E"/>
                </a:solidFill>
                <a:latin typeface="Arial"/>
              </a:rPr>
              <a:t>district status, bottlenecks, emergency routes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9018270" y="5458968"/>
            <a:ext cx="2759202" cy="53035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(h)  </a:t>
            </a:r>
            <a:r>
              <a:rPr sz="1000" b="1">
                <a:solidFill>
                  <a:srgbClr val="1F497D"/>
                </a:solidFill>
                <a:latin typeface="Arial"/>
              </a:rPr>
              <a:t>Multilingual + offline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5A636E"/>
                </a:solidFill>
                <a:latin typeface="Arial"/>
              </a:rPr>
              <a:t>10 languages, sync when the signal returns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-18288"/>
            <a:ext cx="7818120" cy="1051560"/>
          </a:xfrm>
        </p:spPr>
        <p:txBody>
          <a:bodyPr wrap="square" anchor="ctr"/>
          <a:lstStyle/>
          <a:p>
            <a:pPr eaLnBrk="1" hangingPunct="1"/>
            <a:r>
              <a:rPr lang="en-US" sz="3200" b="1" dirty="0">
                <a:solidFill>
                  <a:srgbClr val="1F497D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100" b="1">
                <a:latin typeface="Arial"/>
              </a:rPr>
              <a:t>Sukobin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43000"/>
            <a:ext cx="1136599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0C0"/>
                </a:solidFill>
                <a:latin typeface="Arial"/>
              </a:rPr>
              <a:t>TECHNOLOGIES TO BE USED (PROGRAMMING LANGUAGES, FRAMEWORKS, HARDWARE)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11480" y="1330452"/>
            <a:ext cx="11365992" cy="12801"/>
          </a:xfrm>
          <a:prstGeom prst="rect">
            <a:avLst/>
          </a:prstGeom>
          <a:solidFill>
            <a:srgbClr val="C9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435608"/>
            <a:ext cx="36667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497D"/>
                </a:solidFill>
                <a:latin typeface="Arial"/>
              </a:rPr>
              <a:t>SOFTWARE STACK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1673352"/>
            <a:ext cx="3666744" cy="1517904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Mobile  </a:t>
            </a:r>
            <a:r>
              <a:rPr sz="950" b="0">
                <a:solidFill>
                  <a:srgbClr val="262B33"/>
                </a:solidFill>
                <a:latin typeface="Arial"/>
              </a:rPr>
              <a:t>Kotlin + XML — 4 Android apps: customer, merchant, partner, officer</a:t>
            </a:r>
          </a:p>
          <a:p>
            <a:pPr algn="l">
              <a:lnSpc>
                <a:spcPct val="98000"/>
              </a:lnSpc>
              <a:spcBef>
                <a:spcPts val="70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Web  </a:t>
            </a:r>
            <a:r>
              <a:rPr sz="950" b="0">
                <a:solidFill>
                  <a:srgbClr val="262B33"/>
                </a:solidFill>
                <a:latin typeface="Arial"/>
              </a:rPr>
              <a:t>React · Vite · MapLibre GL dashboard</a:t>
            </a:r>
          </a:p>
          <a:p>
            <a:pPr algn="l">
              <a:lnSpc>
                <a:spcPct val="98000"/>
              </a:lnSpc>
              <a:spcBef>
                <a:spcPts val="70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Backend  </a:t>
            </a:r>
            <a:r>
              <a:rPr sz="950" b="0">
                <a:solidFill>
                  <a:srgbClr val="262B33"/>
                </a:solidFill>
                <a:latin typeface="Arial"/>
              </a:rPr>
              <a:t>Node.js · Express 5 · MongoDB 2dsphere · JWT</a:t>
            </a:r>
          </a:p>
          <a:p>
            <a:pPr algn="l">
              <a:lnSpc>
                <a:spcPct val="98000"/>
              </a:lnSpc>
              <a:spcBef>
                <a:spcPts val="70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Cloud  </a:t>
            </a:r>
            <a:r>
              <a:rPr sz="950" b="0">
                <a:solidFill>
                  <a:srgbClr val="262B33"/>
                </a:solidFill>
                <a:latin typeface="Arial"/>
              </a:rPr>
              <a:t>Render · Atlas · Cloudinary · FCM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261104" y="1435608"/>
            <a:ext cx="36667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497D"/>
                </a:solidFill>
                <a:latin typeface="Arial"/>
              </a:rPr>
              <a:t>AI / ML AND DATA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261104" y="1673352"/>
            <a:ext cx="3666744" cy="1517904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Model  </a:t>
            </a:r>
            <a:r>
              <a:rPr sz="950" b="0">
                <a:solidFill>
                  <a:srgbClr val="262B33"/>
                </a:solidFill>
                <a:latin typeface="Arial"/>
              </a:rPr>
              <a:t>Logistic regression vs gradient-boosted stumps, 18 features</a:t>
            </a:r>
          </a:p>
          <a:p>
            <a:pPr algn="l">
              <a:lnSpc>
                <a:spcPct val="98000"/>
              </a:lnSpc>
              <a:spcBef>
                <a:spcPts val="70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Trained on  </a:t>
            </a:r>
            <a:r>
              <a:rPr sz="950" b="0">
                <a:solidFill>
                  <a:srgbClr val="262B33"/>
                </a:solidFill>
                <a:latin typeface="Arial"/>
              </a:rPr>
              <a:t>109,116 road-days · AUC 0.883 · Brier 0.092</a:t>
            </a:r>
          </a:p>
          <a:p>
            <a:pPr algn="l">
              <a:lnSpc>
                <a:spcPct val="98000"/>
              </a:lnSpc>
              <a:spcBef>
                <a:spcPts val="70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Weather  </a:t>
            </a:r>
            <a:r>
              <a:rPr sz="950" b="0">
                <a:solidFill>
                  <a:srgbClr val="262B33"/>
                </a:solidFill>
                <a:latin typeface="Arial"/>
              </a:rPr>
              <a:t>Open-Meteo archive + forecast, hourly</a:t>
            </a:r>
          </a:p>
          <a:p>
            <a:pPr algn="l">
              <a:lnSpc>
                <a:spcPct val="98000"/>
              </a:lnSpc>
              <a:spcBef>
                <a:spcPts val="70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Roads  </a:t>
            </a:r>
            <a:r>
              <a:rPr sz="950" b="0">
                <a:solidFill>
                  <a:srgbClr val="262B33"/>
                </a:solidFill>
                <a:latin typeface="Arial"/>
              </a:rPr>
              <a:t>OSRM geometry and route alternates · VAHAN lookup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8110728" y="1435608"/>
            <a:ext cx="36667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497D"/>
                </a:solidFill>
                <a:latin typeface="Arial"/>
              </a:rPr>
              <a:t>PLATFORM COMPONENTS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110728" y="1673352"/>
            <a:ext cx="3666744" cy="1517904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Hardware  </a:t>
            </a:r>
            <a:r>
              <a:rPr sz="950" b="0">
                <a:solidFill>
                  <a:srgbClr val="262B33"/>
                </a:solidFill>
                <a:latin typeface="Arial"/>
              </a:rPr>
              <a:t>None — the driver's own phone is the sensor</a:t>
            </a:r>
          </a:p>
          <a:p>
            <a:pPr algn="l">
              <a:lnSpc>
                <a:spcPct val="98000"/>
              </a:lnSpc>
              <a:spcBef>
                <a:spcPts val="70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Engines  </a:t>
            </a:r>
            <a:r>
              <a:rPr sz="950" b="0">
                <a:solidFill>
                  <a:srgbClr val="262B33"/>
                </a:solidFill>
                <a:latin typeface="Arial"/>
              </a:rPr>
              <a:t>Route prediction · GIS monitoring · GPS tracking · alerts</a:t>
            </a:r>
          </a:p>
          <a:p>
            <a:pPr algn="l">
              <a:lnSpc>
                <a:spcPct val="98000"/>
              </a:lnSpc>
              <a:spcBef>
                <a:spcPts val="70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Field layer  </a:t>
            </a:r>
            <a:r>
              <a:rPr sz="950" b="0">
                <a:solidFill>
                  <a:srgbClr val="262B33"/>
                </a:solidFill>
                <a:latin typeface="Arial"/>
              </a:rPr>
              <a:t>Photo, GPS and voice reporting in 10 languages</a:t>
            </a:r>
          </a:p>
          <a:p>
            <a:pPr algn="l">
              <a:lnSpc>
                <a:spcPct val="98000"/>
              </a:lnSpc>
              <a:spcBef>
                <a:spcPts val="70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Resilience  </a:t>
            </a:r>
            <a:r>
              <a:rPr sz="950" b="0">
                <a:solidFill>
                  <a:srgbClr val="262B33"/>
                </a:solidFill>
                <a:latin typeface="Arial"/>
              </a:rPr>
              <a:t>Offline queue, cloud storage, secure token auth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11480" y="3264408"/>
            <a:ext cx="1136599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0C0"/>
                </a:solidFill>
                <a:latin typeface="Arial"/>
              </a:rPr>
              <a:t>METHODOLOGY AND PROCESS FOR IMPLEMENTATION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411480" y="3451860"/>
            <a:ext cx="11365992" cy="12801"/>
          </a:xfrm>
          <a:prstGeom prst="rect">
            <a:avLst/>
          </a:prstGeom>
          <a:solidFill>
            <a:srgbClr val="C9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411480" y="3557016"/>
            <a:ext cx="169621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Declare route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5A636E"/>
                </a:solidFill>
                <a:latin typeface="Arial"/>
              </a:rPr>
              <a:t>driver states A → B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2148840" y="3799332"/>
            <a:ext cx="155448" cy="8229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2345436" y="3557016"/>
            <a:ext cx="1696212" cy="56692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Match corridor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5A636E"/>
                </a:solidFill>
                <a:latin typeface="Arial"/>
              </a:rPr>
              <a:t>consignments on that road</a:t>
            </a:r>
          </a:p>
        </p:txBody>
      </p:sp>
      <p:sp>
        <p:nvSpPr>
          <p:cNvPr id="17423" name="Right Arrow 17422"/>
          <p:cNvSpPr/>
          <p:nvPr/>
        </p:nvSpPr>
        <p:spPr>
          <a:xfrm>
            <a:off x="4082796" y="3799332"/>
            <a:ext cx="155448" cy="8229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4279392" y="3557016"/>
            <a:ext cx="1696212" cy="56692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Stream GPS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5A636E"/>
                </a:solidFill>
                <a:latin typeface="Arial"/>
              </a:rPr>
              <a:t>every 20 s / 40 m</a:t>
            </a:r>
          </a:p>
        </p:txBody>
      </p:sp>
      <p:sp>
        <p:nvSpPr>
          <p:cNvPr id="17425" name="Right Arrow 17424"/>
          <p:cNvSpPr/>
          <p:nvPr/>
        </p:nvSpPr>
        <p:spPr>
          <a:xfrm>
            <a:off x="6016752" y="3799332"/>
            <a:ext cx="155448" cy="8229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6213348" y="3557016"/>
            <a:ext cx="1696212" cy="56692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Map-match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5A636E"/>
                </a:solidFill>
                <a:latin typeface="Arial"/>
              </a:rPr>
              <a:t>to a road ≤ 600 m</a:t>
            </a:r>
          </a:p>
        </p:txBody>
      </p:sp>
      <p:sp>
        <p:nvSpPr>
          <p:cNvPr id="17427" name="Right Arrow 17426"/>
          <p:cNvSpPr/>
          <p:nvPr/>
        </p:nvSpPr>
        <p:spPr>
          <a:xfrm>
            <a:off x="7950708" y="3799332"/>
            <a:ext cx="155448" cy="8229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8147304" y="3557016"/>
            <a:ext cx="169621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Resolve status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5A636E"/>
                </a:solidFill>
                <a:latin typeface="Arial"/>
              </a:rPr>
              <a:t>median speed vs baseline</a:t>
            </a:r>
          </a:p>
        </p:txBody>
      </p:sp>
      <p:sp>
        <p:nvSpPr>
          <p:cNvPr id="17429" name="Right Arrow 17428"/>
          <p:cNvSpPr/>
          <p:nvPr/>
        </p:nvSpPr>
        <p:spPr>
          <a:xfrm>
            <a:off x="9884664" y="3799332"/>
            <a:ext cx="155448" cy="8229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10081260" y="3557016"/>
            <a:ext cx="169621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97D"/>
                </a:solidFill>
                <a:latin typeface="Arial"/>
              </a:rPr>
              <a:t>Alert + re-route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5A636E"/>
                </a:solidFill>
                <a:latin typeface="Arial"/>
              </a:rPr>
              <a:t>and forecast 72 h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11480" y="4270248"/>
            <a:ext cx="55732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497D"/>
                </a:solidFill>
                <a:latin typeface="Arial"/>
              </a:rPr>
              <a:t>ALGORITHM 1 — CORRIDOR MATCHING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11480" y="4507992"/>
            <a:ext cx="5573268" cy="148132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1  Coarse fetch — bounding box around the route polyline</a:t>
            </a:r>
          </a:p>
          <a:p>
            <a:pPr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2  Corridor — pickup and drop ≤ 10 km off the line, or inside the endpoint city</a:t>
            </a:r>
          </a:p>
          <a:p>
            <a:pPr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3  Detour cap — mid-route deviation ≤ 24 km, else rejected</a:t>
            </a:r>
          </a:p>
          <a:p>
            <a:pPr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4  Direction — driver → pickup → drop, projected along the line</a:t>
            </a:r>
          </a:p>
          <a:p>
            <a:pPr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5  Score, then sequence stops by position so the route never doubles back</a:t>
            </a:r>
          </a:p>
          <a:p>
            <a:pPr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</a:pPr>
            <a:r>
              <a:rPr sz="950" b="1">
                <a:solidFill>
                  <a:srgbClr val="0070C0"/>
                </a:solidFill>
                <a:latin typeface="Arial"/>
              </a:rPr>
              <a:t>score = 1.0 × fee  −  8.0 × offRouteKm  −  0.15 × ageMinutes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204204" y="4270248"/>
            <a:ext cx="55732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497D"/>
                </a:solidFill>
                <a:latin typeface="Arial"/>
              </a:rPr>
              <a:t>ALGORITHM 2 — PROBE SENSING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6204204" y="4507992"/>
            <a:ext cx="5573268" cy="148132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45-minute rolling median of vehicle speed ÷ the road's own baseline:</a:t>
            </a:r>
          </a:p>
          <a:p>
            <a:pPr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00" b="1">
                <a:solidFill>
                  <a:srgbClr val="1F497D"/>
                </a:solidFill>
                <a:latin typeface="Arial"/>
              </a:rPr>
              <a:t>≤ 0.15  </a:t>
            </a:r>
            <a:r>
              <a:rPr sz="900" b="0">
                <a:solidFill>
                  <a:srgbClr val="5A636E"/>
                </a:solidFill>
                <a:latin typeface="Arial"/>
              </a:rPr>
              <a:t>  →  </a:t>
            </a:r>
            <a:r>
              <a:rPr sz="900" b="1">
                <a:solidFill>
                  <a:srgbClr val="C25E1E"/>
                </a:solidFill>
                <a:latin typeface="Arial"/>
              </a:rPr>
              <a:t>BLOCKED</a:t>
            </a:r>
          </a:p>
          <a:p>
            <a:pPr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00" b="1">
                <a:solidFill>
                  <a:srgbClr val="1F497D"/>
                </a:solidFill>
                <a:latin typeface="Arial"/>
              </a:rPr>
              <a:t>≤ 0.35  </a:t>
            </a:r>
            <a:r>
              <a:rPr sz="900" b="0">
                <a:solidFill>
                  <a:srgbClr val="5A636E"/>
                </a:solidFill>
                <a:latin typeface="Arial"/>
              </a:rPr>
              <a:t>  →  </a:t>
            </a:r>
            <a:r>
              <a:rPr sz="900" b="1">
                <a:solidFill>
                  <a:srgbClr val="C25E1E"/>
                </a:solidFill>
                <a:latin typeface="Arial"/>
              </a:rPr>
              <a:t>RESTRICTED</a:t>
            </a:r>
          </a:p>
          <a:p>
            <a:pPr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00" b="1">
                <a:solidFill>
                  <a:srgbClr val="1F497D"/>
                </a:solidFill>
                <a:latin typeface="Arial"/>
              </a:rPr>
              <a:t>≤ 0.60  </a:t>
            </a:r>
            <a:r>
              <a:rPr sz="900" b="0">
                <a:solidFill>
                  <a:srgbClr val="5A636E"/>
                </a:solidFill>
                <a:latin typeface="Arial"/>
              </a:rPr>
              <a:t>  →  </a:t>
            </a:r>
            <a:r>
              <a:rPr sz="900" b="1">
                <a:solidFill>
                  <a:srgbClr val="5A636E"/>
                </a:solidFill>
                <a:latin typeface="Arial"/>
              </a:rPr>
              <a:t>SLOW</a:t>
            </a:r>
          </a:p>
          <a:p>
            <a:pPr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00" b="1">
                <a:solidFill>
                  <a:srgbClr val="1F497D"/>
                </a:solidFill>
                <a:latin typeface="Arial"/>
              </a:rPr>
              <a:t>&gt; 0.60  </a:t>
            </a:r>
            <a:r>
              <a:rPr sz="900" b="0">
                <a:solidFill>
                  <a:srgbClr val="5A636E"/>
                </a:solidFill>
                <a:latin typeface="Arial"/>
              </a:rPr>
              <a:t>  →  </a:t>
            </a:r>
            <a:r>
              <a:rPr sz="900" b="1">
                <a:solidFill>
                  <a:srgbClr val="2E7D4F"/>
                </a:solidFill>
                <a:latin typeface="Arial"/>
              </a:rPr>
              <a:t>OPEN</a:t>
            </a:r>
          </a:p>
          <a:p>
            <a:pPr algn="l"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900" b="1">
                <a:solidFill>
                  <a:srgbClr val="1F497D"/>
                </a:solidFill>
                <a:latin typeface="Arial"/>
              </a:rPr>
              <a:t>Trust rule — </a:t>
            </a:r>
            <a:r>
              <a:rPr sz="900" b="0">
                <a:solidFill>
                  <a:srgbClr val="262B33"/>
                </a:solidFill>
                <a:latin typeface="Arial"/>
              </a:rPr>
              <a:t>≥ 4 samples from ≥ 2 distinct vehicles, else discarded. An unverified driver report is capped at RESTRICTED.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-18288"/>
            <a:ext cx="7818120" cy="1051560"/>
          </a:xfrm>
        </p:spPr>
        <p:txBody>
          <a:bodyPr wrap="square" anchor="ctr"/>
          <a:lstStyle/>
          <a:p>
            <a:pPr eaLnBrk="1" hangingPunct="1"/>
            <a:r>
              <a:rPr lang="en-US" sz="3200" b="1" dirty="0">
                <a:solidFill>
                  <a:srgbClr val="1F497D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100" b="1">
                <a:latin typeface="Arial"/>
              </a:rPr>
              <a:t>Sukobin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43000"/>
            <a:ext cx="42245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0C0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11480" y="1330452"/>
            <a:ext cx="4224528" cy="12801"/>
          </a:xfrm>
          <a:prstGeom prst="rect">
            <a:avLst/>
          </a:prstGeom>
          <a:solidFill>
            <a:srgbClr val="C9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435608"/>
            <a:ext cx="4224528" cy="157276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Runs on smartphones, GPS, GIS and cloud services — no roadside hardware to procure, install or power. Modular, so weather, routing and government sources can be swapped per state.</a:t>
            </a:r>
          </a:p>
          <a:p>
            <a:pPr algn="l">
              <a:lnSpc>
                <a:spcPct val="98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1">
                <a:solidFill>
                  <a:srgbClr val="0070C0"/>
                </a:solidFill>
                <a:latin typeface="Arial"/>
              </a:rPr>
              <a:t>42 stretches · 3,567 km  </a:t>
            </a:r>
            <a:r>
              <a:rPr sz="950" b="0">
                <a:solidFill>
                  <a:srgbClr val="262B33"/>
                </a:solidFill>
                <a:latin typeface="Arial"/>
              </a:rPr>
              <a:t>real OSRM geometry, 12 corridors, 8 states</a:t>
            </a:r>
          </a:p>
          <a:p>
            <a:pPr algn="l">
              <a:lnSpc>
                <a:spcPct val="98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1">
                <a:solidFill>
                  <a:srgbClr val="0070C0"/>
                </a:solidFill>
                <a:latin typeface="Arial"/>
              </a:rPr>
              <a:t>4 apps + dashboard  </a:t>
            </a:r>
            <a:r>
              <a:rPr sz="950" b="0">
                <a:solidFill>
                  <a:srgbClr val="262B33"/>
                </a:solidFill>
                <a:latin typeface="Arial"/>
              </a:rPr>
              <a:t>built and running against live data</a:t>
            </a:r>
          </a:p>
          <a:p>
            <a:pPr algn="l">
              <a:lnSpc>
                <a:spcPct val="98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1">
                <a:solidFill>
                  <a:srgbClr val="0070C0"/>
                </a:solidFill>
                <a:latin typeface="Arial"/>
              </a:rPr>
              <a:t>195 / 195 tests  </a:t>
            </a:r>
            <a:r>
              <a:rPr sz="950" b="0">
                <a:solidFill>
                  <a:srgbClr val="262B33"/>
                </a:solidFill>
                <a:latin typeface="Arial"/>
              </a:rPr>
              <a:t>10 suites · 10 languages · 0 English fallbacks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3136392"/>
            <a:ext cx="42245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497D"/>
                </a:solidFill>
                <a:latin typeface="Arial"/>
              </a:rPr>
              <a:t>BUSINESS MODEL — HOW IT SUSTAINS ITSELF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3374136"/>
            <a:ext cx="422452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Flat platform fee  </a:t>
            </a:r>
            <a:r>
              <a:rPr sz="950" b="0">
                <a:solidFill>
                  <a:srgbClr val="262B33"/>
                </a:solidFill>
                <a:latin typeface="Arial"/>
              </a:rPr>
              <a:t>₹5 per parcel, ₹2 per shop order. The driver keeps the full delivery charge — that is what makes carrying worth it.</a:t>
            </a:r>
          </a:p>
          <a:p>
            <a:pPr algn="l">
              <a:lnSpc>
                <a:spcPct val="98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Government licence  </a:t>
            </a:r>
            <a:r>
              <a:rPr sz="950" b="0">
                <a:solidFill>
                  <a:srgbClr val="262B33"/>
                </a:solidFill>
                <a:latin typeface="Arial"/>
              </a:rPr>
              <a:t>the accessibility dashboard sold per state or district to transport and disaster-management departments.</a:t>
            </a:r>
          </a:p>
          <a:p>
            <a:pPr algn="l">
              <a:lnSpc>
                <a:spcPct val="98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Merchant plans  </a:t>
            </a:r>
            <a:r>
              <a:rPr sz="950" b="0">
                <a:solidFill>
                  <a:srgbClr val="262B33"/>
                </a:solidFill>
                <a:latin typeface="Arial"/>
              </a:rPr>
              <a:t>optional listing and analytics tiers for shops.</a:t>
            </a:r>
          </a:p>
          <a:p>
            <a:pPr algn="l">
              <a:lnSpc>
                <a:spcPct val="98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Cost side  </a:t>
            </a:r>
            <a:r>
              <a:rPr sz="950" b="0">
                <a:solidFill>
                  <a:srgbClr val="262B33"/>
                </a:solidFill>
                <a:latin typeface="Arial"/>
              </a:rPr>
              <a:t>cloud only. No fleet, no vehicles, no hardware, so marginal cost per extra parcel is a payment-gateway fee.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892040" y="1143000"/>
            <a:ext cx="2331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0C0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4892040" y="1330452"/>
            <a:ext cx="2331720" cy="12801"/>
          </a:xfrm>
          <a:prstGeom prst="rect">
            <a:avLst/>
          </a:prstGeom>
          <a:solidFill>
            <a:srgbClr val="C9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7333488" y="1143000"/>
            <a:ext cx="444398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0C0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7333488" y="1330452"/>
            <a:ext cx="4443984" cy="12801"/>
          </a:xfrm>
          <a:prstGeom prst="rect">
            <a:avLst/>
          </a:prstGeom>
          <a:solidFill>
            <a:srgbClr val="C9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4892040" y="1435608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25E1E"/>
                </a:solidFill>
                <a:latin typeface="Arial"/>
              </a:rPr>
              <a:t>Remote areas lose network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7333488" y="1435608"/>
            <a:ext cx="444398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Field reports queue on the phone under a client ID and sync later; the server rejects duplicates, so nothing is filed twice.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7237476" y="1728216"/>
            <a:ext cx="73152" cy="73152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4892040" y="2157984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25E1E"/>
                </a:solidFill>
                <a:latin typeface="Arial"/>
              </a:rPr>
              <a:t>Noisy or inaccurate GPS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7333488" y="2157984"/>
            <a:ext cx="4443984" cy="65836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Fixes worse than 120 m are dropped on the device, and a road status needs ≥ 4 samples from ≥ 2 distinct vehicles before it changes.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7237476" y="2450592"/>
            <a:ext cx="73152" cy="73152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4892040" y="2880360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25E1E"/>
                </a:solidFill>
                <a:latin typeface="Arial"/>
              </a:rPr>
              <a:t>Incorrect user reports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7333488" y="2880360"/>
            <a:ext cx="444398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An unverified report is capped at RESTRICTED; only an officer's verification can close a road.</a:t>
            </a:r>
          </a:p>
        </p:txBody>
      </p:sp>
      <p:sp>
        <p:nvSpPr>
          <p:cNvPr id="17427" name="Right Arrow 17426"/>
          <p:cNvSpPr/>
          <p:nvPr/>
        </p:nvSpPr>
        <p:spPr>
          <a:xfrm>
            <a:off x="7237476" y="3172968"/>
            <a:ext cx="73152" cy="73152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4892040" y="3602736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25E1E"/>
                </a:solidFill>
                <a:latin typeface="Arial"/>
              </a:rPr>
              <a:t>Uncertainty in AI predictions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7333488" y="3602736"/>
            <a:ext cx="4443984" cy="65836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Every prediction is explainable by feature, calibration is published on screen, and current risk is kept separate from the forecast.</a:t>
            </a:r>
          </a:p>
        </p:txBody>
      </p:sp>
      <p:sp>
        <p:nvSpPr>
          <p:cNvPr id="17430" name="Right Arrow 17429"/>
          <p:cNvSpPr/>
          <p:nvPr/>
        </p:nvSpPr>
        <p:spPr>
          <a:xfrm>
            <a:off x="7237476" y="3895344"/>
            <a:ext cx="73152" cy="73152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4892040" y="4325112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25E1E"/>
                </a:solidFill>
                <a:latin typeface="Arial"/>
              </a:rPr>
              <a:t>Roads close mid-journey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333488" y="4325112"/>
            <a:ext cx="444398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The route planner scores three real alternatives and reports why each rejected one failed.</a:t>
            </a:r>
          </a:p>
        </p:txBody>
      </p:sp>
      <p:sp>
        <p:nvSpPr>
          <p:cNvPr id="17433" name="Right Arrow 17432"/>
          <p:cNvSpPr/>
          <p:nvPr/>
        </p:nvSpPr>
        <p:spPr>
          <a:xfrm>
            <a:off x="7237476" y="4617720"/>
            <a:ext cx="73152" cy="73152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Rounded Rectangle 17433"/>
          <p:cNvSpPr/>
          <p:nvPr/>
        </p:nvSpPr>
        <p:spPr>
          <a:xfrm>
            <a:off x="4892040" y="5047488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25E1E"/>
                </a:solidFill>
                <a:latin typeface="Arial"/>
              </a:rPr>
              <a:t>No historical closure dataset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7333488" y="5047488"/>
            <a:ext cx="4443984" cy="65836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Labels come from a rainfall-threshold hazard function; verified field reports override them, and the platform says so openly.</a:t>
            </a:r>
          </a:p>
        </p:txBody>
      </p:sp>
      <p:sp>
        <p:nvSpPr>
          <p:cNvPr id="17436" name="Right Arrow 17435"/>
          <p:cNvSpPr/>
          <p:nvPr/>
        </p:nvSpPr>
        <p:spPr>
          <a:xfrm>
            <a:off x="7237476" y="5340096"/>
            <a:ext cx="73152" cy="73152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-18288"/>
            <a:ext cx="7818120" cy="1051560"/>
          </a:xfrm>
        </p:spPr>
        <p:txBody>
          <a:bodyPr wrap="square" anchor="ctr"/>
          <a:lstStyle/>
          <a:p>
            <a:pPr eaLnBrk="1" hangingPunct="1"/>
            <a:r>
              <a:rPr lang="en-US" sz="3200" b="1" dirty="0">
                <a:solidFill>
                  <a:srgbClr val="1F497D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100" b="1">
                <a:latin typeface="Arial"/>
              </a:rPr>
              <a:t>Sukobin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43000"/>
            <a:ext cx="1136599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0C0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11480" y="1330452"/>
            <a:ext cx="11365992" cy="12801"/>
          </a:xfrm>
          <a:prstGeom prst="rect">
            <a:avLst/>
          </a:prstGeom>
          <a:solidFill>
            <a:srgbClr val="C9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435608"/>
            <a:ext cx="2731770" cy="122529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District administration</a:t>
            </a:r>
          </a:p>
          <a:p>
            <a:pPr algn="l">
              <a:lnSpc>
                <a:spcPct val="98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Continuous visibility of accessibility, and a lifeline corridor's closure risk 72 hours out.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89554" y="1435608"/>
            <a:ext cx="2731770" cy="122529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Field officers</a:t>
            </a:r>
          </a:p>
          <a:p>
            <a:pPr algn="l">
              <a:lnSpc>
                <a:spcPct val="98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Weak points ranked with the reason each scored, and a queue of reports to verify.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67628" y="1435608"/>
            <a:ext cx="2731770" cy="122529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Transporters and drivers</a:t>
            </a:r>
          </a:p>
          <a:p>
            <a:pPr algn="l">
              <a:lnSpc>
                <a:spcPct val="98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Income from a journey already being made, and route conditions before setting out.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9045702" y="1435608"/>
            <a:ext cx="2731770" cy="122529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People in remote blocks</a:t>
            </a:r>
          </a:p>
          <a:p>
            <a:pPr algn="l">
              <a:lnSpc>
                <a:spcPct val="98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Medicines, food, produce and construction material arrive — with an alert in the language spoken at home when they will not.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11480" y="2788920"/>
            <a:ext cx="1136599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0C0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11480" y="2976372"/>
            <a:ext cx="11365992" cy="12801"/>
          </a:xfrm>
          <a:prstGeom prst="rect">
            <a:avLst/>
          </a:prstGeom>
          <a:solidFill>
            <a:srgbClr val="C9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411480" y="3081527"/>
            <a:ext cx="2731770" cy="310896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411480" y="3428999"/>
            <a:ext cx="2731770" cy="89611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8 states, 82 districts. Alerts and voice reporting in 10 languages, four with almost no other software support.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89554" y="3081527"/>
            <a:ext cx="2731770" cy="310896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Economic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289554" y="3428999"/>
            <a:ext cx="2731770" cy="89611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Corridor matching turns spare capacity into income. No dedicated fleet, so cost per extra parcel is near zero.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167628" y="3081527"/>
            <a:ext cx="2731770" cy="310896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Environmental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167628" y="3428999"/>
            <a:ext cx="2731770" cy="89611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Fewer dedicated trips — a parcel rides in a vehicle already making the journey, not a second one.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9045702" y="3081527"/>
            <a:ext cx="2731770" cy="310896"/>
          </a:xfrm>
          <a:prstGeom prst="roundRect">
            <a:avLst>
              <a:gd name="adj" fmla="val 8000"/>
            </a:avLst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Governance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9045702" y="3428999"/>
            <a:ext cx="2731770" cy="89611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62B33"/>
                </a:solidFill>
                <a:latin typeface="Arial"/>
              </a:rPr>
              <a:t>Photo, GPS fix, timestamp and the verifying officer on every incident. An evidence trail, not a phone call.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11480" y="4453127"/>
            <a:ext cx="113659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497D"/>
                </a:solidFill>
                <a:latin typeface="Arial"/>
              </a:rPr>
              <a:t>PRODUCT DEVELOPMENT TIMELINE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11480" y="4690871"/>
            <a:ext cx="2185416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Phase 1   </a:t>
            </a:r>
            <a:r>
              <a:rPr sz="850" b="1">
                <a:solidFill>
                  <a:srgbClr val="2E7D4F"/>
                </a:solidFill>
                <a:latin typeface="Arial"/>
              </a:rPr>
              <a:t>DONE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 i="0">
                <a:solidFill>
                  <a:srgbClr val="1F497D"/>
                </a:solidFill>
                <a:latin typeface="Arial"/>
              </a:rPr>
              <a:t>Core platform</a:t>
            </a:r>
          </a:p>
          <a:p>
            <a:pPr algn="l"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5A636E"/>
                </a:solidFill>
                <a:latin typeface="Arial"/>
              </a:rPr>
              <a:t>4 apps, dashboard, 118 endpoints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411480" y="5678423"/>
            <a:ext cx="2185416" cy="45720"/>
          </a:xfrm>
          <a:prstGeom prst="rect">
            <a:avLst/>
          </a:prstGeom>
          <a:solidFill>
            <a:srgbClr val="C9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Rectangle 17428"/>
          <p:cNvSpPr/>
          <p:nvPr/>
        </p:nvSpPr>
        <p:spPr>
          <a:xfrm>
            <a:off x="411480" y="5678423"/>
            <a:ext cx="2185416" cy="457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2706624" y="4690871"/>
            <a:ext cx="2185416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Phase 2   </a:t>
            </a:r>
            <a:r>
              <a:rPr sz="850" b="1">
                <a:solidFill>
                  <a:srgbClr val="2E7D4F"/>
                </a:solidFill>
                <a:latin typeface="Arial"/>
              </a:rPr>
              <a:t>DONE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 i="0">
                <a:solidFill>
                  <a:srgbClr val="1F497D"/>
                </a:solidFill>
                <a:latin typeface="Arial"/>
              </a:rPr>
              <a:t>Intelligence layer</a:t>
            </a:r>
          </a:p>
          <a:p>
            <a:pPr algn="l"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5A636E"/>
                </a:solidFill>
                <a:latin typeface="Arial"/>
              </a:rPr>
              <a:t>probe sensing, forecast model, alerts, 10 languages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2706624" y="5678423"/>
            <a:ext cx="2185416" cy="45720"/>
          </a:xfrm>
          <a:prstGeom prst="rect">
            <a:avLst/>
          </a:prstGeom>
          <a:solidFill>
            <a:srgbClr val="C9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Rectangle 17431"/>
          <p:cNvSpPr/>
          <p:nvPr/>
        </p:nvSpPr>
        <p:spPr>
          <a:xfrm>
            <a:off x="2706624" y="5678423"/>
            <a:ext cx="2185416" cy="457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5001768" y="4690871"/>
            <a:ext cx="2185416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Phase 3   </a:t>
            </a:r>
            <a:r>
              <a:rPr sz="850" b="1">
                <a:solidFill>
                  <a:srgbClr val="0070C0"/>
                </a:solidFill>
                <a:latin typeface="Arial"/>
              </a:rPr>
              <a:t>4 WEEKS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 i="0">
                <a:solidFill>
                  <a:srgbClr val="1F497D"/>
                </a:solidFill>
                <a:latin typeface="Arial"/>
              </a:rPr>
              <a:t>Close the loop</a:t>
            </a:r>
          </a:p>
          <a:p>
            <a:pPr algn="l"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5A636E"/>
                </a:solidFill>
                <a:latin typeface="Arial"/>
              </a:rPr>
              <a:t>road-ahead warnings, mid-trip re-route, delay alerts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5001768" y="5678423"/>
            <a:ext cx="2185416" cy="45720"/>
          </a:xfrm>
          <a:prstGeom prst="rect">
            <a:avLst/>
          </a:prstGeom>
          <a:solidFill>
            <a:srgbClr val="C9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ounded Rectangle 17434"/>
          <p:cNvSpPr/>
          <p:nvPr/>
        </p:nvSpPr>
        <p:spPr>
          <a:xfrm>
            <a:off x="7296912" y="4690871"/>
            <a:ext cx="2185416" cy="95097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Phase 4   </a:t>
            </a:r>
            <a:r>
              <a:rPr sz="850" b="1">
                <a:solidFill>
                  <a:srgbClr val="4F81BD"/>
                </a:solidFill>
                <a:latin typeface="Arial"/>
              </a:rPr>
              <a:t>3 MONTHS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 i="0">
                <a:solidFill>
                  <a:srgbClr val="1F497D"/>
                </a:solidFill>
                <a:latin typeface="Arial"/>
              </a:rPr>
              <a:t>District pilot</a:t>
            </a:r>
          </a:p>
          <a:p>
            <a:pPr algn="l"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5A636E"/>
                </a:solidFill>
                <a:latin typeface="Arial"/>
              </a:rPr>
              <a:t>one corridor with a state transport department</a:t>
            </a:r>
          </a:p>
        </p:txBody>
      </p:sp>
      <p:sp>
        <p:nvSpPr>
          <p:cNvPr id="17436" name="Rectangle 17435"/>
          <p:cNvSpPr/>
          <p:nvPr/>
        </p:nvSpPr>
        <p:spPr>
          <a:xfrm>
            <a:off x="7296912" y="5678423"/>
            <a:ext cx="2185416" cy="45720"/>
          </a:xfrm>
          <a:prstGeom prst="rect">
            <a:avLst/>
          </a:prstGeom>
          <a:solidFill>
            <a:srgbClr val="C9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Rounded Rectangle 17436"/>
          <p:cNvSpPr/>
          <p:nvPr/>
        </p:nvSpPr>
        <p:spPr>
          <a:xfrm>
            <a:off x="9592056" y="4690871"/>
            <a:ext cx="2185416" cy="95097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Phase 5   </a:t>
            </a:r>
            <a:r>
              <a:rPr sz="850" b="1">
                <a:solidFill>
                  <a:srgbClr val="5A636E"/>
                </a:solidFill>
                <a:latin typeface="Arial"/>
              </a:rPr>
              <a:t>6-12 MONTHS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 i="0">
                <a:solidFill>
                  <a:srgbClr val="1F497D"/>
                </a:solidFill>
                <a:latin typeface="Arial"/>
              </a:rPr>
              <a:t>Scale</a:t>
            </a:r>
          </a:p>
          <a:p>
            <a:pPr algn="l"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00" b="0" i="0">
                <a:solidFill>
                  <a:srgbClr val="5A636E"/>
                </a:solidFill>
                <a:latin typeface="Arial"/>
              </a:rPr>
              <a:t>multi-state rollout, government system integration</a:t>
            </a:r>
          </a:p>
        </p:txBody>
      </p:sp>
      <p:sp>
        <p:nvSpPr>
          <p:cNvPr id="17438" name="Rectangle 17437"/>
          <p:cNvSpPr/>
          <p:nvPr/>
        </p:nvSpPr>
        <p:spPr>
          <a:xfrm>
            <a:off x="9592056" y="5678423"/>
            <a:ext cx="2185416" cy="45720"/>
          </a:xfrm>
          <a:prstGeom prst="rect">
            <a:avLst/>
          </a:prstGeom>
          <a:solidFill>
            <a:srgbClr val="C9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-18288"/>
            <a:ext cx="7818120" cy="1051560"/>
          </a:xfrm>
        </p:spPr>
        <p:txBody>
          <a:bodyPr wrap="square" anchor="ctr"/>
          <a:lstStyle/>
          <a:p>
            <a:pPr eaLnBrk="1" hangingPunct="1"/>
            <a:r>
              <a:rPr lang="en-US" sz="3200" b="1" dirty="0">
                <a:solidFill>
                  <a:srgbClr val="1F497D"/>
                </a:solidFill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100" b="1">
                <a:latin typeface="Arial"/>
              </a:rPr>
              <a:t>Sukobin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43000"/>
            <a:ext cx="1136599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0C0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11480" y="1330452"/>
            <a:ext cx="11365992" cy="12801"/>
          </a:xfrm>
          <a:prstGeom prst="rect">
            <a:avLst/>
          </a:prstGeom>
          <a:solidFill>
            <a:srgbClr val="C9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435608"/>
            <a:ext cx="55732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497D"/>
                </a:solidFill>
                <a:latin typeface="Arial"/>
              </a:rPr>
              <a:t>DATA SOURCES THE PLATFORM RUNS ON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1673352"/>
            <a:ext cx="5573268" cy="2962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Open-Meteo Historical Weather API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5A636E"/>
                </a:solidFill>
                <a:latin typeface="Arial"/>
              </a:rPr>
              <a:t>open-meteo.com/en/docs/historical-weather-api — observed hourly rainfall, snowfall and temperature; the model's training set</a:t>
            </a:r>
          </a:p>
          <a:p>
            <a:pPr algn="l">
              <a:lnSpc>
                <a:spcPct val="95000"/>
              </a:lnSpc>
              <a:spcBef>
                <a:spcPts val="2300"/>
              </a:spcBef>
              <a:spcAft>
                <a:spcPts val="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OSRM — Open Source Routing Machine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5A636E"/>
                </a:solidFill>
                <a:latin typeface="Arial"/>
              </a:rPr>
              <a:t>project-osrm.org — real road geometry and route alternates</a:t>
            </a:r>
          </a:p>
          <a:p>
            <a:pPr algn="l">
              <a:lnSpc>
                <a:spcPct val="95000"/>
              </a:lnSpc>
              <a:spcBef>
                <a:spcPts val="2300"/>
              </a:spcBef>
              <a:spcAft>
                <a:spcPts val="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VAHAN / Parivahan registration lookup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5A636E"/>
                </a:solidFill>
                <a:latin typeface="Arial"/>
              </a:rPr>
              <a:t>parivahan.gov.in — vehicle class and capacity at driver sign-up</a:t>
            </a:r>
          </a:p>
          <a:p>
            <a:pPr algn="l">
              <a:lnSpc>
                <a:spcPct val="95000"/>
              </a:lnSpc>
              <a:spcBef>
                <a:spcPts val="2300"/>
              </a:spcBef>
              <a:spcAft>
                <a:spcPts val="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MapLibre GL JS + Esri Dark Gray Canvas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5A636E"/>
                </a:solidFill>
                <a:latin typeface="Arial"/>
              </a:rPr>
              <a:t>maplibre.org — the GIS layer of the control dashboard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204204" y="1435608"/>
            <a:ext cx="55732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497D"/>
                </a:solidFill>
                <a:latin typeface="Arial"/>
              </a:rPr>
              <a:t>PROBLEM AND DOMAIN RESEARCH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204204" y="1673352"/>
            <a:ext cx="5573268" cy="2962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MDoNER — problem statement 26002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5A636E"/>
                </a:solidFill>
                <a:latin typeface="Arial"/>
              </a:rPr>
              <a:t>mdoner.gov.in — NER connectivity gaps and infrastructure priorities</a:t>
            </a:r>
          </a:p>
          <a:p>
            <a:pPr algn="l">
              <a:lnSpc>
                <a:spcPct val="95000"/>
              </a:lnSpc>
              <a:spcBef>
                <a:spcPts val="2300"/>
              </a:spcBef>
              <a:spcAft>
                <a:spcPts val="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NHIDCL / MoRTH national highway network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5A636E"/>
                </a:solidFill>
                <a:latin typeface="Arial"/>
              </a:rPr>
              <a:t>nhidcl.com · morth.nic.in — corridor alignments and NH numbering</a:t>
            </a:r>
          </a:p>
          <a:p>
            <a:pPr algn="l">
              <a:lnSpc>
                <a:spcPct val="95000"/>
              </a:lnSpc>
              <a:spcBef>
                <a:spcPts val="2300"/>
              </a:spcBef>
              <a:spcAft>
                <a:spcPts val="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IMD rainfall climatology for the North East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5A636E"/>
                </a:solidFill>
                <a:latin typeface="Arial"/>
              </a:rPr>
              <a:t>mausam.imd.gov.in — monsoon windows and the rain thresholds used</a:t>
            </a:r>
          </a:p>
          <a:p>
            <a:pPr algn="l">
              <a:lnSpc>
                <a:spcPct val="95000"/>
              </a:lnSpc>
              <a:spcBef>
                <a:spcPts val="2300"/>
              </a:spcBef>
              <a:spcAft>
                <a:spcPts val="0"/>
              </a:spcAft>
            </a:pPr>
            <a:r>
              <a:rPr sz="1050" b="1" i="0">
                <a:solidFill>
                  <a:srgbClr val="1F497D"/>
                </a:solidFill>
                <a:latin typeface="Arial"/>
              </a:rPr>
              <a:t>GSI landslide susceptibility mapping</a:t>
            </a:r>
          </a:p>
          <a:p>
            <a:pPr algn="l"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5A636E"/>
                </a:solidFill>
                <a:latin typeface="Arial"/>
              </a:rPr>
              <a:t>gsi.gov.in — which stretches are treated as landslide-prone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11480" y="4745736"/>
            <a:ext cx="113659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497D"/>
                </a:solidFill>
                <a:latin typeface="Arial"/>
              </a:rPr>
              <a:t>METHOD — HOW THE MODEL WAS BUILT AND JUDGED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11480" y="4983480"/>
            <a:ext cx="11365992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Date-based evaluation — </a:t>
            </a:r>
            <a:r>
              <a:rPr sz="1000" b="0">
                <a:solidFill>
                  <a:srgbClr val="262B33"/>
                </a:solidFill>
                <a:latin typeface="Arial"/>
              </a:rPr>
              <a:t>trained on 109,116 road-days across 42 stretches x 877 days of observed weather, with everything after 2026-03-01 held out. AUC 0.883, Brier 0.092.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1">
                <a:solidFill>
                  <a:srgbClr val="C25E1E"/>
                </a:solidFill>
                <a:latin typeface="Arial"/>
              </a:rPr>
              <a:t>Stated openly: </a:t>
            </a:r>
            <a:r>
              <a:rPr sz="1000" b="0">
                <a:solidFill>
                  <a:srgbClr val="262B33"/>
                </a:solidFill>
                <a:latin typeface="Arial"/>
              </a:rPr>
              <a:t>no public register of past NER road closures exists, so historical labels are drawn from a rainfall-threshold hazard function calibrated on IMD and GSI data. Verified field reports override every drawn label.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