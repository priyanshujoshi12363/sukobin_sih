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1005840"/>
            <a:ext cx="8534400" cy="1188720"/>
          </a:xfrm>
        </p:spPr>
        <p:txBody>
          <a:bodyPr/>
          <a:lstStyle/>
          <a:p>
            <a:pPr algn="l">
              <a:lnSpc>
                <a:spcPct val="100000"/>
              </a:lnSpc>
              <a:spcBef>
                <a:spcPts val="0"/>
              </a:spcBef>
              <a:spcAft>
                <a:spcPts val="0"/>
              </a:spcAft>
            </a:pPr>
            <a:r>
              <a:rPr sz="3000" b="1" i="0">
                <a:solidFill>
                  <a:srgbClr val="1F497D"/>
                </a:solidFill>
                <a:latin typeface="Times New Roman"/>
              </a:rPr>
              <a:t>SUKOBIN</a:t>
            </a:r>
            <a:endParaRPr lang="en-US" b="1" dirty="0">
              <a:solidFill>
                <a:schemeClr val="tx1"/>
              </a:solidFill>
              <a:latin typeface="Times New Roman" panose="02020603050405020304" pitchFamily="18" charset="0"/>
              <a:cs typeface="Times New Roman" panose="02020603050405020304" pitchFamily="18" charset="0"/>
            </a:endParaRPr>
          </a:p>
          <a:p>
            <a:pPr algn="l">
              <a:lnSpc>
                <a:spcPct val="100000"/>
              </a:lnSpc>
              <a:spcBef>
                <a:spcPts val="300"/>
              </a:spcBef>
              <a:spcAft>
                <a:spcPts val="0"/>
              </a:spcAft>
            </a:pPr>
            <a:r>
              <a:rPr sz="1500" b="0" i="0">
                <a:solidFill>
                  <a:srgbClr val="5A636E"/>
                </a:solidFill>
                <a:latin typeface="Arial"/>
              </a:rPr>
              <a:t>Carriers as the sensor network</a:t>
            </a: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lnSpc>
                <a:spcPct val="95000"/>
              </a:lnSpc>
              <a:spcBef>
                <a:spcPts val="0"/>
              </a:spcBef>
              <a:spcAft>
                <a:spcPts val="0"/>
              </a:spcAft>
            </a:pPr>
            <a:r>
              <a:rPr sz="1250" b="1">
                <a:solidFill>
                  <a:srgbClr val="1F497D"/>
                </a:solidFill>
                <a:latin typeface="Arial"/>
              </a:rPr>
              <a:t>Problem Statement ID – </a:t>
            </a:r>
            <a:r>
              <a:rPr sz="1250" b="0">
                <a:solidFill>
                  <a:srgbClr val="262B33"/>
                </a:solidFill>
                <a:latin typeface="Arial"/>
              </a:rPr>
              <a:t>26002</a:t>
            </a:r>
            <a:endParaRPr lang="en-US" dirty="0"/>
          </a:p>
          <a:p>
            <a:pPr algn="l">
              <a:lnSpc>
                <a:spcPct val="95000"/>
              </a:lnSpc>
              <a:spcBef>
                <a:spcPts val="800"/>
              </a:spcBef>
              <a:spcAft>
                <a:spcPts val="0"/>
              </a:spcAft>
            </a:pPr>
            <a:r>
              <a:rPr sz="1150" b="1">
                <a:solidFill>
                  <a:srgbClr val="1F497D"/>
                </a:solidFill>
                <a:latin typeface="Arial"/>
              </a:rPr>
              <a:t>Problem Statement Title – </a:t>
            </a:r>
            <a:r>
              <a:rPr sz="1150" b="0">
                <a:solidFill>
                  <a:srgbClr val="262B33"/>
                </a:solidFill>
                <a:latin typeface="Arial"/>
              </a:rPr>
              <a:t>AI-Enabled Logistics Accessibility Intelligence Platform for the North Eastern Region</a:t>
            </a:r>
          </a:p>
          <a:p>
            <a:pPr algn="l">
              <a:lnSpc>
                <a:spcPct val="95000"/>
              </a:lnSpc>
              <a:spcBef>
                <a:spcPts val="800"/>
              </a:spcBef>
              <a:spcAft>
                <a:spcPts val="0"/>
              </a:spcAft>
            </a:pPr>
            <a:r>
              <a:rPr sz="1250" b="1">
                <a:solidFill>
                  <a:srgbClr val="1F497D"/>
                </a:solidFill>
                <a:latin typeface="Arial"/>
              </a:rPr>
              <a:t>Organization – </a:t>
            </a:r>
            <a:r>
              <a:rPr sz="1250" b="0">
                <a:solidFill>
                  <a:srgbClr val="262B33"/>
                </a:solidFill>
                <a:latin typeface="Arial"/>
              </a:rPr>
              <a:t>Ministry of Development of North Eastern Region (MDoNER)</a:t>
            </a:r>
          </a:p>
          <a:p>
            <a:pPr algn="l">
              <a:lnSpc>
                <a:spcPct val="95000"/>
              </a:lnSpc>
              <a:spcBef>
                <a:spcPts val="800"/>
              </a:spcBef>
              <a:spcAft>
                <a:spcPts val="0"/>
              </a:spcAft>
            </a:pPr>
            <a:r>
              <a:rPr sz="1250" b="1">
                <a:solidFill>
                  <a:srgbClr val="1F497D"/>
                </a:solidFill>
                <a:latin typeface="Arial"/>
              </a:rPr>
              <a:t>Theme – </a:t>
            </a:r>
            <a:r>
              <a:rPr sz="1250" b="0">
                <a:solidFill>
                  <a:srgbClr val="262B33"/>
                </a:solidFill>
                <a:latin typeface="Arial"/>
              </a:rPr>
              <a:t>Transportation &amp; Logistics</a:t>
            </a:r>
          </a:p>
          <a:p>
            <a:pPr algn="l">
              <a:lnSpc>
                <a:spcPct val="95000"/>
              </a:lnSpc>
              <a:spcBef>
                <a:spcPts val="800"/>
              </a:spcBef>
              <a:spcAft>
                <a:spcPts val="0"/>
              </a:spcAft>
            </a:pPr>
            <a:r>
              <a:rPr sz="1250" b="1">
                <a:solidFill>
                  <a:srgbClr val="1F497D"/>
                </a:solidFill>
                <a:latin typeface="Arial"/>
              </a:rPr>
              <a:t>PS Category – </a:t>
            </a:r>
            <a:r>
              <a:rPr sz="1250" b="0">
                <a:solidFill>
                  <a:srgbClr val="262B33"/>
                </a:solidFill>
                <a:latin typeface="Arial"/>
              </a:rPr>
              <a:t>Software</a:t>
            </a:r>
          </a:p>
          <a:p>
            <a:pPr algn="l">
              <a:lnSpc>
                <a:spcPct val="95000"/>
              </a:lnSpc>
              <a:spcBef>
                <a:spcPts val="800"/>
              </a:spcBef>
              <a:spcAft>
                <a:spcPts val="0"/>
              </a:spcAft>
            </a:pPr>
            <a:r>
              <a:rPr sz="1250" b="1">
                <a:solidFill>
                  <a:srgbClr val="1F497D"/>
                </a:solidFill>
                <a:latin typeface="Arial"/>
              </a:rPr>
              <a:t>Team ID – </a:t>
            </a:r>
            <a:r>
              <a:rPr sz="1250" b="0">
                <a:solidFill>
                  <a:srgbClr val="262B33"/>
                </a:solidFill>
                <a:latin typeface="Arial"/>
              </a:rPr>
              <a:t>&lt;team id&gt;</a:t>
            </a:r>
          </a:p>
          <a:p>
            <a:pPr algn="l">
              <a:lnSpc>
                <a:spcPct val="95000"/>
              </a:lnSpc>
              <a:spcBef>
                <a:spcPts val="800"/>
              </a:spcBef>
              <a:spcAft>
                <a:spcPts val="0"/>
              </a:spcAft>
            </a:pPr>
            <a:r>
              <a:rPr sz="1250" b="1">
                <a:solidFill>
                  <a:srgbClr val="1F497D"/>
                </a:solidFill>
                <a:latin typeface="Arial"/>
              </a:rPr>
              <a:t>Team Name – </a:t>
            </a:r>
            <a:r>
              <a:rPr sz="1250" b="0">
                <a:solidFill>
                  <a:srgbClr val="262B33"/>
                </a:solidFill>
                <a:latin typeface="Arial"/>
              </a:rPr>
              <a:t>Sukobin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83080" y="-18288"/>
            <a:ext cx="7818120" cy="1051560"/>
          </a:xfrm>
        </p:spPr>
        <p:txBody>
          <a:bodyPr wrap="square" anchor="ctr"/>
          <a:lstStyle/>
          <a:p>
            <a:pPr eaLnBrk="1" hangingPunct="1"/>
            <a:r>
              <a:rPr lang="en-US" sz="2500" b="1" dirty="0">
                <a:solidFill>
                  <a:srgbClr val="1F497D"/>
                </a:solidFill>
                <a:latin typeface="Times New Roman" panose="02020603050405020304" pitchFamily="18" charset="0"/>
                <a:ea typeface="ＭＳ Ｐゴシック" pitchFamily="1" charset="-128"/>
                <a:cs typeface="Times New Roman" panose="02020603050405020304" pitchFamily="18" charset="0"/>
              </a:rPr>
              <a:t>EVERY VEHICLE ON THE ROAD IS A SENSOR</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143000"/>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DETAILED EXPLANATION OF THE PROPOSED SOLUTION</a:t>
            </a:r>
          </a:p>
        </p:txBody>
      </p:sp>
      <p:sp>
        <p:nvSpPr>
          <p:cNvPr id="15363" name="Rectangle 15362"/>
          <p:cNvSpPr/>
          <p:nvPr/>
        </p:nvSpPr>
        <p:spPr>
          <a:xfrm>
            <a:off x="411480" y="1330452"/>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411480" y="1435608"/>
            <a:ext cx="6400800" cy="11887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1F497D"/>
                </a:solidFill>
                <a:latin typeface="Arial"/>
              </a:rPr>
              <a:t>Nobody drives for us. </a:t>
            </a:r>
            <a:r>
              <a:rPr sz="1050" b="0">
                <a:solidFill>
                  <a:srgbClr val="262B33"/>
                </a:solidFill>
                <a:latin typeface="Arial"/>
              </a:rPr>
              <a:t>A driver declares a journey they were making anyway, and is offered only the consignments lying along that road, within capacity. Instead of costly roadside sensors, vehicles already travelling the region become mobile road probes.</a:t>
            </a:r>
          </a:p>
          <a:p>
            <a:pPr algn="l">
              <a:lnSpc>
                <a:spcPct val="100000"/>
              </a:lnSpc>
              <a:spcBef>
                <a:spcPts val="700"/>
              </a:spcBef>
              <a:spcAft>
                <a:spcPts val="0"/>
              </a:spcAft>
            </a:pPr>
            <a:r>
              <a:rPr sz="1050" b="1">
                <a:solidFill>
                  <a:srgbClr val="1F497D"/>
                </a:solidFill>
                <a:latin typeface="Arial"/>
              </a:rPr>
              <a:t>Their movement is the measurement. </a:t>
            </a:r>
            <a:r>
              <a:rPr sz="1050" b="0">
                <a:solidFill>
                  <a:srgbClr val="262B33"/>
                </a:solidFill>
                <a:latin typeface="Arial"/>
              </a:rPr>
              <a:t>Median speed against each road's baseline gives live accessibility; AI turns it into risk scores, 72-hour forecasts, alerts and alternate routes.</a:t>
            </a:r>
          </a:p>
        </p:txBody>
      </p:sp>
      <p:sp>
        <p:nvSpPr>
          <p:cNvPr id="15365" name="TextBox 15364"/>
          <p:cNvSpPr txBox="1"/>
          <p:nvPr/>
        </p:nvSpPr>
        <p:spPr>
          <a:xfrm>
            <a:off x="411480" y="2697480"/>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INNOVATION AND UNIQUENESS OF THE SOLUTION</a:t>
            </a:r>
          </a:p>
        </p:txBody>
      </p:sp>
      <p:sp>
        <p:nvSpPr>
          <p:cNvPr id="15366" name="Rectangle 15365"/>
          <p:cNvSpPr/>
          <p:nvPr/>
        </p:nvSpPr>
        <p:spPr>
          <a:xfrm>
            <a:off x="411480" y="2884932"/>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411480" y="2990088"/>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Carriers ARE the sensors</a:t>
            </a:r>
          </a:p>
          <a:p>
            <a:pPr algn="l">
              <a:lnSpc>
                <a:spcPct val="92000"/>
              </a:lnSpc>
              <a:spcBef>
                <a:spcPts val="100"/>
              </a:spcBef>
              <a:spcAft>
                <a:spcPts val="0"/>
              </a:spcAft>
            </a:pPr>
            <a:r>
              <a:rPr sz="750" b="0" i="0">
                <a:solidFill>
                  <a:srgbClr val="5A636E"/>
                </a:solidFill>
                <a:latin typeface="Arial"/>
              </a:rPr>
              <a:t>one journey delivers goods and reads the road</a:t>
            </a:r>
          </a:p>
        </p:txBody>
      </p:sp>
      <p:sp>
        <p:nvSpPr>
          <p:cNvPr id="15368" name="Rounded Rectangle 15367"/>
          <p:cNvSpPr/>
          <p:nvPr/>
        </p:nvSpPr>
        <p:spPr>
          <a:xfrm>
            <a:off x="3675888" y="2990088"/>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No hardware, no fleet</a:t>
            </a:r>
          </a:p>
          <a:p>
            <a:pPr algn="l">
              <a:lnSpc>
                <a:spcPct val="92000"/>
              </a:lnSpc>
              <a:spcBef>
                <a:spcPts val="100"/>
              </a:spcBef>
              <a:spcAft>
                <a:spcPts val="0"/>
              </a:spcAft>
            </a:pPr>
            <a:r>
              <a:rPr sz="750" b="0" i="0">
                <a:solidFill>
                  <a:srgbClr val="5A636E"/>
                </a:solidFill>
                <a:latin typeface="Arial"/>
              </a:rPr>
              <a:t>nothing to install, power or maintain</a:t>
            </a:r>
          </a:p>
        </p:txBody>
      </p:sp>
      <p:sp>
        <p:nvSpPr>
          <p:cNvPr id="15369" name="Rounded Rectangle 15368"/>
          <p:cNvSpPr/>
          <p:nvPr/>
        </p:nvSpPr>
        <p:spPr>
          <a:xfrm>
            <a:off x="411480" y="3410712"/>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Voice reporting, 10 languages</a:t>
            </a:r>
          </a:p>
          <a:p>
            <a:pPr algn="l">
              <a:lnSpc>
                <a:spcPct val="92000"/>
              </a:lnSpc>
              <a:spcBef>
                <a:spcPts val="100"/>
              </a:spcBef>
              <a:spcAft>
                <a:spcPts val="0"/>
              </a:spcAft>
            </a:pPr>
            <a:r>
              <a:rPr sz="750" b="0" i="0">
                <a:solidFill>
                  <a:srgbClr val="5A636E"/>
                </a:solidFill>
                <a:latin typeface="Arial"/>
              </a:rPr>
              <a:t>speak it; the model classifies and reads it back</a:t>
            </a:r>
          </a:p>
        </p:txBody>
      </p:sp>
      <p:sp>
        <p:nvSpPr>
          <p:cNvPr id="15370" name="Rounded Rectangle 15369"/>
          <p:cNvSpPr/>
          <p:nvPr/>
        </p:nvSpPr>
        <p:spPr>
          <a:xfrm>
            <a:off x="3675888" y="3410712"/>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Offline-first field reports</a:t>
            </a:r>
          </a:p>
          <a:p>
            <a:pPr algn="l">
              <a:lnSpc>
                <a:spcPct val="92000"/>
              </a:lnSpc>
              <a:spcBef>
                <a:spcPts val="100"/>
              </a:spcBef>
              <a:spcAft>
                <a:spcPts val="0"/>
              </a:spcAft>
            </a:pPr>
            <a:r>
              <a:rPr sz="750" b="0" i="0">
                <a:solidFill>
                  <a:srgbClr val="5A636E"/>
                </a:solidFill>
                <a:latin typeface="Arial"/>
              </a:rPr>
              <a:t>queue on the phone, sync later, never filed twice</a:t>
            </a:r>
          </a:p>
        </p:txBody>
      </p:sp>
      <p:sp>
        <p:nvSpPr>
          <p:cNvPr id="15371" name="Rounded Rectangle 15370"/>
          <p:cNvSpPr/>
          <p:nvPr/>
        </p:nvSpPr>
        <p:spPr>
          <a:xfrm>
            <a:off x="411480" y="3831336"/>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Explainable forecasts</a:t>
            </a:r>
          </a:p>
          <a:p>
            <a:pPr algn="l">
              <a:lnSpc>
                <a:spcPct val="92000"/>
              </a:lnSpc>
              <a:spcBef>
                <a:spcPts val="100"/>
              </a:spcBef>
              <a:spcAft>
                <a:spcPts val="0"/>
              </a:spcAft>
            </a:pPr>
            <a:r>
              <a:rPr sz="750" b="0" i="0">
                <a:solidFill>
                  <a:srgbClr val="5A636E"/>
                </a:solidFill>
                <a:latin typeface="Arial"/>
              </a:rPr>
              <a:t>every number decomposes into the feature that drove it</a:t>
            </a:r>
          </a:p>
        </p:txBody>
      </p:sp>
      <p:sp>
        <p:nvSpPr>
          <p:cNvPr id="15372" name="Rounded Rectangle 15371"/>
          <p:cNvSpPr/>
          <p:nvPr/>
        </p:nvSpPr>
        <p:spPr>
          <a:xfrm>
            <a:off x="3675888" y="3831336"/>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A trust ladder</a:t>
            </a:r>
          </a:p>
          <a:p>
            <a:pPr algn="l">
              <a:lnSpc>
                <a:spcPct val="92000"/>
              </a:lnSpc>
              <a:spcBef>
                <a:spcPts val="100"/>
              </a:spcBef>
              <a:spcAft>
                <a:spcPts val="0"/>
              </a:spcAft>
            </a:pPr>
            <a:r>
              <a:rPr sz="750" b="0" i="0">
                <a:solidFill>
                  <a:srgbClr val="5A636E"/>
                </a:solidFill>
                <a:latin typeface="Arial"/>
              </a:rPr>
              <a:t>an unverified report can slow a road, never close one</a:t>
            </a:r>
          </a:p>
        </p:txBody>
      </p:sp>
      <p:sp>
        <p:nvSpPr>
          <p:cNvPr id="15373" name="Rounded Rectangle 15372"/>
          <p:cNvSpPr/>
          <p:nvPr/>
        </p:nvSpPr>
        <p:spPr>
          <a:xfrm>
            <a:off x="411480" y="4251960"/>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Photo + GPS evidence</a:t>
            </a:r>
          </a:p>
          <a:p>
            <a:pPr algn="l">
              <a:lnSpc>
                <a:spcPct val="92000"/>
              </a:lnSpc>
              <a:spcBef>
                <a:spcPts val="100"/>
              </a:spcBef>
              <a:spcAft>
                <a:spcPts val="0"/>
              </a:spcAft>
            </a:pPr>
            <a:r>
              <a:rPr sz="750" b="0" i="0">
                <a:solidFill>
                  <a:srgbClr val="5A636E"/>
                </a:solidFill>
                <a:latin typeface="Arial"/>
              </a:rPr>
              <a:t>every incident carries proof, not a phone call</a:t>
            </a:r>
          </a:p>
        </p:txBody>
      </p:sp>
      <p:sp>
        <p:nvSpPr>
          <p:cNvPr id="15374" name="Rounded Rectangle 15373"/>
          <p:cNvSpPr/>
          <p:nvPr/>
        </p:nvSpPr>
        <p:spPr>
          <a:xfrm>
            <a:off x="3675888" y="4251960"/>
            <a:ext cx="3136392" cy="36576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lnSpc>
                <a:spcPct val="92000"/>
              </a:lnSpc>
              <a:spcBef>
                <a:spcPts val="0"/>
              </a:spcBef>
              <a:spcAft>
                <a:spcPts val="0"/>
              </a:spcAft>
            </a:pPr>
            <a:r>
              <a:rPr sz="900" b="1" i="0">
                <a:solidFill>
                  <a:srgbClr val="1F497D"/>
                </a:solidFill>
                <a:latin typeface="Arial"/>
              </a:rPr>
              <a:t>It admits what it cannot see</a:t>
            </a:r>
          </a:p>
          <a:p>
            <a:pPr algn="l">
              <a:lnSpc>
                <a:spcPct val="92000"/>
              </a:lnSpc>
              <a:spcBef>
                <a:spcPts val="100"/>
              </a:spcBef>
              <a:spcAft>
                <a:spcPts val="0"/>
              </a:spcAft>
            </a:pPr>
            <a:r>
              <a:rPr sz="750" b="0" i="0">
                <a:solidFill>
                  <a:srgbClr val="5A636E"/>
                </a:solidFill>
                <a:latin typeface="Arial"/>
              </a:rPr>
              <a:t>coverage is published, so grey never looks like broken</a:t>
            </a:r>
          </a:p>
        </p:txBody>
      </p:sp>
      <p:sp>
        <p:nvSpPr>
          <p:cNvPr id="15375" name="TextBox 15374"/>
          <p:cNvSpPr txBox="1"/>
          <p:nvPr/>
        </p:nvSpPr>
        <p:spPr>
          <a:xfrm>
            <a:off x="7086600" y="1417320"/>
            <a:ext cx="469087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ONE TRIP, TWO PRODUCTS</a:t>
            </a:r>
          </a:p>
        </p:txBody>
      </p:sp>
      <p:sp>
        <p:nvSpPr>
          <p:cNvPr id="15376" name="Rounded Rectangle 15375"/>
          <p:cNvSpPr/>
          <p:nvPr/>
        </p:nvSpPr>
        <p:spPr>
          <a:xfrm>
            <a:off x="7086600" y="1655064"/>
            <a:ext cx="4690872" cy="47548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050" b="1" i="0">
                <a:solidFill>
                  <a:srgbClr val="1F497D"/>
                </a:solidFill>
                <a:latin typeface="Arial"/>
              </a:rPr>
              <a:t>Driver declares  Dimapur → Imphal</a:t>
            </a:r>
          </a:p>
        </p:txBody>
      </p:sp>
      <p:sp>
        <p:nvSpPr>
          <p:cNvPr id="15377" name="Down Arrow 15376"/>
          <p:cNvSpPr/>
          <p:nvPr/>
        </p:nvSpPr>
        <p:spPr>
          <a:xfrm>
            <a:off x="9381744" y="2148840"/>
            <a:ext cx="100584" cy="118872"/>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8" name="Rounded Rectangle 15377"/>
          <p:cNvSpPr/>
          <p:nvPr/>
        </p:nvSpPr>
        <p:spPr>
          <a:xfrm>
            <a:off x="7086600" y="2286000"/>
            <a:ext cx="4690872" cy="4754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050" b="0" i="0">
                <a:solidFill>
                  <a:srgbClr val="262B33"/>
                </a:solidFill>
                <a:latin typeface="Arial"/>
              </a:rPr>
              <a:t>Offered only consignments on that road</a:t>
            </a:r>
          </a:p>
        </p:txBody>
      </p:sp>
      <p:sp>
        <p:nvSpPr>
          <p:cNvPr id="15379" name="Down Arrow 15378"/>
          <p:cNvSpPr/>
          <p:nvPr/>
        </p:nvSpPr>
        <p:spPr>
          <a:xfrm>
            <a:off x="9381744" y="2779776"/>
            <a:ext cx="100584" cy="118872"/>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Rounded Rectangle 15379"/>
          <p:cNvSpPr/>
          <p:nvPr/>
        </p:nvSpPr>
        <p:spPr>
          <a:xfrm>
            <a:off x="7086600" y="2916936"/>
            <a:ext cx="4690872" cy="4754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050" b="0" i="0">
                <a:solidFill>
                  <a:srgbClr val="262B33"/>
                </a:solidFill>
                <a:latin typeface="Arial"/>
              </a:rPr>
              <a:t>Drives — GPS every 20 s / 40 m</a:t>
            </a:r>
          </a:p>
        </p:txBody>
      </p:sp>
      <p:sp>
        <p:nvSpPr>
          <p:cNvPr id="15381" name="Down Arrow 15380"/>
          <p:cNvSpPr/>
          <p:nvPr/>
        </p:nvSpPr>
        <p:spPr>
          <a:xfrm>
            <a:off x="9381744" y="3410712"/>
            <a:ext cx="100584" cy="118872"/>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2" name="Rounded Rectangle 15381"/>
          <p:cNvSpPr/>
          <p:nvPr/>
        </p:nvSpPr>
        <p:spPr>
          <a:xfrm>
            <a:off x="7086600" y="3547872"/>
            <a:ext cx="4690872" cy="47548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050" b="1" i="0">
                <a:solidFill>
                  <a:srgbClr val="1F497D"/>
                </a:solidFill>
                <a:latin typeface="Arial"/>
              </a:rPr>
              <a:t>Median speed vs baseline → road status</a:t>
            </a:r>
          </a:p>
        </p:txBody>
      </p:sp>
      <p:sp>
        <p:nvSpPr>
          <p:cNvPr id="15383" name="Down Arrow 15382"/>
          <p:cNvSpPr/>
          <p:nvPr/>
        </p:nvSpPr>
        <p:spPr>
          <a:xfrm>
            <a:off x="9381744" y="4041648"/>
            <a:ext cx="100584" cy="118872"/>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Rounded Rectangle 15383"/>
          <p:cNvSpPr/>
          <p:nvPr/>
        </p:nvSpPr>
        <p:spPr>
          <a:xfrm>
            <a:off x="7086600" y="4178808"/>
            <a:ext cx="4690872" cy="4754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050" b="0" i="0">
                <a:solidFill>
                  <a:srgbClr val="262B33"/>
                </a:solidFill>
                <a:latin typeface="Arial"/>
              </a:rPr>
              <a:t>Alerts · forecast · re-route · dashboard</a:t>
            </a:r>
          </a:p>
        </p:txBody>
      </p:sp>
      <p:sp>
        <p:nvSpPr>
          <p:cNvPr id="15385" name="TextBox 15384"/>
          <p:cNvSpPr txBox="1"/>
          <p:nvPr/>
        </p:nvSpPr>
        <p:spPr>
          <a:xfrm>
            <a:off x="411480" y="4764024"/>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HOW IT ADDRESSES THE PROBLEM — EVERY CLAUSE OF THE PROBLEM STATEMENT</a:t>
            </a:r>
          </a:p>
        </p:txBody>
      </p:sp>
      <p:sp>
        <p:nvSpPr>
          <p:cNvPr id="15386" name="Rectangle 15385"/>
          <p:cNvSpPr/>
          <p:nvPr/>
        </p:nvSpPr>
        <p:spPr>
          <a:xfrm>
            <a:off x="411480" y="4951476"/>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411480" y="5056632"/>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(a)  </a:t>
            </a:r>
            <a:r>
              <a:rPr sz="1000" b="1">
                <a:solidFill>
                  <a:srgbClr val="1F497D"/>
                </a:solidFill>
                <a:latin typeface="Arial"/>
              </a:rPr>
              <a:t>Road &amp; bridge accessibility</a:t>
            </a:r>
          </a:p>
          <a:p>
            <a:pPr algn="l">
              <a:lnSpc>
                <a:spcPct val="95000"/>
              </a:lnSpc>
              <a:spcBef>
                <a:spcPts val="200"/>
              </a:spcBef>
              <a:spcAft>
                <a:spcPts val="0"/>
              </a:spcAft>
            </a:pPr>
            <a:r>
              <a:rPr sz="850" b="0" i="0">
                <a:solidFill>
                  <a:srgbClr val="5A636E"/>
                </a:solidFill>
                <a:latin typeface="Arial"/>
              </a:rPr>
              <a:t>42 stretches, 3,567 km, 82 districts, live from GPS</a:t>
            </a:r>
          </a:p>
        </p:txBody>
      </p:sp>
      <p:sp>
        <p:nvSpPr>
          <p:cNvPr id="15388" name="Rounded Rectangle 15387"/>
          <p:cNvSpPr/>
          <p:nvPr/>
        </p:nvSpPr>
        <p:spPr>
          <a:xfrm>
            <a:off x="3280410" y="5056632"/>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(b)  </a:t>
            </a:r>
            <a:r>
              <a:rPr sz="1000" b="1">
                <a:solidFill>
                  <a:srgbClr val="1F497D"/>
                </a:solidFill>
                <a:latin typeface="Arial"/>
              </a:rPr>
              <a:t>Disruption prediction</a:t>
            </a:r>
          </a:p>
          <a:p>
            <a:pPr algn="l">
              <a:lnSpc>
                <a:spcPct val="95000"/>
              </a:lnSpc>
              <a:spcBef>
                <a:spcPts val="200"/>
              </a:spcBef>
              <a:spcAft>
                <a:spcPts val="0"/>
              </a:spcAft>
            </a:pPr>
            <a:r>
              <a:rPr sz="850" b="0" i="0">
                <a:solidFill>
                  <a:srgbClr val="5A636E"/>
                </a:solidFill>
                <a:latin typeface="Arial"/>
              </a:rPr>
              <a:t>24 / 48 / 72 h closure risk on every road</a:t>
            </a:r>
          </a:p>
        </p:txBody>
      </p:sp>
      <p:sp>
        <p:nvSpPr>
          <p:cNvPr id="15389" name="Rounded Rectangle 15388"/>
          <p:cNvSpPr/>
          <p:nvPr/>
        </p:nvSpPr>
        <p:spPr>
          <a:xfrm>
            <a:off x="6149340" y="5056632"/>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(c)  </a:t>
            </a:r>
            <a:r>
              <a:rPr sz="1000" b="1">
                <a:solidFill>
                  <a:srgbClr val="1F497D"/>
                </a:solidFill>
                <a:latin typeface="Arial"/>
              </a:rPr>
              <a:t>Alternate routes + delay</a:t>
            </a:r>
          </a:p>
          <a:p>
            <a:pPr algn="l">
              <a:lnSpc>
                <a:spcPct val="95000"/>
              </a:lnSpc>
              <a:spcBef>
                <a:spcPts val="200"/>
              </a:spcBef>
              <a:spcAft>
                <a:spcPts val="0"/>
              </a:spcAft>
            </a:pPr>
            <a:r>
              <a:rPr sz="850" b="0" i="0">
                <a:solidFill>
                  <a:srgbClr val="5A636E"/>
                </a:solidFill>
                <a:latin typeface="Arial"/>
              </a:rPr>
              <a:t>3 alternatives scored, condition-adjusted ETA</a:t>
            </a:r>
          </a:p>
        </p:txBody>
      </p:sp>
      <p:sp>
        <p:nvSpPr>
          <p:cNvPr id="15390" name="Rounded Rectangle 15389"/>
          <p:cNvSpPr/>
          <p:nvPr/>
        </p:nvSpPr>
        <p:spPr>
          <a:xfrm>
            <a:off x="9018270" y="5056632"/>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(d)  </a:t>
            </a:r>
            <a:r>
              <a:rPr sz="1000" b="1">
                <a:solidFill>
                  <a:srgbClr val="1F497D"/>
                </a:solidFill>
                <a:latin typeface="Arial"/>
              </a:rPr>
              <a:t>GPS tracking of essentials</a:t>
            </a:r>
          </a:p>
          <a:p>
            <a:pPr algn="l">
              <a:lnSpc>
                <a:spcPct val="95000"/>
              </a:lnSpc>
              <a:spcBef>
                <a:spcPts val="200"/>
              </a:spcBef>
              <a:spcAft>
                <a:spcPts val="0"/>
              </a:spcAft>
            </a:pPr>
            <a:r>
              <a:rPr sz="850" b="0" i="0">
                <a:solidFill>
                  <a:srgbClr val="5A636E"/>
                </a:solidFill>
                <a:latin typeface="Arial"/>
              </a:rPr>
              <a:t>medicines, food, produce, construction material</a:t>
            </a:r>
          </a:p>
        </p:txBody>
      </p:sp>
      <p:sp>
        <p:nvSpPr>
          <p:cNvPr id="15391" name="Rounded Rectangle 15390"/>
          <p:cNvSpPr/>
          <p:nvPr/>
        </p:nvSpPr>
        <p:spPr>
          <a:xfrm>
            <a:off x="411480" y="5632704"/>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(e)  </a:t>
            </a:r>
            <a:r>
              <a:rPr sz="1000" b="1">
                <a:solidFill>
                  <a:srgbClr val="1F497D"/>
                </a:solidFill>
                <a:latin typeface="Arial"/>
              </a:rPr>
              <a:t>Automated alerts</a:t>
            </a:r>
          </a:p>
          <a:p>
            <a:pPr algn="l">
              <a:lnSpc>
                <a:spcPct val="95000"/>
              </a:lnSpc>
              <a:spcBef>
                <a:spcPts val="200"/>
              </a:spcBef>
              <a:spcAft>
                <a:spcPts val="0"/>
              </a:spcAft>
            </a:pPr>
            <a:r>
              <a:rPr sz="850" b="0" i="0">
                <a:solidFill>
                  <a:srgbClr val="5A636E"/>
                </a:solidFill>
                <a:latin typeface="Arial"/>
              </a:rPr>
              <a:t>blocked road, cut-off region, high-risk corridor</a:t>
            </a:r>
          </a:p>
        </p:txBody>
      </p:sp>
      <p:sp>
        <p:nvSpPr>
          <p:cNvPr id="15392" name="Rounded Rectangle 15391"/>
          <p:cNvSpPr/>
          <p:nvPr/>
        </p:nvSpPr>
        <p:spPr>
          <a:xfrm>
            <a:off x="3280410" y="5632704"/>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(f)  </a:t>
            </a:r>
            <a:r>
              <a:rPr sz="1000" b="1">
                <a:solidFill>
                  <a:srgbClr val="1F497D"/>
                </a:solidFill>
                <a:latin typeface="Arial"/>
              </a:rPr>
              <a:t>Field reporting</a:t>
            </a:r>
          </a:p>
          <a:p>
            <a:pPr algn="l">
              <a:lnSpc>
                <a:spcPct val="95000"/>
              </a:lnSpc>
              <a:spcBef>
                <a:spcPts val="200"/>
              </a:spcBef>
              <a:spcAft>
                <a:spcPts val="0"/>
              </a:spcAft>
            </a:pPr>
            <a:r>
              <a:rPr sz="850" b="0" i="0">
                <a:solidFill>
                  <a:srgbClr val="5A636E"/>
                </a:solidFill>
                <a:latin typeface="Arial"/>
              </a:rPr>
              <a:t>photo + GPS + voice, queued when offline</a:t>
            </a:r>
          </a:p>
        </p:txBody>
      </p:sp>
      <p:sp>
        <p:nvSpPr>
          <p:cNvPr id="15393" name="Rounded Rectangle 15392"/>
          <p:cNvSpPr/>
          <p:nvPr/>
        </p:nvSpPr>
        <p:spPr>
          <a:xfrm>
            <a:off x="6149340" y="5632704"/>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(g)  </a:t>
            </a:r>
            <a:r>
              <a:rPr sz="1000" b="1">
                <a:solidFill>
                  <a:srgbClr val="1F497D"/>
                </a:solidFill>
                <a:latin typeface="Arial"/>
              </a:rPr>
              <a:t>Central dashboard</a:t>
            </a:r>
          </a:p>
          <a:p>
            <a:pPr algn="l">
              <a:lnSpc>
                <a:spcPct val="95000"/>
              </a:lnSpc>
              <a:spcBef>
                <a:spcPts val="200"/>
              </a:spcBef>
              <a:spcAft>
                <a:spcPts val="0"/>
              </a:spcAft>
            </a:pPr>
            <a:r>
              <a:rPr sz="850" b="0" i="0">
                <a:solidFill>
                  <a:srgbClr val="5A636E"/>
                </a:solidFill>
                <a:latin typeface="Arial"/>
              </a:rPr>
              <a:t>district status, bottlenecks, emergency routes</a:t>
            </a:r>
          </a:p>
        </p:txBody>
      </p:sp>
      <p:sp>
        <p:nvSpPr>
          <p:cNvPr id="15394" name="Rounded Rectangle 15393"/>
          <p:cNvSpPr/>
          <p:nvPr/>
        </p:nvSpPr>
        <p:spPr>
          <a:xfrm>
            <a:off x="9018270" y="5632704"/>
            <a:ext cx="2759202" cy="5029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00" b="1">
                <a:solidFill>
                  <a:srgbClr val="0070C0"/>
                </a:solidFill>
                <a:latin typeface="Arial"/>
              </a:rPr>
              <a:t>(h)  </a:t>
            </a:r>
            <a:r>
              <a:rPr sz="1000" b="1">
                <a:solidFill>
                  <a:srgbClr val="1F497D"/>
                </a:solidFill>
                <a:latin typeface="Arial"/>
              </a:rPr>
              <a:t>Multilingual + offline</a:t>
            </a:r>
          </a:p>
          <a:p>
            <a:pPr algn="l">
              <a:lnSpc>
                <a:spcPct val="95000"/>
              </a:lnSpc>
              <a:spcBef>
                <a:spcPts val="200"/>
              </a:spcBef>
              <a:spcAft>
                <a:spcPts val="0"/>
              </a:spcAft>
            </a:pPr>
            <a:r>
              <a:rPr sz="850" b="0" i="0">
                <a:solidFill>
                  <a:srgbClr val="5A636E"/>
                </a:solidFill>
                <a:latin typeface="Arial"/>
              </a:rPr>
              <a:t>10 languages, sync when the signal returns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TECHNOLOGIES TO BE USED (PROGRAMMING LANGUAGES, FRAMEWORKS, HARDWARE)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3666744"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SOFTWARE STACK</a:t>
            </a:r>
          </a:p>
        </p:txBody>
      </p:sp>
      <p:sp>
        <p:nvSpPr>
          <p:cNvPr id="17413" name="Rounded Rectangle 17412"/>
          <p:cNvSpPr/>
          <p:nvPr/>
        </p:nvSpPr>
        <p:spPr>
          <a:xfrm>
            <a:off x="411480" y="1673352"/>
            <a:ext cx="3666744" cy="15179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8000"/>
              </a:lnSpc>
              <a:spcBef>
                <a:spcPts val="0"/>
              </a:spcBef>
              <a:spcAft>
                <a:spcPts val="0"/>
              </a:spcAft>
            </a:pPr>
            <a:r>
              <a:rPr sz="950" b="1">
                <a:solidFill>
                  <a:srgbClr val="1F497D"/>
                </a:solidFill>
                <a:latin typeface="Arial"/>
              </a:rPr>
              <a:t>Mobile  </a:t>
            </a:r>
            <a:r>
              <a:rPr sz="950" b="0">
                <a:solidFill>
                  <a:srgbClr val="262B33"/>
                </a:solidFill>
                <a:latin typeface="Arial"/>
              </a:rPr>
              <a:t>Kotlin + XML — 4 Android apps: customer, merchant, partner, officer</a:t>
            </a:r>
          </a:p>
          <a:p>
            <a:pPr algn="l">
              <a:lnSpc>
                <a:spcPct val="98000"/>
              </a:lnSpc>
              <a:spcBef>
                <a:spcPts val="700"/>
              </a:spcBef>
              <a:spcAft>
                <a:spcPts val="0"/>
              </a:spcAft>
            </a:pPr>
            <a:r>
              <a:rPr sz="950" b="1">
                <a:solidFill>
                  <a:srgbClr val="1F497D"/>
                </a:solidFill>
                <a:latin typeface="Arial"/>
              </a:rPr>
              <a:t>Web  </a:t>
            </a:r>
            <a:r>
              <a:rPr sz="950" b="0">
                <a:solidFill>
                  <a:srgbClr val="262B33"/>
                </a:solidFill>
                <a:latin typeface="Arial"/>
              </a:rPr>
              <a:t>React · Vite · MapLibre GL dashboard</a:t>
            </a:r>
          </a:p>
          <a:p>
            <a:pPr algn="l">
              <a:lnSpc>
                <a:spcPct val="98000"/>
              </a:lnSpc>
              <a:spcBef>
                <a:spcPts val="700"/>
              </a:spcBef>
              <a:spcAft>
                <a:spcPts val="0"/>
              </a:spcAft>
            </a:pPr>
            <a:r>
              <a:rPr sz="950" b="1">
                <a:solidFill>
                  <a:srgbClr val="1F497D"/>
                </a:solidFill>
                <a:latin typeface="Arial"/>
              </a:rPr>
              <a:t>Backend  </a:t>
            </a:r>
            <a:r>
              <a:rPr sz="950" b="0">
                <a:solidFill>
                  <a:srgbClr val="262B33"/>
                </a:solidFill>
                <a:latin typeface="Arial"/>
              </a:rPr>
              <a:t>Node.js · Express 5 · MongoDB 2dsphere · JWT</a:t>
            </a:r>
          </a:p>
          <a:p>
            <a:pPr algn="l">
              <a:lnSpc>
                <a:spcPct val="98000"/>
              </a:lnSpc>
              <a:spcBef>
                <a:spcPts val="700"/>
              </a:spcBef>
              <a:spcAft>
                <a:spcPts val="0"/>
              </a:spcAft>
            </a:pPr>
            <a:r>
              <a:rPr sz="950" b="1">
                <a:solidFill>
                  <a:srgbClr val="1F497D"/>
                </a:solidFill>
                <a:latin typeface="Arial"/>
              </a:rPr>
              <a:t>Cloud  </a:t>
            </a:r>
            <a:r>
              <a:rPr sz="950" b="0">
                <a:solidFill>
                  <a:srgbClr val="262B33"/>
                </a:solidFill>
                <a:latin typeface="Arial"/>
              </a:rPr>
              <a:t>Render · Atlas · Cloudinary · FCM</a:t>
            </a:r>
          </a:p>
        </p:txBody>
      </p:sp>
      <p:sp>
        <p:nvSpPr>
          <p:cNvPr id="17414" name="TextBox 17413"/>
          <p:cNvSpPr txBox="1"/>
          <p:nvPr/>
        </p:nvSpPr>
        <p:spPr>
          <a:xfrm>
            <a:off x="4261104" y="1435608"/>
            <a:ext cx="3666744"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AI / ML AND DATA</a:t>
            </a:r>
          </a:p>
        </p:txBody>
      </p:sp>
      <p:sp>
        <p:nvSpPr>
          <p:cNvPr id="17415" name="Rounded Rectangle 17414"/>
          <p:cNvSpPr/>
          <p:nvPr/>
        </p:nvSpPr>
        <p:spPr>
          <a:xfrm>
            <a:off x="4261104" y="1673352"/>
            <a:ext cx="3666744" cy="15179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8000"/>
              </a:lnSpc>
              <a:spcBef>
                <a:spcPts val="0"/>
              </a:spcBef>
              <a:spcAft>
                <a:spcPts val="0"/>
              </a:spcAft>
            </a:pPr>
            <a:r>
              <a:rPr sz="950" b="1">
                <a:solidFill>
                  <a:srgbClr val="1F497D"/>
                </a:solidFill>
                <a:latin typeface="Arial"/>
              </a:rPr>
              <a:t>Model  </a:t>
            </a:r>
            <a:r>
              <a:rPr sz="950" b="0">
                <a:solidFill>
                  <a:srgbClr val="262B33"/>
                </a:solidFill>
                <a:latin typeface="Arial"/>
              </a:rPr>
              <a:t>Logistic regression vs gradient-boosted stumps, 18 features</a:t>
            </a:r>
          </a:p>
          <a:p>
            <a:pPr algn="l">
              <a:lnSpc>
                <a:spcPct val="98000"/>
              </a:lnSpc>
              <a:spcBef>
                <a:spcPts val="700"/>
              </a:spcBef>
              <a:spcAft>
                <a:spcPts val="0"/>
              </a:spcAft>
            </a:pPr>
            <a:r>
              <a:rPr sz="950" b="1">
                <a:solidFill>
                  <a:srgbClr val="1F497D"/>
                </a:solidFill>
                <a:latin typeface="Arial"/>
              </a:rPr>
              <a:t>Trained on  </a:t>
            </a:r>
            <a:r>
              <a:rPr sz="950" b="0">
                <a:solidFill>
                  <a:srgbClr val="262B33"/>
                </a:solidFill>
                <a:latin typeface="Arial"/>
              </a:rPr>
              <a:t>109,116 road-days · AUC 0.883 · Brier 0.092</a:t>
            </a:r>
          </a:p>
          <a:p>
            <a:pPr algn="l">
              <a:lnSpc>
                <a:spcPct val="98000"/>
              </a:lnSpc>
              <a:spcBef>
                <a:spcPts val="700"/>
              </a:spcBef>
              <a:spcAft>
                <a:spcPts val="0"/>
              </a:spcAft>
            </a:pPr>
            <a:r>
              <a:rPr sz="950" b="1">
                <a:solidFill>
                  <a:srgbClr val="1F497D"/>
                </a:solidFill>
                <a:latin typeface="Arial"/>
              </a:rPr>
              <a:t>Weather  </a:t>
            </a:r>
            <a:r>
              <a:rPr sz="950" b="0">
                <a:solidFill>
                  <a:srgbClr val="262B33"/>
                </a:solidFill>
                <a:latin typeface="Arial"/>
              </a:rPr>
              <a:t>Open-Meteo archive + forecast, hourly</a:t>
            </a:r>
          </a:p>
          <a:p>
            <a:pPr algn="l">
              <a:lnSpc>
                <a:spcPct val="98000"/>
              </a:lnSpc>
              <a:spcBef>
                <a:spcPts val="700"/>
              </a:spcBef>
              <a:spcAft>
                <a:spcPts val="0"/>
              </a:spcAft>
            </a:pPr>
            <a:r>
              <a:rPr sz="950" b="1">
                <a:solidFill>
                  <a:srgbClr val="1F497D"/>
                </a:solidFill>
                <a:latin typeface="Arial"/>
              </a:rPr>
              <a:t>Roads  </a:t>
            </a:r>
            <a:r>
              <a:rPr sz="950" b="0">
                <a:solidFill>
                  <a:srgbClr val="262B33"/>
                </a:solidFill>
                <a:latin typeface="Arial"/>
              </a:rPr>
              <a:t>OSRM geometry and route alternates · VAHAN lookup</a:t>
            </a:r>
          </a:p>
        </p:txBody>
      </p:sp>
      <p:sp>
        <p:nvSpPr>
          <p:cNvPr id="17416" name="TextBox 17415"/>
          <p:cNvSpPr txBox="1"/>
          <p:nvPr/>
        </p:nvSpPr>
        <p:spPr>
          <a:xfrm>
            <a:off x="8110728" y="1435608"/>
            <a:ext cx="3666744"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PLATFORM COMPONENTS</a:t>
            </a:r>
          </a:p>
        </p:txBody>
      </p:sp>
      <p:sp>
        <p:nvSpPr>
          <p:cNvPr id="17417" name="Rounded Rectangle 17416"/>
          <p:cNvSpPr/>
          <p:nvPr/>
        </p:nvSpPr>
        <p:spPr>
          <a:xfrm>
            <a:off x="8110728" y="1673352"/>
            <a:ext cx="3666744" cy="15179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8000"/>
              </a:lnSpc>
              <a:spcBef>
                <a:spcPts val="0"/>
              </a:spcBef>
              <a:spcAft>
                <a:spcPts val="0"/>
              </a:spcAft>
            </a:pPr>
            <a:r>
              <a:rPr sz="950" b="1">
                <a:solidFill>
                  <a:srgbClr val="1F497D"/>
                </a:solidFill>
                <a:latin typeface="Arial"/>
              </a:rPr>
              <a:t>Hardware  </a:t>
            </a:r>
            <a:r>
              <a:rPr sz="950" b="0">
                <a:solidFill>
                  <a:srgbClr val="262B33"/>
                </a:solidFill>
                <a:latin typeface="Arial"/>
              </a:rPr>
              <a:t>None — the driver's own phone is the sensor</a:t>
            </a:r>
          </a:p>
          <a:p>
            <a:pPr algn="l">
              <a:lnSpc>
                <a:spcPct val="98000"/>
              </a:lnSpc>
              <a:spcBef>
                <a:spcPts val="700"/>
              </a:spcBef>
              <a:spcAft>
                <a:spcPts val="0"/>
              </a:spcAft>
            </a:pPr>
            <a:r>
              <a:rPr sz="950" b="1">
                <a:solidFill>
                  <a:srgbClr val="1F497D"/>
                </a:solidFill>
                <a:latin typeface="Arial"/>
              </a:rPr>
              <a:t>Engines  </a:t>
            </a:r>
            <a:r>
              <a:rPr sz="950" b="0">
                <a:solidFill>
                  <a:srgbClr val="262B33"/>
                </a:solidFill>
                <a:latin typeface="Arial"/>
              </a:rPr>
              <a:t>Route prediction · GIS monitoring · GPS tracking · alerts</a:t>
            </a:r>
          </a:p>
          <a:p>
            <a:pPr algn="l">
              <a:lnSpc>
                <a:spcPct val="98000"/>
              </a:lnSpc>
              <a:spcBef>
                <a:spcPts val="700"/>
              </a:spcBef>
              <a:spcAft>
                <a:spcPts val="0"/>
              </a:spcAft>
            </a:pPr>
            <a:r>
              <a:rPr sz="950" b="1">
                <a:solidFill>
                  <a:srgbClr val="1F497D"/>
                </a:solidFill>
                <a:latin typeface="Arial"/>
              </a:rPr>
              <a:t>Field layer  </a:t>
            </a:r>
            <a:r>
              <a:rPr sz="950" b="0">
                <a:solidFill>
                  <a:srgbClr val="262B33"/>
                </a:solidFill>
                <a:latin typeface="Arial"/>
              </a:rPr>
              <a:t>Photo, GPS and voice reporting in 10 languages</a:t>
            </a:r>
          </a:p>
          <a:p>
            <a:pPr algn="l">
              <a:lnSpc>
                <a:spcPct val="98000"/>
              </a:lnSpc>
              <a:spcBef>
                <a:spcPts val="700"/>
              </a:spcBef>
              <a:spcAft>
                <a:spcPts val="0"/>
              </a:spcAft>
            </a:pPr>
            <a:r>
              <a:rPr sz="950" b="1">
                <a:solidFill>
                  <a:srgbClr val="1F497D"/>
                </a:solidFill>
                <a:latin typeface="Arial"/>
              </a:rPr>
              <a:t>Resilience  </a:t>
            </a:r>
            <a:r>
              <a:rPr sz="950" b="0">
                <a:solidFill>
                  <a:srgbClr val="262B33"/>
                </a:solidFill>
                <a:latin typeface="Arial"/>
              </a:rPr>
              <a:t>Offline queue, cloud storage, secure token auth</a:t>
            </a:r>
          </a:p>
        </p:txBody>
      </p:sp>
      <p:sp>
        <p:nvSpPr>
          <p:cNvPr id="17418" name="TextBox 17417"/>
          <p:cNvSpPr txBox="1"/>
          <p:nvPr/>
        </p:nvSpPr>
        <p:spPr>
          <a:xfrm>
            <a:off x="411480" y="3264408"/>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METHODOLOGY AND PROCESS FOR IMPLEMENTATION</a:t>
            </a:r>
          </a:p>
        </p:txBody>
      </p:sp>
      <p:sp>
        <p:nvSpPr>
          <p:cNvPr id="17419" name="Rectangle 17418"/>
          <p:cNvSpPr/>
          <p:nvPr/>
        </p:nvSpPr>
        <p:spPr>
          <a:xfrm>
            <a:off x="411480" y="3451860"/>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411480" y="3557016"/>
            <a:ext cx="1696212" cy="56692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Declare route</a:t>
            </a:r>
          </a:p>
          <a:p>
            <a:pPr algn="ctr">
              <a:lnSpc>
                <a:spcPct val="95000"/>
              </a:lnSpc>
              <a:spcBef>
                <a:spcPts val="100"/>
              </a:spcBef>
              <a:spcAft>
                <a:spcPts val="0"/>
              </a:spcAft>
            </a:pPr>
            <a:r>
              <a:rPr sz="800" b="0" i="0">
                <a:solidFill>
                  <a:srgbClr val="5A636E"/>
                </a:solidFill>
                <a:latin typeface="Arial"/>
              </a:rPr>
              <a:t>driver states A → B</a:t>
            </a:r>
          </a:p>
        </p:txBody>
      </p:sp>
      <p:sp>
        <p:nvSpPr>
          <p:cNvPr id="17421" name="Right Arrow 17420"/>
          <p:cNvSpPr/>
          <p:nvPr/>
        </p:nvSpPr>
        <p:spPr>
          <a:xfrm>
            <a:off x="2148840" y="3799332"/>
            <a:ext cx="155448"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2345436" y="3557016"/>
            <a:ext cx="1696212" cy="56692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Match corridor</a:t>
            </a:r>
          </a:p>
          <a:p>
            <a:pPr algn="ctr">
              <a:lnSpc>
                <a:spcPct val="95000"/>
              </a:lnSpc>
              <a:spcBef>
                <a:spcPts val="100"/>
              </a:spcBef>
              <a:spcAft>
                <a:spcPts val="0"/>
              </a:spcAft>
            </a:pPr>
            <a:r>
              <a:rPr sz="800" b="0" i="0">
                <a:solidFill>
                  <a:srgbClr val="5A636E"/>
                </a:solidFill>
                <a:latin typeface="Arial"/>
              </a:rPr>
              <a:t>consignments on that road</a:t>
            </a:r>
          </a:p>
        </p:txBody>
      </p:sp>
      <p:sp>
        <p:nvSpPr>
          <p:cNvPr id="17423" name="Right Arrow 17422"/>
          <p:cNvSpPr/>
          <p:nvPr/>
        </p:nvSpPr>
        <p:spPr>
          <a:xfrm>
            <a:off x="4082796" y="3799332"/>
            <a:ext cx="155448"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4279392" y="3557016"/>
            <a:ext cx="1696212" cy="56692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Stream GPS</a:t>
            </a:r>
          </a:p>
          <a:p>
            <a:pPr algn="ctr">
              <a:lnSpc>
                <a:spcPct val="95000"/>
              </a:lnSpc>
              <a:spcBef>
                <a:spcPts val="100"/>
              </a:spcBef>
              <a:spcAft>
                <a:spcPts val="0"/>
              </a:spcAft>
            </a:pPr>
            <a:r>
              <a:rPr sz="800" b="0" i="0">
                <a:solidFill>
                  <a:srgbClr val="5A636E"/>
                </a:solidFill>
                <a:latin typeface="Arial"/>
              </a:rPr>
              <a:t>every 20 s / 40 m</a:t>
            </a:r>
          </a:p>
        </p:txBody>
      </p:sp>
      <p:sp>
        <p:nvSpPr>
          <p:cNvPr id="17425" name="Right Arrow 17424"/>
          <p:cNvSpPr/>
          <p:nvPr/>
        </p:nvSpPr>
        <p:spPr>
          <a:xfrm>
            <a:off x="6016752" y="3799332"/>
            <a:ext cx="155448"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ounded Rectangle 17425"/>
          <p:cNvSpPr/>
          <p:nvPr/>
        </p:nvSpPr>
        <p:spPr>
          <a:xfrm>
            <a:off x="6213348" y="3557016"/>
            <a:ext cx="1696212" cy="56692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Map-match</a:t>
            </a:r>
          </a:p>
          <a:p>
            <a:pPr algn="ctr">
              <a:lnSpc>
                <a:spcPct val="95000"/>
              </a:lnSpc>
              <a:spcBef>
                <a:spcPts val="100"/>
              </a:spcBef>
              <a:spcAft>
                <a:spcPts val="0"/>
              </a:spcAft>
            </a:pPr>
            <a:r>
              <a:rPr sz="800" b="0" i="0">
                <a:solidFill>
                  <a:srgbClr val="5A636E"/>
                </a:solidFill>
                <a:latin typeface="Arial"/>
              </a:rPr>
              <a:t>to a road ≤ 600 m</a:t>
            </a:r>
          </a:p>
        </p:txBody>
      </p:sp>
      <p:sp>
        <p:nvSpPr>
          <p:cNvPr id="17427" name="Right Arrow 17426"/>
          <p:cNvSpPr/>
          <p:nvPr/>
        </p:nvSpPr>
        <p:spPr>
          <a:xfrm>
            <a:off x="7950708" y="3799332"/>
            <a:ext cx="155448"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8147304" y="3557016"/>
            <a:ext cx="1696212" cy="56692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Resolve status</a:t>
            </a:r>
          </a:p>
          <a:p>
            <a:pPr algn="ctr">
              <a:lnSpc>
                <a:spcPct val="95000"/>
              </a:lnSpc>
              <a:spcBef>
                <a:spcPts val="100"/>
              </a:spcBef>
              <a:spcAft>
                <a:spcPts val="0"/>
              </a:spcAft>
            </a:pPr>
            <a:r>
              <a:rPr sz="800" b="0" i="0">
                <a:solidFill>
                  <a:srgbClr val="5A636E"/>
                </a:solidFill>
                <a:latin typeface="Arial"/>
              </a:rPr>
              <a:t>median speed vs baseline</a:t>
            </a:r>
          </a:p>
        </p:txBody>
      </p:sp>
      <p:sp>
        <p:nvSpPr>
          <p:cNvPr id="17429" name="Right Arrow 17428"/>
          <p:cNvSpPr/>
          <p:nvPr/>
        </p:nvSpPr>
        <p:spPr>
          <a:xfrm>
            <a:off x="9884664" y="3799332"/>
            <a:ext cx="155448"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Rounded Rectangle 17429"/>
          <p:cNvSpPr/>
          <p:nvPr/>
        </p:nvSpPr>
        <p:spPr>
          <a:xfrm>
            <a:off x="10081260" y="3557016"/>
            <a:ext cx="1696212" cy="56692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950" b="1" i="0">
                <a:solidFill>
                  <a:srgbClr val="1F497D"/>
                </a:solidFill>
                <a:latin typeface="Arial"/>
              </a:rPr>
              <a:t>Alert + re-route</a:t>
            </a:r>
          </a:p>
          <a:p>
            <a:pPr algn="ctr">
              <a:lnSpc>
                <a:spcPct val="95000"/>
              </a:lnSpc>
              <a:spcBef>
                <a:spcPts val="100"/>
              </a:spcBef>
              <a:spcAft>
                <a:spcPts val="0"/>
              </a:spcAft>
            </a:pPr>
            <a:r>
              <a:rPr sz="800" b="0" i="0">
                <a:solidFill>
                  <a:srgbClr val="5A636E"/>
                </a:solidFill>
                <a:latin typeface="Arial"/>
              </a:rPr>
              <a:t>and forecast 72 h</a:t>
            </a:r>
          </a:p>
        </p:txBody>
      </p:sp>
      <p:sp>
        <p:nvSpPr>
          <p:cNvPr id="17431" name="TextBox 17430"/>
          <p:cNvSpPr txBox="1"/>
          <p:nvPr/>
        </p:nvSpPr>
        <p:spPr>
          <a:xfrm>
            <a:off x="411480" y="427024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ALGORITHM 1 — CORRIDOR MATCHING</a:t>
            </a:r>
          </a:p>
        </p:txBody>
      </p:sp>
      <p:sp>
        <p:nvSpPr>
          <p:cNvPr id="17432" name="Rounded Rectangle 17431"/>
          <p:cNvSpPr/>
          <p:nvPr/>
        </p:nvSpPr>
        <p:spPr>
          <a:xfrm>
            <a:off x="411480" y="4507992"/>
            <a:ext cx="5573268" cy="148132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900" b="0" i="0">
                <a:solidFill>
                  <a:srgbClr val="262B33"/>
                </a:solidFill>
                <a:latin typeface="Arial"/>
              </a:rPr>
              <a:t>1  Coarse fetch — bounding box around the route polyline</a:t>
            </a:r>
          </a:p>
          <a:p>
            <a:pPr algn="l">
              <a:lnSpc>
                <a:spcPct val="95000"/>
              </a:lnSpc>
              <a:spcBef>
                <a:spcPts val="500"/>
              </a:spcBef>
              <a:spcAft>
                <a:spcPts val="0"/>
              </a:spcAft>
            </a:pPr>
            <a:r>
              <a:rPr sz="900" b="0" i="0">
                <a:solidFill>
                  <a:srgbClr val="262B33"/>
                </a:solidFill>
                <a:latin typeface="Arial"/>
              </a:rPr>
              <a:t>2  Corridor — pickup and drop ≤ 10 km off the line, or inside the endpoint city</a:t>
            </a:r>
          </a:p>
          <a:p>
            <a:pPr algn="l">
              <a:lnSpc>
                <a:spcPct val="95000"/>
              </a:lnSpc>
              <a:spcBef>
                <a:spcPts val="500"/>
              </a:spcBef>
              <a:spcAft>
                <a:spcPts val="0"/>
              </a:spcAft>
            </a:pPr>
            <a:r>
              <a:rPr sz="900" b="0" i="0">
                <a:solidFill>
                  <a:srgbClr val="262B33"/>
                </a:solidFill>
                <a:latin typeface="Arial"/>
              </a:rPr>
              <a:t>3  Detour cap — mid-route deviation ≤ 24 km, else rejected</a:t>
            </a:r>
          </a:p>
          <a:p>
            <a:pPr algn="l">
              <a:lnSpc>
                <a:spcPct val="95000"/>
              </a:lnSpc>
              <a:spcBef>
                <a:spcPts val="500"/>
              </a:spcBef>
              <a:spcAft>
                <a:spcPts val="0"/>
              </a:spcAft>
            </a:pPr>
            <a:r>
              <a:rPr sz="900" b="0" i="0">
                <a:solidFill>
                  <a:srgbClr val="262B33"/>
                </a:solidFill>
                <a:latin typeface="Arial"/>
              </a:rPr>
              <a:t>4  Direction — driver → pickup → drop, projected along the line</a:t>
            </a:r>
          </a:p>
          <a:p>
            <a:pPr algn="l">
              <a:lnSpc>
                <a:spcPct val="95000"/>
              </a:lnSpc>
              <a:spcBef>
                <a:spcPts val="500"/>
              </a:spcBef>
              <a:spcAft>
                <a:spcPts val="0"/>
              </a:spcAft>
            </a:pPr>
            <a:r>
              <a:rPr sz="900" b="0" i="0">
                <a:solidFill>
                  <a:srgbClr val="262B33"/>
                </a:solidFill>
                <a:latin typeface="Arial"/>
              </a:rPr>
              <a:t>5  Score, then sequence stops by position so the route never doubles back</a:t>
            </a:r>
          </a:p>
          <a:p>
            <a:pPr algn="ctr">
              <a:lnSpc>
                <a:spcPct val="100000"/>
              </a:lnSpc>
              <a:spcBef>
                <a:spcPts val="700"/>
              </a:spcBef>
              <a:spcAft>
                <a:spcPts val="0"/>
              </a:spcAft>
            </a:pPr>
            <a:r>
              <a:rPr sz="950" b="1">
                <a:solidFill>
                  <a:srgbClr val="0070C0"/>
                </a:solidFill>
                <a:latin typeface="Arial"/>
              </a:rPr>
              <a:t>score = 1.0 × fee  −  8.0 × offRouteKm  −  0.15 × ageMinutes</a:t>
            </a:r>
          </a:p>
        </p:txBody>
      </p:sp>
      <p:sp>
        <p:nvSpPr>
          <p:cNvPr id="17433" name="TextBox 17432"/>
          <p:cNvSpPr txBox="1"/>
          <p:nvPr/>
        </p:nvSpPr>
        <p:spPr>
          <a:xfrm>
            <a:off x="6204204" y="427024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ALGORITHM 2 — PROBE SENSING</a:t>
            </a:r>
          </a:p>
        </p:txBody>
      </p:sp>
      <p:sp>
        <p:nvSpPr>
          <p:cNvPr id="17434" name="Rounded Rectangle 17433"/>
          <p:cNvSpPr/>
          <p:nvPr/>
        </p:nvSpPr>
        <p:spPr>
          <a:xfrm>
            <a:off x="6204204" y="4507992"/>
            <a:ext cx="5573268" cy="148132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900" b="0" i="0">
                <a:solidFill>
                  <a:srgbClr val="262B33"/>
                </a:solidFill>
                <a:latin typeface="Arial"/>
              </a:rPr>
              <a:t>45-minute rolling median of vehicle speed ÷ the road's own baseline:</a:t>
            </a:r>
          </a:p>
          <a:p>
            <a:pPr algn="l">
              <a:lnSpc>
                <a:spcPct val="95000"/>
              </a:lnSpc>
              <a:spcBef>
                <a:spcPts val="400"/>
              </a:spcBef>
              <a:spcAft>
                <a:spcPts val="0"/>
              </a:spcAft>
            </a:pPr>
            <a:r>
              <a:rPr sz="900" b="1">
                <a:solidFill>
                  <a:srgbClr val="1F497D"/>
                </a:solidFill>
                <a:latin typeface="Arial"/>
              </a:rPr>
              <a:t>≤ 0.15  </a:t>
            </a:r>
            <a:r>
              <a:rPr sz="900" b="0">
                <a:solidFill>
                  <a:srgbClr val="5A636E"/>
                </a:solidFill>
                <a:latin typeface="Arial"/>
              </a:rPr>
              <a:t>  →  </a:t>
            </a:r>
            <a:r>
              <a:rPr sz="900" b="1">
                <a:solidFill>
                  <a:srgbClr val="C25E1E"/>
                </a:solidFill>
                <a:latin typeface="Arial"/>
              </a:rPr>
              <a:t>BLOCKED</a:t>
            </a:r>
          </a:p>
          <a:p>
            <a:pPr algn="l">
              <a:lnSpc>
                <a:spcPct val="95000"/>
              </a:lnSpc>
              <a:spcBef>
                <a:spcPts val="400"/>
              </a:spcBef>
              <a:spcAft>
                <a:spcPts val="0"/>
              </a:spcAft>
            </a:pPr>
            <a:r>
              <a:rPr sz="900" b="1">
                <a:solidFill>
                  <a:srgbClr val="1F497D"/>
                </a:solidFill>
                <a:latin typeface="Arial"/>
              </a:rPr>
              <a:t>≤ 0.35  </a:t>
            </a:r>
            <a:r>
              <a:rPr sz="900" b="0">
                <a:solidFill>
                  <a:srgbClr val="5A636E"/>
                </a:solidFill>
                <a:latin typeface="Arial"/>
              </a:rPr>
              <a:t>  →  </a:t>
            </a:r>
            <a:r>
              <a:rPr sz="900" b="1">
                <a:solidFill>
                  <a:srgbClr val="C25E1E"/>
                </a:solidFill>
                <a:latin typeface="Arial"/>
              </a:rPr>
              <a:t>RESTRICTED</a:t>
            </a:r>
          </a:p>
          <a:p>
            <a:pPr algn="l">
              <a:lnSpc>
                <a:spcPct val="95000"/>
              </a:lnSpc>
              <a:spcBef>
                <a:spcPts val="400"/>
              </a:spcBef>
              <a:spcAft>
                <a:spcPts val="0"/>
              </a:spcAft>
            </a:pPr>
            <a:r>
              <a:rPr sz="900" b="1">
                <a:solidFill>
                  <a:srgbClr val="1F497D"/>
                </a:solidFill>
                <a:latin typeface="Arial"/>
              </a:rPr>
              <a:t>≤ 0.60  </a:t>
            </a:r>
            <a:r>
              <a:rPr sz="900" b="0">
                <a:solidFill>
                  <a:srgbClr val="5A636E"/>
                </a:solidFill>
                <a:latin typeface="Arial"/>
              </a:rPr>
              <a:t>  →  </a:t>
            </a:r>
            <a:r>
              <a:rPr sz="900" b="1">
                <a:solidFill>
                  <a:srgbClr val="5A636E"/>
                </a:solidFill>
                <a:latin typeface="Arial"/>
              </a:rPr>
              <a:t>SLOW</a:t>
            </a:r>
          </a:p>
          <a:p>
            <a:pPr algn="l">
              <a:lnSpc>
                <a:spcPct val="95000"/>
              </a:lnSpc>
              <a:spcBef>
                <a:spcPts val="400"/>
              </a:spcBef>
              <a:spcAft>
                <a:spcPts val="0"/>
              </a:spcAft>
            </a:pPr>
            <a:r>
              <a:rPr sz="900" b="1">
                <a:solidFill>
                  <a:srgbClr val="1F497D"/>
                </a:solidFill>
                <a:latin typeface="Arial"/>
              </a:rPr>
              <a:t>&gt; 0.60  </a:t>
            </a:r>
            <a:r>
              <a:rPr sz="900" b="0">
                <a:solidFill>
                  <a:srgbClr val="5A636E"/>
                </a:solidFill>
                <a:latin typeface="Arial"/>
              </a:rPr>
              <a:t>  →  </a:t>
            </a:r>
            <a:r>
              <a:rPr sz="900" b="1">
                <a:solidFill>
                  <a:srgbClr val="2E7D4F"/>
                </a:solidFill>
                <a:latin typeface="Arial"/>
              </a:rPr>
              <a:t>OPEN</a:t>
            </a:r>
          </a:p>
          <a:p>
            <a:pPr algn="l">
              <a:lnSpc>
                <a:spcPct val="95000"/>
              </a:lnSpc>
              <a:spcBef>
                <a:spcPts val="700"/>
              </a:spcBef>
              <a:spcAft>
                <a:spcPts val="0"/>
              </a:spcAft>
            </a:pPr>
            <a:r>
              <a:rPr sz="900" b="1">
                <a:solidFill>
                  <a:srgbClr val="1F497D"/>
                </a:solidFill>
                <a:latin typeface="Arial"/>
              </a:rPr>
              <a:t>Trust rule — </a:t>
            </a:r>
            <a:r>
              <a:rPr sz="900" b="0">
                <a:solidFill>
                  <a:srgbClr val="262B33"/>
                </a:solidFill>
                <a:latin typeface="Arial"/>
              </a:rPr>
              <a:t>≥ 4 samples from ≥ 2 distinct vehicles, else discarded. An unverified driver report is capped at RESTRICTED.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4224528"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ANALYSIS OF THE FEASIBILITY OF THE IDEA</a:t>
            </a:r>
          </a:p>
        </p:txBody>
      </p:sp>
      <p:sp>
        <p:nvSpPr>
          <p:cNvPr id="17411" name="Rectangle 17410"/>
          <p:cNvSpPr/>
          <p:nvPr/>
        </p:nvSpPr>
        <p:spPr>
          <a:xfrm>
            <a:off x="411480" y="1330452"/>
            <a:ext cx="4224528"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4224528" cy="15727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8000"/>
              </a:lnSpc>
              <a:spcBef>
                <a:spcPts val="0"/>
              </a:spcBef>
              <a:spcAft>
                <a:spcPts val="0"/>
              </a:spcAft>
            </a:pPr>
            <a:r>
              <a:rPr sz="950" b="0" i="0">
                <a:solidFill>
                  <a:srgbClr val="262B33"/>
                </a:solidFill>
                <a:latin typeface="Arial"/>
              </a:rPr>
              <a:t>Runs on smartphones, GPS, GIS and cloud services — no roadside hardware to procure, install or power. Modular, so weather, routing and government sources can be swapped per state.</a:t>
            </a:r>
          </a:p>
          <a:p>
            <a:pPr algn="l">
              <a:lnSpc>
                <a:spcPct val="98000"/>
              </a:lnSpc>
              <a:spcBef>
                <a:spcPts val="600"/>
              </a:spcBef>
              <a:spcAft>
                <a:spcPts val="0"/>
              </a:spcAft>
            </a:pPr>
            <a:r>
              <a:rPr sz="950" b="1">
                <a:solidFill>
                  <a:srgbClr val="0070C0"/>
                </a:solidFill>
                <a:latin typeface="Arial"/>
              </a:rPr>
              <a:t>42 stretches · 3,567 km  </a:t>
            </a:r>
            <a:r>
              <a:rPr sz="950" b="0">
                <a:solidFill>
                  <a:srgbClr val="262B33"/>
                </a:solidFill>
                <a:latin typeface="Arial"/>
              </a:rPr>
              <a:t>real OSRM geometry, 12 corridors, 8 states</a:t>
            </a:r>
          </a:p>
          <a:p>
            <a:pPr algn="l">
              <a:lnSpc>
                <a:spcPct val="98000"/>
              </a:lnSpc>
              <a:spcBef>
                <a:spcPts val="600"/>
              </a:spcBef>
              <a:spcAft>
                <a:spcPts val="0"/>
              </a:spcAft>
            </a:pPr>
            <a:r>
              <a:rPr sz="950" b="1">
                <a:solidFill>
                  <a:srgbClr val="0070C0"/>
                </a:solidFill>
                <a:latin typeface="Arial"/>
              </a:rPr>
              <a:t>4 apps + dashboard  </a:t>
            </a:r>
            <a:r>
              <a:rPr sz="950" b="0">
                <a:solidFill>
                  <a:srgbClr val="262B33"/>
                </a:solidFill>
                <a:latin typeface="Arial"/>
              </a:rPr>
              <a:t>built and running against live data</a:t>
            </a:r>
          </a:p>
          <a:p>
            <a:pPr algn="l">
              <a:lnSpc>
                <a:spcPct val="98000"/>
              </a:lnSpc>
              <a:spcBef>
                <a:spcPts val="600"/>
              </a:spcBef>
              <a:spcAft>
                <a:spcPts val="0"/>
              </a:spcAft>
            </a:pPr>
            <a:r>
              <a:rPr sz="950" b="1">
                <a:solidFill>
                  <a:srgbClr val="0070C0"/>
                </a:solidFill>
                <a:latin typeface="Arial"/>
              </a:rPr>
              <a:t>195 / 195 tests  </a:t>
            </a:r>
            <a:r>
              <a:rPr sz="950" b="0">
                <a:solidFill>
                  <a:srgbClr val="262B33"/>
                </a:solidFill>
                <a:latin typeface="Arial"/>
              </a:rPr>
              <a:t>10 suites · 10 languages · 0 English fallbacks</a:t>
            </a:r>
          </a:p>
        </p:txBody>
      </p:sp>
      <p:sp>
        <p:nvSpPr>
          <p:cNvPr id="17413" name="TextBox 17412"/>
          <p:cNvSpPr txBox="1"/>
          <p:nvPr/>
        </p:nvSpPr>
        <p:spPr>
          <a:xfrm>
            <a:off x="411480" y="3136392"/>
            <a:ext cx="422452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BUSINESS MODEL — HOW IT SUSTAINS ITSELF</a:t>
            </a:r>
          </a:p>
        </p:txBody>
      </p:sp>
      <p:sp>
        <p:nvSpPr>
          <p:cNvPr id="17414" name="Rounded Rectangle 17413"/>
          <p:cNvSpPr/>
          <p:nvPr/>
        </p:nvSpPr>
        <p:spPr>
          <a:xfrm>
            <a:off x="411480" y="3374136"/>
            <a:ext cx="4224528" cy="2103120"/>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8000"/>
              </a:lnSpc>
              <a:spcBef>
                <a:spcPts val="0"/>
              </a:spcBef>
              <a:spcAft>
                <a:spcPts val="0"/>
              </a:spcAft>
            </a:pPr>
            <a:r>
              <a:rPr sz="950" b="1">
                <a:solidFill>
                  <a:srgbClr val="1F497D"/>
                </a:solidFill>
                <a:latin typeface="Arial"/>
              </a:rPr>
              <a:t>Flat platform fee  </a:t>
            </a:r>
            <a:r>
              <a:rPr sz="950" b="0">
                <a:solidFill>
                  <a:srgbClr val="262B33"/>
                </a:solidFill>
                <a:latin typeface="Arial"/>
              </a:rPr>
              <a:t>₹5 per parcel, ₹2 per shop order. The driver keeps the full delivery charge — that is what makes carrying worth it.</a:t>
            </a:r>
          </a:p>
          <a:p>
            <a:pPr algn="l">
              <a:lnSpc>
                <a:spcPct val="98000"/>
              </a:lnSpc>
              <a:spcBef>
                <a:spcPts val="800"/>
              </a:spcBef>
              <a:spcAft>
                <a:spcPts val="0"/>
              </a:spcAft>
            </a:pPr>
            <a:r>
              <a:rPr sz="950" b="1">
                <a:solidFill>
                  <a:srgbClr val="1F497D"/>
                </a:solidFill>
                <a:latin typeface="Arial"/>
              </a:rPr>
              <a:t>Government licence  </a:t>
            </a:r>
            <a:r>
              <a:rPr sz="950" b="0">
                <a:solidFill>
                  <a:srgbClr val="262B33"/>
                </a:solidFill>
                <a:latin typeface="Arial"/>
              </a:rPr>
              <a:t>the accessibility dashboard sold per state or district to transport and disaster-management departments.</a:t>
            </a:r>
          </a:p>
          <a:p>
            <a:pPr algn="l">
              <a:lnSpc>
                <a:spcPct val="98000"/>
              </a:lnSpc>
              <a:spcBef>
                <a:spcPts val="800"/>
              </a:spcBef>
              <a:spcAft>
                <a:spcPts val="0"/>
              </a:spcAft>
            </a:pPr>
            <a:r>
              <a:rPr sz="950" b="1">
                <a:solidFill>
                  <a:srgbClr val="1F497D"/>
                </a:solidFill>
                <a:latin typeface="Arial"/>
              </a:rPr>
              <a:t>Merchant plans  </a:t>
            </a:r>
            <a:r>
              <a:rPr sz="950" b="0">
                <a:solidFill>
                  <a:srgbClr val="262B33"/>
                </a:solidFill>
                <a:latin typeface="Arial"/>
              </a:rPr>
              <a:t>optional listing and analytics tiers for shops.</a:t>
            </a:r>
          </a:p>
          <a:p>
            <a:pPr algn="l">
              <a:lnSpc>
                <a:spcPct val="98000"/>
              </a:lnSpc>
              <a:spcBef>
                <a:spcPts val="800"/>
              </a:spcBef>
              <a:spcAft>
                <a:spcPts val="0"/>
              </a:spcAft>
            </a:pPr>
            <a:r>
              <a:rPr sz="950" b="1">
                <a:solidFill>
                  <a:srgbClr val="1F497D"/>
                </a:solidFill>
                <a:latin typeface="Arial"/>
              </a:rPr>
              <a:t>Cost side  </a:t>
            </a:r>
            <a:r>
              <a:rPr sz="950" b="0">
                <a:solidFill>
                  <a:srgbClr val="262B33"/>
                </a:solidFill>
                <a:latin typeface="Arial"/>
              </a:rPr>
              <a:t>cloud only. No fleet, no vehicles, no hardware, so marginal cost per extra parcel is a payment-gateway fee.</a:t>
            </a:r>
          </a:p>
        </p:txBody>
      </p:sp>
      <p:sp>
        <p:nvSpPr>
          <p:cNvPr id="17415" name="TextBox 17414"/>
          <p:cNvSpPr txBox="1"/>
          <p:nvPr/>
        </p:nvSpPr>
        <p:spPr>
          <a:xfrm>
            <a:off x="4892040" y="1143000"/>
            <a:ext cx="233172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CHALLENGES AND RISKS</a:t>
            </a:r>
          </a:p>
        </p:txBody>
      </p:sp>
      <p:sp>
        <p:nvSpPr>
          <p:cNvPr id="17416" name="Rectangle 17415"/>
          <p:cNvSpPr/>
          <p:nvPr/>
        </p:nvSpPr>
        <p:spPr>
          <a:xfrm>
            <a:off x="4892040" y="1330452"/>
            <a:ext cx="233172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7333488" y="1143000"/>
            <a:ext cx="4443984"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STRATEGIES FOR OVERCOMING THESE CHALLENGES</a:t>
            </a:r>
          </a:p>
        </p:txBody>
      </p:sp>
      <p:sp>
        <p:nvSpPr>
          <p:cNvPr id="17418" name="Rectangle 17417"/>
          <p:cNvSpPr/>
          <p:nvPr/>
        </p:nvSpPr>
        <p:spPr>
          <a:xfrm>
            <a:off x="7333488" y="1330452"/>
            <a:ext cx="4443984"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ounded Rectangle 17418"/>
          <p:cNvSpPr/>
          <p:nvPr/>
        </p:nvSpPr>
        <p:spPr>
          <a:xfrm>
            <a:off x="4892040" y="1435608"/>
            <a:ext cx="2331720"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Remote areas lose network</a:t>
            </a:r>
          </a:p>
        </p:txBody>
      </p:sp>
      <p:sp>
        <p:nvSpPr>
          <p:cNvPr id="17420" name="Rounded Rectangle 17419"/>
          <p:cNvSpPr/>
          <p:nvPr/>
        </p:nvSpPr>
        <p:spPr>
          <a:xfrm>
            <a:off x="7333488" y="1435608"/>
            <a:ext cx="4443984"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Field reports queue on the phone under a client ID and sync later; the server rejects duplicates, so nothing is filed twice.</a:t>
            </a:r>
          </a:p>
        </p:txBody>
      </p:sp>
      <p:sp>
        <p:nvSpPr>
          <p:cNvPr id="17421" name="Right Arrow 17420"/>
          <p:cNvSpPr/>
          <p:nvPr/>
        </p:nvSpPr>
        <p:spPr>
          <a:xfrm>
            <a:off x="7237476" y="1728216"/>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4892040" y="2157984"/>
            <a:ext cx="2331720"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Noisy or inaccurate GPS</a:t>
            </a:r>
          </a:p>
        </p:txBody>
      </p:sp>
      <p:sp>
        <p:nvSpPr>
          <p:cNvPr id="17423" name="Rounded Rectangle 17422"/>
          <p:cNvSpPr/>
          <p:nvPr/>
        </p:nvSpPr>
        <p:spPr>
          <a:xfrm>
            <a:off x="7333488" y="2157984"/>
            <a:ext cx="4443984"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Fixes worse than 120 m are dropped on the device, and a road status needs ≥ 4 samples from ≥ 2 distinct vehicles before it changes.</a:t>
            </a:r>
          </a:p>
        </p:txBody>
      </p:sp>
      <p:sp>
        <p:nvSpPr>
          <p:cNvPr id="17424" name="Right Arrow 17423"/>
          <p:cNvSpPr/>
          <p:nvPr/>
        </p:nvSpPr>
        <p:spPr>
          <a:xfrm>
            <a:off x="7237476" y="2450592"/>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Rounded Rectangle 17424"/>
          <p:cNvSpPr/>
          <p:nvPr/>
        </p:nvSpPr>
        <p:spPr>
          <a:xfrm>
            <a:off x="4892040" y="2880360"/>
            <a:ext cx="2331720"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Incorrect user reports</a:t>
            </a:r>
          </a:p>
        </p:txBody>
      </p:sp>
      <p:sp>
        <p:nvSpPr>
          <p:cNvPr id="17426" name="Rounded Rectangle 17425"/>
          <p:cNvSpPr/>
          <p:nvPr/>
        </p:nvSpPr>
        <p:spPr>
          <a:xfrm>
            <a:off x="7333488" y="2880360"/>
            <a:ext cx="4443984"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An unverified report is capped at RESTRICTED; only an officer's verification can close a road.</a:t>
            </a:r>
          </a:p>
        </p:txBody>
      </p:sp>
      <p:sp>
        <p:nvSpPr>
          <p:cNvPr id="17427" name="Right Arrow 17426"/>
          <p:cNvSpPr/>
          <p:nvPr/>
        </p:nvSpPr>
        <p:spPr>
          <a:xfrm>
            <a:off x="7237476" y="3172968"/>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4892040" y="3602736"/>
            <a:ext cx="2331720"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Uncertainty in AI predictions</a:t>
            </a:r>
          </a:p>
        </p:txBody>
      </p:sp>
      <p:sp>
        <p:nvSpPr>
          <p:cNvPr id="17429" name="Rounded Rectangle 17428"/>
          <p:cNvSpPr/>
          <p:nvPr/>
        </p:nvSpPr>
        <p:spPr>
          <a:xfrm>
            <a:off x="7333488" y="3602736"/>
            <a:ext cx="4443984"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Every prediction is explainable by feature, calibration is published on screen, and current risk is kept separate from the forecast.</a:t>
            </a:r>
          </a:p>
        </p:txBody>
      </p:sp>
      <p:sp>
        <p:nvSpPr>
          <p:cNvPr id="17430" name="Right Arrow 17429"/>
          <p:cNvSpPr/>
          <p:nvPr/>
        </p:nvSpPr>
        <p:spPr>
          <a:xfrm>
            <a:off x="7237476" y="3895344"/>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892040" y="4325112"/>
            <a:ext cx="2331720"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Roads close mid-journey</a:t>
            </a:r>
          </a:p>
        </p:txBody>
      </p:sp>
      <p:sp>
        <p:nvSpPr>
          <p:cNvPr id="17432" name="Rounded Rectangle 17431"/>
          <p:cNvSpPr/>
          <p:nvPr/>
        </p:nvSpPr>
        <p:spPr>
          <a:xfrm>
            <a:off x="7333488" y="4325112"/>
            <a:ext cx="4443984" cy="658368"/>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The route planner scores three real alternatives and reports why each rejected one failed.</a:t>
            </a:r>
          </a:p>
        </p:txBody>
      </p:sp>
      <p:sp>
        <p:nvSpPr>
          <p:cNvPr id="17433" name="Right Arrow 17432"/>
          <p:cNvSpPr/>
          <p:nvPr/>
        </p:nvSpPr>
        <p:spPr>
          <a:xfrm>
            <a:off x="7237476" y="4617720"/>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Rounded Rectangle 17433"/>
          <p:cNvSpPr/>
          <p:nvPr/>
        </p:nvSpPr>
        <p:spPr>
          <a:xfrm>
            <a:off x="4892040" y="5047488"/>
            <a:ext cx="2331720"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50" b="1" i="0">
                <a:solidFill>
                  <a:srgbClr val="C25E1E"/>
                </a:solidFill>
                <a:latin typeface="Arial"/>
              </a:rPr>
              <a:t>No historical closure dataset</a:t>
            </a:r>
          </a:p>
        </p:txBody>
      </p:sp>
      <p:sp>
        <p:nvSpPr>
          <p:cNvPr id="17435" name="Rounded Rectangle 17434"/>
          <p:cNvSpPr/>
          <p:nvPr/>
        </p:nvSpPr>
        <p:spPr>
          <a:xfrm>
            <a:off x="7333488" y="5047488"/>
            <a:ext cx="4443984" cy="65836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Labels come from a rainfall-threshold hazard function; verified field reports override them, and the platform says so openly.</a:t>
            </a:r>
          </a:p>
        </p:txBody>
      </p:sp>
      <p:sp>
        <p:nvSpPr>
          <p:cNvPr id="17436" name="Right Arrow 17435"/>
          <p:cNvSpPr/>
          <p:nvPr/>
        </p:nvSpPr>
        <p:spPr>
          <a:xfrm>
            <a:off x="7237476" y="5340096"/>
            <a:ext cx="73152" cy="73152"/>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IMPACT ON THE TARGET AUDIENCE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2731770" cy="122529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District administration</a:t>
            </a:r>
          </a:p>
          <a:p>
            <a:pPr algn="l">
              <a:lnSpc>
                <a:spcPct val="98000"/>
              </a:lnSpc>
              <a:spcBef>
                <a:spcPts val="300"/>
              </a:spcBef>
              <a:spcAft>
                <a:spcPts val="0"/>
              </a:spcAft>
            </a:pPr>
            <a:r>
              <a:rPr sz="900" b="0" i="0">
                <a:solidFill>
                  <a:srgbClr val="262B33"/>
                </a:solidFill>
                <a:latin typeface="Arial"/>
              </a:rPr>
              <a:t>Continuous visibility of accessibility, and a lifeline corridor's closure risk 72 hours out.</a:t>
            </a:r>
          </a:p>
        </p:txBody>
      </p:sp>
      <p:sp>
        <p:nvSpPr>
          <p:cNvPr id="17413" name="Rounded Rectangle 17412"/>
          <p:cNvSpPr/>
          <p:nvPr/>
        </p:nvSpPr>
        <p:spPr>
          <a:xfrm>
            <a:off x="3289554" y="1435608"/>
            <a:ext cx="2731770" cy="122529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Field officers</a:t>
            </a:r>
          </a:p>
          <a:p>
            <a:pPr algn="l">
              <a:lnSpc>
                <a:spcPct val="98000"/>
              </a:lnSpc>
              <a:spcBef>
                <a:spcPts val="300"/>
              </a:spcBef>
              <a:spcAft>
                <a:spcPts val="0"/>
              </a:spcAft>
            </a:pPr>
            <a:r>
              <a:rPr sz="900" b="0" i="0">
                <a:solidFill>
                  <a:srgbClr val="262B33"/>
                </a:solidFill>
                <a:latin typeface="Arial"/>
              </a:rPr>
              <a:t>Weak points ranked with the reason each scored, and a queue of reports to verify.</a:t>
            </a:r>
          </a:p>
        </p:txBody>
      </p:sp>
      <p:sp>
        <p:nvSpPr>
          <p:cNvPr id="17414" name="Rounded Rectangle 17413"/>
          <p:cNvSpPr/>
          <p:nvPr/>
        </p:nvSpPr>
        <p:spPr>
          <a:xfrm>
            <a:off x="6167628" y="1435608"/>
            <a:ext cx="2731770" cy="122529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Transporters and drivers</a:t>
            </a:r>
          </a:p>
          <a:p>
            <a:pPr algn="l">
              <a:lnSpc>
                <a:spcPct val="98000"/>
              </a:lnSpc>
              <a:spcBef>
                <a:spcPts val="300"/>
              </a:spcBef>
              <a:spcAft>
                <a:spcPts val="0"/>
              </a:spcAft>
            </a:pPr>
            <a:r>
              <a:rPr sz="900" b="0" i="0">
                <a:solidFill>
                  <a:srgbClr val="262B33"/>
                </a:solidFill>
                <a:latin typeface="Arial"/>
              </a:rPr>
              <a:t>Income from a journey already being made, and route conditions before setting out.</a:t>
            </a:r>
          </a:p>
        </p:txBody>
      </p:sp>
      <p:sp>
        <p:nvSpPr>
          <p:cNvPr id="17415" name="Rounded Rectangle 17414"/>
          <p:cNvSpPr/>
          <p:nvPr/>
        </p:nvSpPr>
        <p:spPr>
          <a:xfrm>
            <a:off x="9045702" y="1435608"/>
            <a:ext cx="2731770" cy="122529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People in remote blocks</a:t>
            </a:r>
          </a:p>
          <a:p>
            <a:pPr algn="l">
              <a:lnSpc>
                <a:spcPct val="98000"/>
              </a:lnSpc>
              <a:spcBef>
                <a:spcPts val="300"/>
              </a:spcBef>
              <a:spcAft>
                <a:spcPts val="0"/>
              </a:spcAft>
            </a:pPr>
            <a:r>
              <a:rPr sz="900" b="0" i="0">
                <a:solidFill>
                  <a:srgbClr val="262B33"/>
                </a:solidFill>
                <a:latin typeface="Arial"/>
              </a:rPr>
              <a:t>Medicines, food, produce and construction material arrive — with an alert in the language spoken at home when they will not.</a:t>
            </a:r>
          </a:p>
        </p:txBody>
      </p:sp>
      <p:sp>
        <p:nvSpPr>
          <p:cNvPr id="17416" name="TextBox 17415"/>
          <p:cNvSpPr txBox="1"/>
          <p:nvPr/>
        </p:nvSpPr>
        <p:spPr>
          <a:xfrm>
            <a:off x="411480" y="278892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BENEFITS OF THE SOLUTION (SOCIAL, ECONOMIC, ENVIRONMENTAL, ETC.)</a:t>
            </a:r>
          </a:p>
        </p:txBody>
      </p:sp>
      <p:sp>
        <p:nvSpPr>
          <p:cNvPr id="17417" name="Rectangle 17416"/>
          <p:cNvSpPr/>
          <p:nvPr/>
        </p:nvSpPr>
        <p:spPr>
          <a:xfrm>
            <a:off x="411480" y="297637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11480" y="3081527"/>
            <a:ext cx="2731770" cy="310896"/>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FFFFFF"/>
                </a:solidFill>
                <a:latin typeface="Arial"/>
              </a:rPr>
              <a:t>Social</a:t>
            </a:r>
          </a:p>
        </p:txBody>
      </p:sp>
      <p:sp>
        <p:nvSpPr>
          <p:cNvPr id="17419" name="Rounded Rectangle 17418"/>
          <p:cNvSpPr/>
          <p:nvPr/>
        </p:nvSpPr>
        <p:spPr>
          <a:xfrm>
            <a:off x="411480" y="3428999"/>
            <a:ext cx="2731770" cy="896112"/>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8 states, 82 districts. Alerts and voice reporting in 10 languages, four with almost no other software support.</a:t>
            </a:r>
          </a:p>
        </p:txBody>
      </p:sp>
      <p:sp>
        <p:nvSpPr>
          <p:cNvPr id="17420" name="Rounded Rectangle 17419"/>
          <p:cNvSpPr/>
          <p:nvPr/>
        </p:nvSpPr>
        <p:spPr>
          <a:xfrm>
            <a:off x="3289554" y="3081527"/>
            <a:ext cx="2731770" cy="310896"/>
          </a:xfrm>
          <a:prstGeom prst="roundRect">
            <a:avLst>
              <a:gd name="adj" fmla="val 8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FFFFFF"/>
                </a:solidFill>
                <a:latin typeface="Arial"/>
              </a:rPr>
              <a:t>Economic</a:t>
            </a:r>
          </a:p>
        </p:txBody>
      </p:sp>
      <p:sp>
        <p:nvSpPr>
          <p:cNvPr id="17421" name="Rounded Rectangle 17420"/>
          <p:cNvSpPr/>
          <p:nvPr/>
        </p:nvSpPr>
        <p:spPr>
          <a:xfrm>
            <a:off x="3289554" y="3428999"/>
            <a:ext cx="2731770" cy="896112"/>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Corridor matching turns spare capacity into income. No dedicated fleet, so cost per extra parcel is near zero.</a:t>
            </a:r>
          </a:p>
        </p:txBody>
      </p:sp>
      <p:sp>
        <p:nvSpPr>
          <p:cNvPr id="17422" name="Rounded Rectangle 17421"/>
          <p:cNvSpPr/>
          <p:nvPr/>
        </p:nvSpPr>
        <p:spPr>
          <a:xfrm>
            <a:off x="6167628" y="3081527"/>
            <a:ext cx="2731770" cy="310896"/>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FFFFFF"/>
                </a:solidFill>
                <a:latin typeface="Arial"/>
              </a:rPr>
              <a:t>Environmental</a:t>
            </a:r>
          </a:p>
        </p:txBody>
      </p:sp>
      <p:sp>
        <p:nvSpPr>
          <p:cNvPr id="17423" name="Rounded Rectangle 17422"/>
          <p:cNvSpPr/>
          <p:nvPr/>
        </p:nvSpPr>
        <p:spPr>
          <a:xfrm>
            <a:off x="6167628" y="3428999"/>
            <a:ext cx="2731770" cy="896112"/>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Fewer dedicated trips — a parcel rides in a vehicle already making the journey, not a second one.</a:t>
            </a:r>
          </a:p>
        </p:txBody>
      </p:sp>
      <p:sp>
        <p:nvSpPr>
          <p:cNvPr id="17424" name="Rounded Rectangle 17423"/>
          <p:cNvSpPr/>
          <p:nvPr/>
        </p:nvSpPr>
        <p:spPr>
          <a:xfrm>
            <a:off x="9045702" y="3081527"/>
            <a:ext cx="2731770" cy="310896"/>
          </a:xfrm>
          <a:prstGeom prst="roundRect">
            <a:avLst>
              <a:gd name="adj" fmla="val 8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50" b="1" i="0">
                <a:solidFill>
                  <a:srgbClr val="FFFFFF"/>
                </a:solidFill>
                <a:latin typeface="Arial"/>
              </a:rPr>
              <a:t>Governance</a:t>
            </a:r>
          </a:p>
        </p:txBody>
      </p:sp>
      <p:sp>
        <p:nvSpPr>
          <p:cNvPr id="17425" name="Rounded Rectangle 17424"/>
          <p:cNvSpPr/>
          <p:nvPr/>
        </p:nvSpPr>
        <p:spPr>
          <a:xfrm>
            <a:off x="9045702" y="3428999"/>
            <a:ext cx="2731770" cy="896112"/>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900" b="0" i="0">
                <a:solidFill>
                  <a:srgbClr val="262B33"/>
                </a:solidFill>
                <a:latin typeface="Arial"/>
              </a:rPr>
              <a:t>Photo, GPS fix, timestamp and the verifying officer on every incident. An evidence trail, not a phone call.</a:t>
            </a:r>
          </a:p>
        </p:txBody>
      </p:sp>
      <p:sp>
        <p:nvSpPr>
          <p:cNvPr id="17426" name="TextBox 17425"/>
          <p:cNvSpPr txBox="1"/>
          <p:nvPr/>
        </p:nvSpPr>
        <p:spPr>
          <a:xfrm>
            <a:off x="411480" y="4453127"/>
            <a:ext cx="1136599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PRODUCT DEVELOPMENT TIMELINE</a:t>
            </a:r>
          </a:p>
        </p:txBody>
      </p:sp>
      <p:sp>
        <p:nvSpPr>
          <p:cNvPr id="17427" name="Rounded Rectangle 17426"/>
          <p:cNvSpPr/>
          <p:nvPr/>
        </p:nvSpPr>
        <p:spPr>
          <a:xfrm>
            <a:off x="411480" y="4690871"/>
            <a:ext cx="2185416" cy="950976"/>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850" b="1">
                <a:solidFill>
                  <a:srgbClr val="1F497D"/>
                </a:solidFill>
                <a:latin typeface="Arial"/>
              </a:rPr>
              <a:t>Phase 1   </a:t>
            </a:r>
            <a:r>
              <a:rPr sz="850" b="1">
                <a:solidFill>
                  <a:srgbClr val="2E7D4F"/>
                </a:solidFill>
                <a:latin typeface="Arial"/>
              </a:rPr>
              <a:t>DONE</a:t>
            </a:r>
          </a:p>
          <a:p>
            <a:pPr algn="l">
              <a:lnSpc>
                <a:spcPct val="95000"/>
              </a:lnSpc>
              <a:spcBef>
                <a:spcPts val="200"/>
              </a:spcBef>
              <a:spcAft>
                <a:spcPts val="0"/>
              </a:spcAft>
            </a:pPr>
            <a:r>
              <a:rPr sz="1000" b="1" i="0">
                <a:solidFill>
                  <a:srgbClr val="1F497D"/>
                </a:solidFill>
                <a:latin typeface="Arial"/>
              </a:rPr>
              <a:t>Core platform</a:t>
            </a:r>
          </a:p>
          <a:p>
            <a:pPr algn="l">
              <a:lnSpc>
                <a:spcPct val="95000"/>
              </a:lnSpc>
              <a:spcBef>
                <a:spcPts val="100"/>
              </a:spcBef>
              <a:spcAft>
                <a:spcPts val="0"/>
              </a:spcAft>
            </a:pPr>
            <a:r>
              <a:rPr sz="800" b="0" i="0">
                <a:solidFill>
                  <a:srgbClr val="5A636E"/>
                </a:solidFill>
                <a:latin typeface="Arial"/>
              </a:rPr>
              <a:t>4 apps, dashboard, 118 endpoints</a:t>
            </a:r>
          </a:p>
        </p:txBody>
      </p:sp>
      <p:sp>
        <p:nvSpPr>
          <p:cNvPr id="17428" name="Rectangle 17427"/>
          <p:cNvSpPr/>
          <p:nvPr/>
        </p:nvSpPr>
        <p:spPr>
          <a:xfrm>
            <a:off x="411480" y="5678423"/>
            <a:ext cx="2185416" cy="45720"/>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Rectangle 17428"/>
          <p:cNvSpPr/>
          <p:nvPr/>
        </p:nvSpPr>
        <p:spPr>
          <a:xfrm>
            <a:off x="411480" y="5678423"/>
            <a:ext cx="2185416" cy="457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Rounded Rectangle 17429"/>
          <p:cNvSpPr/>
          <p:nvPr/>
        </p:nvSpPr>
        <p:spPr>
          <a:xfrm>
            <a:off x="2706624" y="4690871"/>
            <a:ext cx="2185416" cy="950976"/>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850" b="1">
                <a:solidFill>
                  <a:srgbClr val="1F497D"/>
                </a:solidFill>
                <a:latin typeface="Arial"/>
              </a:rPr>
              <a:t>Phase 2   </a:t>
            </a:r>
            <a:r>
              <a:rPr sz="850" b="1">
                <a:solidFill>
                  <a:srgbClr val="2E7D4F"/>
                </a:solidFill>
                <a:latin typeface="Arial"/>
              </a:rPr>
              <a:t>DONE</a:t>
            </a:r>
          </a:p>
          <a:p>
            <a:pPr algn="l">
              <a:lnSpc>
                <a:spcPct val="95000"/>
              </a:lnSpc>
              <a:spcBef>
                <a:spcPts val="200"/>
              </a:spcBef>
              <a:spcAft>
                <a:spcPts val="0"/>
              </a:spcAft>
            </a:pPr>
            <a:r>
              <a:rPr sz="1000" b="1" i="0">
                <a:solidFill>
                  <a:srgbClr val="1F497D"/>
                </a:solidFill>
                <a:latin typeface="Arial"/>
              </a:rPr>
              <a:t>Intelligence layer</a:t>
            </a:r>
          </a:p>
          <a:p>
            <a:pPr algn="l">
              <a:lnSpc>
                <a:spcPct val="95000"/>
              </a:lnSpc>
              <a:spcBef>
                <a:spcPts val="100"/>
              </a:spcBef>
              <a:spcAft>
                <a:spcPts val="0"/>
              </a:spcAft>
            </a:pPr>
            <a:r>
              <a:rPr sz="800" b="0" i="0">
                <a:solidFill>
                  <a:srgbClr val="5A636E"/>
                </a:solidFill>
                <a:latin typeface="Arial"/>
              </a:rPr>
              <a:t>probe sensing, forecast model, alerts, 10 languages</a:t>
            </a:r>
          </a:p>
        </p:txBody>
      </p:sp>
      <p:sp>
        <p:nvSpPr>
          <p:cNvPr id="17431" name="Rectangle 17430"/>
          <p:cNvSpPr/>
          <p:nvPr/>
        </p:nvSpPr>
        <p:spPr>
          <a:xfrm>
            <a:off x="2706624" y="5678423"/>
            <a:ext cx="2185416" cy="45720"/>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Rectangle 17431"/>
          <p:cNvSpPr/>
          <p:nvPr/>
        </p:nvSpPr>
        <p:spPr>
          <a:xfrm>
            <a:off x="2706624" y="5678423"/>
            <a:ext cx="2185416" cy="457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Rounded Rectangle 17432"/>
          <p:cNvSpPr/>
          <p:nvPr/>
        </p:nvSpPr>
        <p:spPr>
          <a:xfrm>
            <a:off x="5001768" y="4690871"/>
            <a:ext cx="2185416" cy="950976"/>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850" b="1">
                <a:solidFill>
                  <a:srgbClr val="1F497D"/>
                </a:solidFill>
                <a:latin typeface="Arial"/>
              </a:rPr>
              <a:t>Phase 3   </a:t>
            </a:r>
            <a:r>
              <a:rPr sz="850" b="1">
                <a:solidFill>
                  <a:srgbClr val="0070C0"/>
                </a:solidFill>
                <a:latin typeface="Arial"/>
              </a:rPr>
              <a:t>4 WEEKS</a:t>
            </a:r>
          </a:p>
          <a:p>
            <a:pPr algn="l">
              <a:lnSpc>
                <a:spcPct val="95000"/>
              </a:lnSpc>
              <a:spcBef>
                <a:spcPts val="200"/>
              </a:spcBef>
              <a:spcAft>
                <a:spcPts val="0"/>
              </a:spcAft>
            </a:pPr>
            <a:r>
              <a:rPr sz="1000" b="1" i="0">
                <a:solidFill>
                  <a:srgbClr val="1F497D"/>
                </a:solidFill>
                <a:latin typeface="Arial"/>
              </a:rPr>
              <a:t>Close the loop</a:t>
            </a:r>
          </a:p>
          <a:p>
            <a:pPr algn="l">
              <a:lnSpc>
                <a:spcPct val="95000"/>
              </a:lnSpc>
              <a:spcBef>
                <a:spcPts val="100"/>
              </a:spcBef>
              <a:spcAft>
                <a:spcPts val="0"/>
              </a:spcAft>
            </a:pPr>
            <a:r>
              <a:rPr sz="800" b="0" i="0">
                <a:solidFill>
                  <a:srgbClr val="5A636E"/>
                </a:solidFill>
                <a:latin typeface="Arial"/>
              </a:rPr>
              <a:t>road-ahead warnings, mid-trip re-route, delay alerts</a:t>
            </a:r>
          </a:p>
        </p:txBody>
      </p:sp>
      <p:sp>
        <p:nvSpPr>
          <p:cNvPr id="17434" name="Rectangle 17433"/>
          <p:cNvSpPr/>
          <p:nvPr/>
        </p:nvSpPr>
        <p:spPr>
          <a:xfrm>
            <a:off x="5001768" y="5678423"/>
            <a:ext cx="2185416" cy="45720"/>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7296912" y="4690871"/>
            <a:ext cx="2185416" cy="95097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850" b="1">
                <a:solidFill>
                  <a:srgbClr val="1F497D"/>
                </a:solidFill>
                <a:latin typeface="Arial"/>
              </a:rPr>
              <a:t>Phase 4   </a:t>
            </a:r>
            <a:r>
              <a:rPr sz="850" b="1">
                <a:solidFill>
                  <a:srgbClr val="4F81BD"/>
                </a:solidFill>
                <a:latin typeface="Arial"/>
              </a:rPr>
              <a:t>3 MONTHS</a:t>
            </a:r>
          </a:p>
          <a:p>
            <a:pPr algn="l">
              <a:lnSpc>
                <a:spcPct val="95000"/>
              </a:lnSpc>
              <a:spcBef>
                <a:spcPts val="200"/>
              </a:spcBef>
              <a:spcAft>
                <a:spcPts val="0"/>
              </a:spcAft>
            </a:pPr>
            <a:r>
              <a:rPr sz="1000" b="1" i="0">
                <a:solidFill>
                  <a:srgbClr val="1F497D"/>
                </a:solidFill>
                <a:latin typeface="Arial"/>
              </a:rPr>
              <a:t>District pilot</a:t>
            </a:r>
          </a:p>
          <a:p>
            <a:pPr algn="l">
              <a:lnSpc>
                <a:spcPct val="95000"/>
              </a:lnSpc>
              <a:spcBef>
                <a:spcPts val="100"/>
              </a:spcBef>
              <a:spcAft>
                <a:spcPts val="0"/>
              </a:spcAft>
            </a:pPr>
            <a:r>
              <a:rPr sz="800" b="0" i="0">
                <a:solidFill>
                  <a:srgbClr val="5A636E"/>
                </a:solidFill>
                <a:latin typeface="Arial"/>
              </a:rPr>
              <a:t>one corridor with a state transport department</a:t>
            </a:r>
          </a:p>
        </p:txBody>
      </p:sp>
      <p:sp>
        <p:nvSpPr>
          <p:cNvPr id="17436" name="Rectangle 17435"/>
          <p:cNvSpPr/>
          <p:nvPr/>
        </p:nvSpPr>
        <p:spPr>
          <a:xfrm>
            <a:off x="7296912" y="5678423"/>
            <a:ext cx="2185416" cy="45720"/>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Rounded Rectangle 17436"/>
          <p:cNvSpPr/>
          <p:nvPr/>
        </p:nvSpPr>
        <p:spPr>
          <a:xfrm>
            <a:off x="9592056" y="4690871"/>
            <a:ext cx="2185416" cy="95097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850" b="1">
                <a:solidFill>
                  <a:srgbClr val="1F497D"/>
                </a:solidFill>
                <a:latin typeface="Arial"/>
              </a:rPr>
              <a:t>Phase 5   </a:t>
            </a:r>
            <a:r>
              <a:rPr sz="850" b="1">
                <a:solidFill>
                  <a:srgbClr val="5A636E"/>
                </a:solidFill>
                <a:latin typeface="Arial"/>
              </a:rPr>
              <a:t>6-12 MONTHS</a:t>
            </a:r>
          </a:p>
          <a:p>
            <a:pPr algn="l">
              <a:lnSpc>
                <a:spcPct val="95000"/>
              </a:lnSpc>
              <a:spcBef>
                <a:spcPts val="200"/>
              </a:spcBef>
              <a:spcAft>
                <a:spcPts val="0"/>
              </a:spcAft>
            </a:pPr>
            <a:r>
              <a:rPr sz="1000" b="1" i="0">
                <a:solidFill>
                  <a:srgbClr val="1F497D"/>
                </a:solidFill>
                <a:latin typeface="Arial"/>
              </a:rPr>
              <a:t>Scale</a:t>
            </a:r>
          </a:p>
          <a:p>
            <a:pPr algn="l">
              <a:lnSpc>
                <a:spcPct val="95000"/>
              </a:lnSpc>
              <a:spcBef>
                <a:spcPts val="100"/>
              </a:spcBef>
              <a:spcAft>
                <a:spcPts val="0"/>
              </a:spcAft>
            </a:pPr>
            <a:r>
              <a:rPr sz="800" b="0" i="0">
                <a:solidFill>
                  <a:srgbClr val="5A636E"/>
                </a:solidFill>
                <a:latin typeface="Arial"/>
              </a:rPr>
              <a:t>multi-state rollout, government system integration</a:t>
            </a:r>
          </a:p>
        </p:txBody>
      </p:sp>
      <p:sp>
        <p:nvSpPr>
          <p:cNvPr id="17438" name="Rectangle 17437"/>
          <p:cNvSpPr/>
          <p:nvPr/>
        </p:nvSpPr>
        <p:spPr>
          <a:xfrm>
            <a:off x="9592056" y="5678423"/>
            <a:ext cx="2185416" cy="45720"/>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DETAILS / LINKS OF THE REFERENCE AND RESEARCH WORK</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DATA SOURCES THE PLATFORM RUNS ON</a:t>
            </a:r>
          </a:p>
        </p:txBody>
      </p:sp>
      <p:sp>
        <p:nvSpPr>
          <p:cNvPr id="17413" name="Rounded Rectangle 17412"/>
          <p:cNvSpPr/>
          <p:nvPr/>
        </p:nvSpPr>
        <p:spPr>
          <a:xfrm>
            <a:off x="411480" y="1673352"/>
            <a:ext cx="5573268" cy="296265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Open-Meteo Historical Weather API</a:t>
            </a:r>
          </a:p>
          <a:p>
            <a:pPr algn="l">
              <a:lnSpc>
                <a:spcPct val="95000"/>
              </a:lnSpc>
              <a:spcBef>
                <a:spcPts val="200"/>
              </a:spcBef>
              <a:spcAft>
                <a:spcPts val="0"/>
              </a:spcAft>
            </a:pPr>
            <a:r>
              <a:rPr sz="900" b="0" i="0">
                <a:solidFill>
                  <a:srgbClr val="5A636E"/>
                </a:solidFill>
                <a:latin typeface="Arial"/>
              </a:rPr>
              <a:t>open-meteo.com/en/docs/historical-weather-api — observed hourly rainfall, snowfall and temperature; the model's training set</a:t>
            </a:r>
          </a:p>
          <a:p>
            <a:pPr algn="l">
              <a:lnSpc>
                <a:spcPct val="95000"/>
              </a:lnSpc>
              <a:spcBef>
                <a:spcPts val="2300"/>
              </a:spcBef>
              <a:spcAft>
                <a:spcPts val="0"/>
              </a:spcAft>
            </a:pPr>
            <a:r>
              <a:rPr sz="1050" b="1" i="0">
                <a:solidFill>
                  <a:srgbClr val="1F497D"/>
                </a:solidFill>
                <a:latin typeface="Arial"/>
              </a:rPr>
              <a:t>OSRM — Open Source Routing Machine</a:t>
            </a:r>
          </a:p>
          <a:p>
            <a:pPr algn="l">
              <a:lnSpc>
                <a:spcPct val="95000"/>
              </a:lnSpc>
              <a:spcBef>
                <a:spcPts val="200"/>
              </a:spcBef>
              <a:spcAft>
                <a:spcPts val="0"/>
              </a:spcAft>
            </a:pPr>
            <a:r>
              <a:rPr sz="900" b="0" i="0">
                <a:solidFill>
                  <a:srgbClr val="5A636E"/>
                </a:solidFill>
                <a:latin typeface="Arial"/>
              </a:rPr>
              <a:t>project-osrm.org — real road geometry and route alternates</a:t>
            </a:r>
          </a:p>
          <a:p>
            <a:pPr algn="l">
              <a:lnSpc>
                <a:spcPct val="95000"/>
              </a:lnSpc>
              <a:spcBef>
                <a:spcPts val="2300"/>
              </a:spcBef>
              <a:spcAft>
                <a:spcPts val="0"/>
              </a:spcAft>
            </a:pPr>
            <a:r>
              <a:rPr sz="1050" b="1" i="0">
                <a:solidFill>
                  <a:srgbClr val="1F497D"/>
                </a:solidFill>
                <a:latin typeface="Arial"/>
              </a:rPr>
              <a:t>VAHAN / Parivahan registration lookup</a:t>
            </a:r>
          </a:p>
          <a:p>
            <a:pPr algn="l">
              <a:lnSpc>
                <a:spcPct val="95000"/>
              </a:lnSpc>
              <a:spcBef>
                <a:spcPts val="200"/>
              </a:spcBef>
              <a:spcAft>
                <a:spcPts val="0"/>
              </a:spcAft>
            </a:pPr>
            <a:r>
              <a:rPr sz="900" b="0" i="0">
                <a:solidFill>
                  <a:srgbClr val="5A636E"/>
                </a:solidFill>
                <a:latin typeface="Arial"/>
              </a:rPr>
              <a:t>parivahan.gov.in — vehicle class and capacity at driver sign-up</a:t>
            </a:r>
          </a:p>
          <a:p>
            <a:pPr algn="l">
              <a:lnSpc>
                <a:spcPct val="95000"/>
              </a:lnSpc>
              <a:spcBef>
                <a:spcPts val="2300"/>
              </a:spcBef>
              <a:spcAft>
                <a:spcPts val="0"/>
              </a:spcAft>
            </a:pPr>
            <a:r>
              <a:rPr sz="1050" b="1" i="0">
                <a:solidFill>
                  <a:srgbClr val="1F497D"/>
                </a:solidFill>
                <a:latin typeface="Arial"/>
              </a:rPr>
              <a:t>MapLibre GL JS + Esri Dark Gray Canvas</a:t>
            </a:r>
          </a:p>
          <a:p>
            <a:pPr algn="l">
              <a:lnSpc>
                <a:spcPct val="95000"/>
              </a:lnSpc>
              <a:spcBef>
                <a:spcPts val="200"/>
              </a:spcBef>
              <a:spcAft>
                <a:spcPts val="0"/>
              </a:spcAft>
            </a:pPr>
            <a:r>
              <a:rPr sz="900" b="0" i="0">
                <a:solidFill>
                  <a:srgbClr val="5A636E"/>
                </a:solidFill>
                <a:latin typeface="Arial"/>
              </a:rPr>
              <a:t>maplibre.org — the GIS layer of the control dashboard</a:t>
            </a:r>
          </a:p>
        </p:txBody>
      </p:sp>
      <p:sp>
        <p:nvSpPr>
          <p:cNvPr id="17414" name="TextBox 17413"/>
          <p:cNvSpPr txBox="1"/>
          <p:nvPr/>
        </p:nvSpPr>
        <p:spPr>
          <a:xfrm>
            <a:off x="6204204"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PROBLEM AND DOMAIN RESEARCH</a:t>
            </a:r>
          </a:p>
        </p:txBody>
      </p:sp>
      <p:sp>
        <p:nvSpPr>
          <p:cNvPr id="17415" name="Rounded Rectangle 17414"/>
          <p:cNvSpPr/>
          <p:nvPr/>
        </p:nvSpPr>
        <p:spPr>
          <a:xfrm>
            <a:off x="6204204" y="1673352"/>
            <a:ext cx="5573268" cy="296265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i="0">
                <a:solidFill>
                  <a:srgbClr val="1F497D"/>
                </a:solidFill>
                <a:latin typeface="Arial"/>
              </a:rPr>
              <a:t>MDoNER — problem statement 26002</a:t>
            </a:r>
          </a:p>
          <a:p>
            <a:pPr algn="l">
              <a:lnSpc>
                <a:spcPct val="95000"/>
              </a:lnSpc>
              <a:spcBef>
                <a:spcPts val="200"/>
              </a:spcBef>
              <a:spcAft>
                <a:spcPts val="0"/>
              </a:spcAft>
            </a:pPr>
            <a:r>
              <a:rPr sz="900" b="0" i="0">
                <a:solidFill>
                  <a:srgbClr val="5A636E"/>
                </a:solidFill>
                <a:latin typeface="Arial"/>
              </a:rPr>
              <a:t>mdoner.gov.in — NER connectivity gaps and infrastructure priorities</a:t>
            </a:r>
          </a:p>
          <a:p>
            <a:pPr algn="l">
              <a:lnSpc>
                <a:spcPct val="95000"/>
              </a:lnSpc>
              <a:spcBef>
                <a:spcPts val="2300"/>
              </a:spcBef>
              <a:spcAft>
                <a:spcPts val="0"/>
              </a:spcAft>
            </a:pPr>
            <a:r>
              <a:rPr sz="1050" b="1" i="0">
                <a:solidFill>
                  <a:srgbClr val="1F497D"/>
                </a:solidFill>
                <a:latin typeface="Arial"/>
              </a:rPr>
              <a:t>NHIDCL / MoRTH national highway network</a:t>
            </a:r>
          </a:p>
          <a:p>
            <a:pPr algn="l">
              <a:lnSpc>
                <a:spcPct val="95000"/>
              </a:lnSpc>
              <a:spcBef>
                <a:spcPts val="200"/>
              </a:spcBef>
              <a:spcAft>
                <a:spcPts val="0"/>
              </a:spcAft>
            </a:pPr>
            <a:r>
              <a:rPr sz="900" b="0" i="0">
                <a:solidFill>
                  <a:srgbClr val="5A636E"/>
                </a:solidFill>
                <a:latin typeface="Arial"/>
              </a:rPr>
              <a:t>nhidcl.com · morth.nic.in — corridor alignments and NH numbering</a:t>
            </a:r>
          </a:p>
          <a:p>
            <a:pPr algn="l">
              <a:lnSpc>
                <a:spcPct val="95000"/>
              </a:lnSpc>
              <a:spcBef>
                <a:spcPts val="2300"/>
              </a:spcBef>
              <a:spcAft>
                <a:spcPts val="0"/>
              </a:spcAft>
            </a:pPr>
            <a:r>
              <a:rPr sz="1050" b="1" i="0">
                <a:solidFill>
                  <a:srgbClr val="1F497D"/>
                </a:solidFill>
                <a:latin typeface="Arial"/>
              </a:rPr>
              <a:t>IMD rainfall climatology for the North East</a:t>
            </a:r>
          </a:p>
          <a:p>
            <a:pPr algn="l">
              <a:lnSpc>
                <a:spcPct val="95000"/>
              </a:lnSpc>
              <a:spcBef>
                <a:spcPts val="200"/>
              </a:spcBef>
              <a:spcAft>
                <a:spcPts val="0"/>
              </a:spcAft>
            </a:pPr>
            <a:r>
              <a:rPr sz="900" b="0" i="0">
                <a:solidFill>
                  <a:srgbClr val="5A636E"/>
                </a:solidFill>
                <a:latin typeface="Arial"/>
              </a:rPr>
              <a:t>mausam.imd.gov.in — monsoon windows and the rain thresholds used</a:t>
            </a:r>
          </a:p>
          <a:p>
            <a:pPr algn="l">
              <a:lnSpc>
                <a:spcPct val="95000"/>
              </a:lnSpc>
              <a:spcBef>
                <a:spcPts val="2300"/>
              </a:spcBef>
              <a:spcAft>
                <a:spcPts val="0"/>
              </a:spcAft>
            </a:pPr>
            <a:r>
              <a:rPr sz="1050" b="1" i="0">
                <a:solidFill>
                  <a:srgbClr val="1F497D"/>
                </a:solidFill>
                <a:latin typeface="Arial"/>
              </a:rPr>
              <a:t>GSI landslide susceptibility mapping</a:t>
            </a:r>
          </a:p>
          <a:p>
            <a:pPr algn="l">
              <a:lnSpc>
                <a:spcPct val="95000"/>
              </a:lnSpc>
              <a:spcBef>
                <a:spcPts val="200"/>
              </a:spcBef>
              <a:spcAft>
                <a:spcPts val="0"/>
              </a:spcAft>
            </a:pPr>
            <a:r>
              <a:rPr sz="900" b="0" i="0">
                <a:solidFill>
                  <a:srgbClr val="5A636E"/>
                </a:solidFill>
                <a:latin typeface="Arial"/>
              </a:rPr>
              <a:t>gsi.gov.in — which stretches are treated as landslide-prone</a:t>
            </a:r>
          </a:p>
        </p:txBody>
      </p:sp>
      <p:sp>
        <p:nvSpPr>
          <p:cNvPr id="17416" name="TextBox 17415"/>
          <p:cNvSpPr txBox="1"/>
          <p:nvPr/>
        </p:nvSpPr>
        <p:spPr>
          <a:xfrm>
            <a:off x="411480" y="4745736"/>
            <a:ext cx="1136599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METHOD — HOW THE MODEL WAS BUILT AND JUDGED</a:t>
            </a:r>
          </a:p>
        </p:txBody>
      </p:sp>
      <p:sp>
        <p:nvSpPr>
          <p:cNvPr id="17417" name="Rounded Rectangle 17416"/>
          <p:cNvSpPr/>
          <p:nvPr/>
        </p:nvSpPr>
        <p:spPr>
          <a:xfrm>
            <a:off x="411480" y="4983480"/>
            <a:ext cx="11365992" cy="859536"/>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00" b="1">
                <a:solidFill>
                  <a:srgbClr val="1F497D"/>
                </a:solidFill>
                <a:latin typeface="Arial"/>
              </a:rPr>
              <a:t>Date-based evaluation — </a:t>
            </a:r>
            <a:r>
              <a:rPr sz="1000" b="0">
                <a:solidFill>
                  <a:srgbClr val="262B33"/>
                </a:solidFill>
                <a:latin typeface="Arial"/>
              </a:rPr>
              <a:t>trained on 109,116 road-days across 42 stretches x 877 days of observed weather, with everything after 2026-03-01 held out. AUC 0.883, Brier 0.092.</a:t>
            </a:r>
          </a:p>
          <a:p>
            <a:pPr algn="l">
              <a:lnSpc>
                <a:spcPct val="100000"/>
              </a:lnSpc>
              <a:spcBef>
                <a:spcPts val="500"/>
              </a:spcBef>
              <a:spcAft>
                <a:spcPts val="0"/>
              </a:spcAft>
            </a:pPr>
            <a:r>
              <a:rPr sz="1000" b="1">
                <a:solidFill>
                  <a:srgbClr val="C25E1E"/>
                </a:solidFill>
                <a:latin typeface="Arial"/>
              </a:rPr>
              <a:t>Stated openly: </a:t>
            </a:r>
            <a:r>
              <a:rPr sz="1000" b="0">
                <a:solidFill>
                  <a:srgbClr val="262B33"/>
                </a:solidFill>
                <a:latin typeface="Arial"/>
              </a:rPr>
              <a:t>no public register of past NER road closures exists, so historical labels are drawn from a rainfall-threshold hazard function calibrated on IMD and GSI data. Verified field reports override every drawn label.</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