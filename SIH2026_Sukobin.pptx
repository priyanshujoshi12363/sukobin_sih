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914400"/>
            <a:ext cx="10362940" cy="1470025"/>
          </a:xfrm>
        </p:spPr>
        <p:txBody>
          <a:bodyPr/>
          <a:lstStyle/>
          <a:p>
            <a:r>
              <a:t>Sukobin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1965960"/>
            <a:ext cx="8534186" cy="1280160"/>
          </a:xfrm>
        </p:spPr>
        <p:txBody>
          <a:bodyPr wrap="square"/>
          <a:lstStyle/>
          <a:p>
            <a:pPr algn="ctr">
              <a:spcAft>
                <a:spcPts val="600"/>
              </a:spcAft>
            </a:pPr>
            <a:r>
              <a:rPr sz="1800" b="1"/>
              <a:t>A logistics and road-access platform for the North East</a:t>
            </a:r>
          </a:p>
          <a:p>
            <a:pPr algn="ctr">
              <a:spcAft>
                <a:spcPts val="600"/>
              </a:spcAft>
            </a:pPr>
            <a:r>
              <a:rPr sz="1400" b="0"/>
              <a:t>Parcels travel with people who are already making the journey.</a:t>
            </a:r>
          </a:p>
          <a:p>
            <a:pPr algn="ctr">
              <a:spcAft>
                <a:spcPts val="600"/>
              </a:spcAft>
            </a:pPr>
            <a:r>
              <a:rPr sz="1400" b="0"/>
              <a:t>Those same vehicles tell us which roads are open.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91840" y="3703320"/>
          <a:ext cx="5669280" cy="19202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  <a:gridCol w="3840480"/>
              </a:tblGrid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Problem Statement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SIH 2026 — MDoNER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Organisation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Ministry of Development of North Eastern Region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Theme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Transportation and Logistics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Category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Software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Team Name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&lt; fill in &gt;</a:t>
                      </a:r>
                    </a:p>
                  </a:txBody>
                  <a:tcPr marL="73152" marR="73152" marT="18288" marB="18288"/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Team ID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&lt; fill in &gt;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240" y="1097280"/>
            <a:ext cx="10607040" cy="2286000"/>
          </a:xfrm>
        </p:spPr>
        <p:txBody>
          <a:bodyPr wrap="square"/>
          <a:lstStyle/>
          <a:p>
            <a:pPr>
              <a:spcAft>
                <a:spcPts val="400"/>
              </a:spcAft>
            </a:pPr>
            <a:r>
              <a:rPr sz="1400" b="1"/>
              <a:t>The problem</a:t>
            </a:r>
          </a:p>
          <a:p>
            <a:pPr lvl="1">
              <a:spcAft>
                <a:spcPts val="400"/>
              </a:spcAft>
            </a:pPr>
            <a:r>
              <a:rPr sz="1300" b="0"/>
              <a:t>Roads in the North East close often because of landslides, floods and snow. Medicines and food arrive late, and no one has a live picture of which roads are open.</a:t>
            </a:r>
          </a:p>
          <a:p>
            <a:pPr lvl="1">
              <a:spcAft>
                <a:spcPts val="400"/>
              </a:spcAft>
            </a:pPr>
            <a:r>
              <a:rPr sz="1300" b="0"/>
              <a:t>A normal courier fleet costs too much to run in these hills, so one was never built.</a:t>
            </a:r>
          </a:p>
          <a:p>
            <a:pPr>
              <a:spcAft>
                <a:spcPts val="400"/>
              </a:spcAft>
            </a:pPr>
            <a:r>
              <a:rPr sz="1400" b="1"/>
              <a:t>Our solution</a:t>
            </a:r>
          </a:p>
          <a:p>
            <a:pPr lvl="1">
              <a:spcAft>
                <a:spcPts val="400"/>
              </a:spcAft>
            </a:pPr>
            <a:r>
              <a:rPr sz="1300" b="0"/>
              <a:t>Do not build a fleet. Use the vehicles that are already travelling.</a:t>
            </a:r>
          </a:p>
          <a:p>
            <a:pPr lvl="1">
              <a:spcAft>
                <a:spcPts val="400"/>
              </a:spcAft>
            </a:pPr>
            <a:r>
              <a:rPr sz="1300" b="0"/>
              <a:t>A driver enters their vehicle number and where they are going. The app shows only the parcels going the same way, and only as many as the vehicle can carry.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01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Why this is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12463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/>
              <a:t>Other systems learn that a road is blocked only when somebody reports it. Ours also notices when many vehicles suddenly slow down — and it notices because those same vehicles are already carrying the goods.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4343400"/>
          <a:ext cx="106070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6309360"/>
              </a:tblGrid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What the problem statement asks for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How Sukobin answers it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Watch roads and bridges in real time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Live road status from driver GPS and officer reports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Predict problems before they happen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A risk score per road from rainfall, slope and past events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Suggest other routes and likely delay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Blocked roads are refused; delay is shown road by road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Track vehicles carrying essentials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Every parcel travels in a checked, tracked vehicle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Send alerts automatically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Blocked roads, risky roads and late deliveries are pushed out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Let officers send photo reports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Officers report from the spot, even with no signal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Give one central dashboard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District status, weak points, emergency view, live supplies</a:t>
                      </a:r>
                    </a:p>
                  </a:txBody>
                  <a:tcPr marL="73152" marR="73152" marT="18288" marB="18288"/>
                </a:tc>
              </a:tr>
              <a:tr h="2336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Many languages, works offline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Reports wait on the phone and upload later; alerts translated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How the system decides whether a road is open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3291840" cy="749808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Drivers on the road</a:t>
            </a:r>
          </a:p>
          <a:p>
            <a:pPr algn="ctr">
              <a:spcAft>
                <a:spcPts val="0"/>
              </a:spcAft>
            </a:pPr>
            <a:r>
              <a:rPr sz="950" b="0"/>
              <a:t>Phone sends location while driving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1417320"/>
            <a:ext cx="3291840" cy="749808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Field officers</a:t>
            </a:r>
          </a:p>
          <a:p>
            <a:pPr algn="ctr">
              <a:spcAft>
                <a:spcPts val="0"/>
              </a:spcAft>
            </a:pPr>
            <a:r>
              <a:rPr sz="950" b="0"/>
              <a:t>Photo and note sent from the spot</a:t>
            </a:r>
          </a:p>
        </p:txBody>
      </p:sp>
      <p:sp>
        <p:nvSpPr>
          <p:cNvPr id="6" name="Down Arrow 5"/>
          <p:cNvSpPr/>
          <p:nvPr/>
        </p:nvSpPr>
        <p:spPr>
          <a:xfrm>
            <a:off x="2340864" y="223113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wn Arrow 6"/>
          <p:cNvSpPr/>
          <p:nvPr/>
        </p:nvSpPr>
        <p:spPr>
          <a:xfrm>
            <a:off x="6089904" y="223113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651760"/>
            <a:ext cx="3291840" cy="80467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Compare the speed</a:t>
            </a:r>
          </a:p>
          <a:p>
            <a:pPr algn="ctr">
              <a:spcAft>
                <a:spcPts val="0"/>
              </a:spcAft>
            </a:pPr>
            <a:r>
              <a:rPr sz="950" b="0"/>
              <a:t>Are vehicles slower than usual on this road?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651760"/>
            <a:ext cx="3291840" cy="80467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Read the report</a:t>
            </a:r>
          </a:p>
          <a:p>
            <a:pPr algn="ctr">
              <a:spcAft>
                <a:spcPts val="0"/>
              </a:spcAft>
            </a:pPr>
            <a:r>
              <a:rPr sz="950" b="0"/>
              <a:t>Turn the note into type, seriousness and effect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340864" y="3520440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own Arrow 10"/>
          <p:cNvSpPr/>
          <p:nvPr/>
        </p:nvSpPr>
        <p:spPr>
          <a:xfrm>
            <a:off x="6089904" y="3520440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950208"/>
            <a:ext cx="7040880" cy="640080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Decide the road status: open, slow, restricted or blocked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4215384" y="4654296"/>
            <a:ext cx="256032" cy="329184"/>
          </a:xfrm>
          <a:prstGeom prst="downArrow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Route matching</a:t>
            </a:r>
          </a:p>
          <a:p>
            <a:pPr algn="ctr">
              <a:spcAft>
                <a:spcPts val="0"/>
              </a:spcAft>
            </a:pPr>
            <a:r>
              <a:rPr sz="950" b="0"/>
              <a:t>blocked roads refused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4612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Dashboard</a:t>
            </a:r>
          </a:p>
          <a:p>
            <a:pPr algn="ctr">
              <a:spcAft>
                <a:spcPts val="0"/>
              </a:spcAft>
            </a:pPr>
            <a:r>
              <a:rPr sz="950" b="0"/>
              <a:t>weak points and forecast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084064"/>
            <a:ext cx="2194560" cy="713232"/>
          </a:xfrm>
          <a:prstGeom prst="roundRect">
            <a:avLst/>
          </a:prstGeom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Aft>
                <a:spcPts val="0"/>
              </a:spcAft>
            </a:pPr>
            <a:r>
              <a:rPr sz="1100" b="1"/>
              <a:t>Alerts</a:t>
            </a:r>
          </a:p>
          <a:p>
            <a:pPr algn="ctr">
              <a:spcAft>
                <a:spcPts val="0"/>
              </a:spcAft>
            </a:pPr>
            <a:r>
              <a:rPr sz="950" b="0"/>
              <a:t>sent in the reader's own language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4173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Rules that keep it safe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783080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One vehicle cannot close a road. At least two must agree.</a:t>
            </a:r>
          </a:p>
          <a:p>
            <a:pPr algn="l">
              <a:spcAft>
                <a:spcPts val="600"/>
              </a:spcAft>
            </a:pPr>
            <a:r>
              <a:rPr sz="1100" b="0"/>
              <a:t>A weak GPS signal is thrown away.</a:t>
            </a:r>
          </a:p>
          <a:p>
            <a:pPr algn="l">
              <a:spcAft>
                <a:spcPts val="600"/>
              </a:spcAft>
            </a:pPr>
            <a:r>
              <a:rPr sz="1100" b="0"/>
              <a:t>A weather forecast warns of risk. It never says a road is shut.</a:t>
            </a:r>
          </a:p>
          <a:p>
            <a:pPr algn="l">
              <a:spcAft>
                <a:spcPts val="600"/>
              </a:spcAft>
            </a:pPr>
            <a:r>
              <a:rPr sz="1100" b="0"/>
              <a:t>A single report is treated with care until an officer confirms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95020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What we built it with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315968"/>
            <a:ext cx="3108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Four Android apps in Kotlin and XML</a:t>
            </a:r>
          </a:p>
          <a:p>
            <a:pPr algn="l">
              <a:spcAft>
                <a:spcPts val="600"/>
              </a:spcAft>
            </a:pPr>
            <a:r>
              <a:rPr sz="1100" b="0"/>
              <a:t>Node.js, Express and MongoDB</a:t>
            </a:r>
          </a:p>
          <a:p>
            <a:pPr algn="l">
              <a:spcAft>
                <a:spcPts val="600"/>
              </a:spcAft>
            </a:pPr>
            <a:r>
              <a:rPr sz="1100" b="0"/>
              <a:t>A model trained in plain JavaScript, no add-ons needed</a:t>
            </a:r>
          </a:p>
          <a:p>
            <a:pPr algn="l">
              <a:spcAft>
                <a:spcPts val="600"/>
              </a:spcAft>
            </a:pPr>
            <a:r>
              <a:rPr sz="1100" b="0"/>
              <a:t>OSRM for real road routes</a:t>
            </a:r>
          </a:p>
          <a:p>
            <a:pPr algn="l">
              <a:spcAft>
                <a:spcPts val="600"/>
              </a:spcAft>
            </a:pPr>
            <a:r>
              <a:rPr sz="1100" b="0"/>
              <a:t>Open-Meteo for rainfall and snow</a:t>
            </a:r>
          </a:p>
          <a:p>
            <a:pPr algn="l">
              <a:spcAft>
                <a:spcPts val="600"/>
              </a:spcAft>
            </a:pPr>
            <a:r>
              <a:rPr sz="1100" b="0"/>
              <a:t>React and MapLibre for the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Feasibility and Viability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The system is already built and running on real data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60704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737360"/>
                <a:gridCol w="2834640"/>
                <a:gridCol w="2011680"/>
                <a:gridCol w="192024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Roads modelled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Length covered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Model trained on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Forecast accuracy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Built</a:t>
                      </a:r>
                    </a:p>
                  </a:txBody>
                  <a:tcPr marL="73152" marR="73152" marT="18288" marB="18288"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42 sections, 82 districts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3,567 km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1,09,116 road-days of real weather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0.88 (1.0 is perfect)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100"/>
                        <a:t>4 apps and 1 dashboard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2468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What we have already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98064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The forecast model was trained on two years of real recorded weather and tested only on later dates it had never seen. When it says 30%, the event happens about 30% of the time.</a:t>
            </a:r>
          </a:p>
          <a:p>
            <a:pPr algn="l">
              <a:spcAft>
                <a:spcPts val="600"/>
              </a:spcAft>
            </a:pPr>
            <a:r>
              <a:rPr sz="1100" b="0"/>
              <a:t>As vehicle speeds dropped, one road moved from open to slow to blocked on its own, with no person involved, and the district alert followed.</a:t>
            </a:r>
          </a:p>
          <a:p>
            <a:pPr algn="l">
              <a:spcAft>
                <a:spcPts val="600"/>
              </a:spcAft>
            </a:pPr>
            <a:r>
              <a:rPr sz="1100" b="0"/>
              <a:t>The system correctly read all 8 test reports written in mixed Hindi and English, including how long clearing would take.</a:t>
            </a:r>
          </a:p>
          <a:p>
            <a:pPr algn="l">
              <a:spcAft>
                <a:spcPts val="600"/>
              </a:spcAft>
            </a:pPr>
            <a:r>
              <a:rPr sz="1100" b="0"/>
              <a:t>With a road marked blocked, the app refused to send a driver on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468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Problems we expect, and our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798064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/>
              <a:t>Would you trust a stranger with medicines? Drivers are placed in two groups. Anyone can carry normal parcels. Only trusted local drivers with a delivery record carry medicines and government supplies.</a:t>
            </a:r>
          </a:p>
          <a:p>
            <a:pPr algn="l">
              <a:spcAft>
                <a:spcPts val="600"/>
              </a:spcAft>
            </a:pPr>
            <a:r>
              <a:rPr sz="1100" b="0"/>
              <a:t>Some roads carry very little traffic. A parcel can change hands at a town on the way instead of waiting for one driver to do the whole trip.</a:t>
            </a:r>
          </a:p>
          <a:p>
            <a:pPr algn="l">
              <a:spcAft>
                <a:spcPts val="600"/>
              </a:spcAft>
            </a:pPr>
            <a:r>
              <a:rPr sz="1100" b="0"/>
              <a:t>Many areas have no mobile signal. Reports are saved on the phone and sent later, and are never counted twice.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5604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Why it can keep running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5285232"/>
          <a:ext cx="106070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No fleet to pay for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Almost no added cost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Road data comes free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Ready for government use</a:t>
                      </a:r>
                    </a:p>
                  </a:txBody>
                  <a:tcPr marL="73152" marR="73152" marT="18288" marB="18288"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No vehicles to buy and no drivers to hire. The vehicles are already on the road.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The journey happens anyway. The driver only makes a small detour.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Road information is a by-product of deliveries, so it costs nothing extra.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50"/>
                        <a:t>Runs on cloud servers and connects to weather and transport services.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Impact and Benefits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/>
              <a:t>What happens when a road closes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17320"/>
          <a:ext cx="10607040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792"/>
                <a:gridCol w="1764792"/>
                <a:gridCol w="1764792"/>
                <a:gridCol w="1764792"/>
                <a:gridCol w="1773936"/>
                <a:gridCol w="1773936"/>
              </a:tblGrid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1. Heavy rain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2. Officer reports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3. System reads it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4. Officer confirms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5. Road marked shut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6. System reacts</a:t>
                      </a:r>
                    </a:p>
                  </a:txBody>
                  <a:tcPr marL="73152" marR="73152" marT="18288" marB="18288"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Risk on that hill road goes up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Photo and note sent from the spot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Landslide, serious, road fully blocked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A senior officer checks and agrees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Vehicle speeds show nothing is moving</a:t>
                      </a:r>
                    </a:p>
                  </a:txBody>
                  <a:tcPr marL="73152" marR="73152" marT="18288" marB="18288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000"/>
                        <a:t>Drivers rerouted and the district is shown as cut off</a:t>
                      </a:r>
                    </a:p>
                  </a:txBody>
                  <a:tcPr marL="73152" marR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2880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people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1868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Medicines and food reach villages that courier companies do not serve.</a:t>
            </a:r>
          </a:p>
          <a:p>
            <a:pPr algn="l">
              <a:spcAft>
                <a:spcPts val="600"/>
              </a:spcAft>
            </a:pPr>
            <a:r>
              <a:rPr sz="1200" b="0"/>
              <a:t>In an emergency, officials see a live map instead of making phone calls.</a:t>
            </a:r>
          </a:p>
          <a:p>
            <a:pPr algn="l">
              <a:spcAft>
                <a:spcPts val="600"/>
              </a:spcAft>
            </a:pPr>
            <a:r>
              <a:rPr sz="1200" b="0"/>
              <a:t>Alerts arrive in the language the person actually reads.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80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income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21868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Ordinary travellers earn money on a trip they were making anyway.</a:t>
            </a:r>
          </a:p>
          <a:p>
            <a:pPr algn="l">
              <a:spcAft>
                <a:spcPts val="600"/>
              </a:spcAft>
            </a:pPr>
            <a:r>
              <a:rPr sz="1200" b="0"/>
              <a:t>Shopkeepers in the hills can sell beyond their own town.</a:t>
            </a:r>
          </a:p>
          <a:p>
            <a:pPr algn="l">
              <a:spcAft>
                <a:spcPts val="600"/>
              </a:spcAft>
            </a:pPr>
            <a:r>
              <a:rPr sz="1200" b="0"/>
              <a:t>Districts lose less money to stock running out and goods getting stuck.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the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9320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No new delivery fleet, so no extra vehicles on the road.</a:t>
            </a:r>
          </a:p>
          <a:p>
            <a:pPr algn="l">
              <a:spcAft>
                <a:spcPts val="600"/>
              </a:spcAft>
            </a:pPr>
            <a:r>
              <a:rPr sz="1200" b="0"/>
              <a:t>Parcels ride in vehicles that were already going that way.</a:t>
            </a:r>
          </a:p>
          <a:p>
            <a:pPr algn="l">
              <a:spcAft>
                <a:spcPts val="600"/>
              </a:spcAft>
            </a:pPr>
            <a:r>
              <a:rPr sz="1200" b="0"/>
              <a:t>Fewer empty trips on long mountain routes.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For government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5093208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One clear picture of road access across all districts.</a:t>
            </a:r>
          </a:p>
          <a:p>
            <a:pPr algn="l">
              <a:spcAft>
                <a:spcPts val="600"/>
              </a:spcAft>
            </a:pPr>
            <a:r>
              <a:rPr sz="1200" b="0"/>
              <a:t>Field reports become proper records that can be checked later.</a:t>
            </a:r>
          </a:p>
          <a:p>
            <a:pPr algn="l">
              <a:spcAft>
                <a:spcPts val="600"/>
              </a:spcAft>
            </a:pPr>
            <a:r>
              <a:rPr sz="1200" b="0"/>
              <a:t>Problems are seen coming, not only written down afterwards.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228600"/>
            <a:ext cx="10607040" cy="731520"/>
          </a:xfrm>
        </p:spPr>
        <p:txBody>
          <a:bodyPr/>
          <a:lstStyle/>
          <a:p>
            <a:pPr algn="l"/>
            <a:r>
              <a:rPr sz="3000"/>
              <a:t>Research and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Data and services we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OSRM — real road routes and other ways round</a:t>
            </a:r>
          </a:p>
          <a:p>
            <a:pPr algn="l">
              <a:spcAft>
                <a:spcPts val="600"/>
              </a:spcAft>
            </a:pPr>
            <a:r>
              <a:rPr sz="1200" b="0"/>
              <a:t>Open-Meteo — hourly rainfall, snow and temperature</a:t>
            </a:r>
          </a:p>
          <a:p>
            <a:pPr algn="l">
              <a:spcAft>
                <a:spcPts val="600"/>
              </a:spcAft>
            </a:pPr>
            <a:r>
              <a:rPr sz="1200" b="0"/>
              <a:t>OpenStreetMap and Esri — base maps</a:t>
            </a:r>
          </a:p>
          <a:p>
            <a:pPr algn="l">
              <a:spcAft>
                <a:spcPts val="600"/>
              </a:spcAft>
            </a:pPr>
            <a:r>
              <a:rPr sz="1200" b="0"/>
              <a:t>Vahan — checking vehicle registration numbers</a:t>
            </a:r>
          </a:p>
          <a:p>
            <a:pPr algn="l">
              <a:spcAft>
                <a:spcPts val="600"/>
              </a:spcAft>
            </a:pPr>
            <a:r>
              <a:rPr sz="1200" b="0"/>
              <a:t>Firebase — sending notifications to phones</a:t>
            </a:r>
          </a:p>
          <a:p>
            <a:pPr algn="l">
              <a:spcAft>
                <a:spcPts val="600"/>
              </a:spcAft>
            </a:pPr>
            <a:r>
              <a:rPr sz="1200" b="0"/>
              <a:t>MongoDB — storing and searching map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2344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Main roads covered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NH-10 Siliguri to Gangtok — Sikkim's only main road</a:t>
            </a:r>
          </a:p>
          <a:p>
            <a:pPr algn="l">
              <a:spcAft>
                <a:spcPts val="600"/>
              </a:spcAft>
            </a:pPr>
            <a:r>
              <a:rPr sz="1200" b="0"/>
              <a:t>NH-2 Dimapur to Kohima to Imphal — Manipur's supply line</a:t>
            </a:r>
          </a:p>
          <a:p>
            <a:pPr algn="l">
              <a:spcAft>
                <a:spcPts val="600"/>
              </a:spcAft>
            </a:pPr>
            <a:r>
              <a:rPr sz="1200" b="0"/>
              <a:t>NH-6 Shillong to Silchar — cuts off the Barak Valley</a:t>
            </a:r>
          </a:p>
          <a:p>
            <a:pPr algn="l">
              <a:spcAft>
                <a:spcPts val="600"/>
              </a:spcAft>
            </a:pPr>
            <a:r>
              <a:rPr sz="1200" b="0"/>
              <a:t>NH-13 Tezpur to Tawang — closed by snow from December</a:t>
            </a:r>
          </a:p>
          <a:p>
            <a:pPr algn="l">
              <a:spcAft>
                <a:spcPts val="600"/>
              </a:spcAft>
            </a:pPr>
            <a:r>
              <a:rPr sz="1200" b="0"/>
              <a:t>NH-306 Silchar to Aizawl — Mizoram's all-weather road</a:t>
            </a:r>
          </a:p>
          <a:p>
            <a:pPr algn="l">
              <a:spcAft>
                <a:spcPts val="600"/>
              </a:spcAft>
            </a:pPr>
            <a:r>
              <a:rPr sz="1200" b="0"/>
              <a:t>12 main routes in total, across all eight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Government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MDoNER — North East development plans</a:t>
            </a:r>
          </a:p>
          <a:p>
            <a:pPr algn="l">
              <a:spcAft>
                <a:spcPts val="600"/>
              </a:spcAft>
            </a:pPr>
            <a:r>
              <a:rPr sz="1200" b="0"/>
              <a:t>NHIDCL and BRO — highway and border road condition</a:t>
            </a:r>
          </a:p>
          <a:p>
            <a:pPr algn="l">
              <a:spcAft>
                <a:spcPts val="600"/>
              </a:spcAft>
            </a:pPr>
            <a:r>
              <a:rPr sz="1200" b="0"/>
              <a:t>NDMA — landslide and flood guidance</a:t>
            </a:r>
          </a:p>
          <a:p>
            <a:pPr algn="l">
              <a:spcAft>
                <a:spcPts val="600"/>
              </a:spcAft>
            </a:pPr>
            <a:r>
              <a:rPr sz="1200" b="0"/>
              <a:t>IMD — rainfall levels that lead to landslides</a:t>
            </a:r>
          </a:p>
          <a:p>
            <a:pPr algn="l">
              <a:spcAft>
                <a:spcPts val="600"/>
              </a:spcAft>
            </a:pPr>
            <a:r>
              <a:rPr sz="1200" b="0"/>
              <a:t>PMGSY — village road connectivity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977639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/>
              <a:t>Ideas we build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34340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/>
              <a:t>Judging road condition from vehicle speed is a known method in traffic engineering.</a:t>
            </a:r>
          </a:p>
          <a:p>
            <a:pPr algn="l">
              <a:spcAft>
                <a:spcPts val="600"/>
              </a:spcAft>
            </a:pPr>
            <a:r>
              <a:rPr sz="1200" b="0"/>
              <a:t>Warning of landslides based on recent rainfall is widely used.</a:t>
            </a:r>
          </a:p>
          <a:p>
            <a:pPr algn="l">
              <a:spcAft>
                <a:spcPts val="600"/>
              </a:spcAft>
            </a:pPr>
            <a:r>
              <a:rPr sz="1200" b="0"/>
              <a:t>Sharing spare space in vehicles that are already travelling is proven in other countries.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